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76" r:id="rId10"/>
    <p:sldId id="266" r:id="rId11"/>
    <p:sldId id="267" r:id="rId12"/>
    <p:sldId id="268" r:id="rId13"/>
    <p:sldId id="269" r:id="rId14"/>
    <p:sldId id="270" r:id="rId15"/>
    <p:sldId id="271" r:id="rId16"/>
    <p:sldId id="272" r:id="rId17"/>
    <p:sldId id="273" r:id="rId18"/>
    <p:sldId id="275" r:id="rId19"/>
    <p:sldId id="274" r:id="rId20"/>
  </p:sldIdLst>
  <p:sldSz cx="12188825" cy="6858000"/>
  <p:notesSz cx="6761163" cy="9942513"/>
  <p:embeddedFontLst>
    <p:embeddedFont>
      <p:font typeface="Gill Sans" panose="020B0604020202020204"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p RAJ"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AD9F9A4-6209-4B79-A726-875C9723F9B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03D46B1-7A9E-409F-B616-10CFBBF69FDA}" styleName="Table_1">
    <a:wholeTbl>
      <a:tcTxStyle>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EF0"/>
          </a:solidFill>
        </a:fill>
      </a:tcStyle>
    </a:wholeTbl>
    <a:band1H>
      <a:tcTxStyle/>
      <a:tcStyle>
        <a:tcBdr/>
        <a:fill>
          <a:solidFill>
            <a:srgbClr val="CCDBE1"/>
          </a:solidFill>
        </a:fill>
      </a:tcStyle>
    </a:band1H>
    <a:band2H>
      <a:tcTxStyle/>
      <a:tcStyle>
        <a:tcBdr/>
      </a:tcStyle>
    </a:band2H>
    <a:band1V>
      <a:tcTxStyle/>
      <a:tcStyle>
        <a:tcBdr/>
        <a:fill>
          <a:solidFill>
            <a:srgbClr val="CCDBE1"/>
          </a:solidFill>
        </a:fill>
      </a:tcStyle>
    </a:band1V>
    <a:band2V>
      <a:tcTxStyle/>
      <a:tcStyle>
        <a:tcBdr/>
      </a:tcStyle>
    </a:band2V>
    <a:lastCol>
      <a:tcTxStyle b="on">
        <a:font>
          <a:latin typeface="Gill Sans MT"/>
          <a:ea typeface="Gill Sans MT"/>
          <a:cs typeface="Gill Sans MT"/>
        </a:font>
        <a:schemeClr val="lt1"/>
      </a:tcTxStyle>
      <a:tcStyle>
        <a:tcBdr/>
        <a:fill>
          <a:solidFill>
            <a:schemeClr val="accent1"/>
          </a:solidFill>
        </a:fill>
      </a:tcStyle>
    </a:lastCol>
    <a:firstCol>
      <a:tcTxStyle b="on">
        <a:font>
          <a:latin typeface="Gill Sans MT"/>
          <a:ea typeface="Gill Sans MT"/>
          <a:cs typeface="Gill Sans MT"/>
        </a:font>
        <a:schemeClr val="lt1"/>
      </a:tcTxStyle>
      <a:tcStyle>
        <a:tcBdr/>
        <a:fill>
          <a:solidFill>
            <a:schemeClr val="accent1"/>
          </a:solidFill>
        </a:fill>
      </a:tcStyle>
    </a:firstCol>
    <a:lastRow>
      <a:tcTxStyle b="on">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showGuides="1">
      <p:cViewPr varScale="1">
        <p:scale>
          <a:sx n="101" d="100"/>
          <a:sy n="101" d="100"/>
        </p:scale>
        <p:origin x="786" y="96"/>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2: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3: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4: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5: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6: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7: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7: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8: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8:notes"/>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5DD1401-C19F-7224-54D8-0222A4C47115}"/>
            </a:ext>
          </a:extLst>
        </p:cNvPr>
        <p:cNvGrpSpPr/>
        <p:nvPr/>
      </p:nvGrpSpPr>
      <p:grpSpPr>
        <a:xfrm>
          <a:off x="0" y="0"/>
          <a:ext cx="0" cy="0"/>
          <a:chOff x="0" y="0"/>
          <a:chExt cx="0" cy="0"/>
        </a:xfrm>
      </p:grpSpPr>
      <p:sp>
        <p:nvSpPr>
          <p:cNvPr id="156" name="Google Shape;156;p8:notes">
            <a:extLst>
              <a:ext uri="{FF2B5EF4-FFF2-40B4-BE49-F238E27FC236}">
                <a16:creationId xmlns:a16="http://schemas.microsoft.com/office/drawing/2014/main" id="{DB70D858-6317-4CF2-B646-22A665B76033}"/>
              </a:ext>
            </a:extLst>
          </p:cNvPr>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8:notes">
            <a:extLst>
              <a:ext uri="{FF2B5EF4-FFF2-40B4-BE49-F238E27FC236}">
                <a16:creationId xmlns:a16="http://schemas.microsoft.com/office/drawing/2014/main" id="{ACF7A73F-2467-9831-CA10-DEA10E7BB23F}"/>
              </a:ext>
            </a:extLst>
          </p:cNvPr>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8:notes">
            <a:extLst>
              <a:ext uri="{FF2B5EF4-FFF2-40B4-BE49-F238E27FC236}">
                <a16:creationId xmlns:a16="http://schemas.microsoft.com/office/drawing/2014/main" id="{B7657926-FE4A-A5B8-1204-E4E6ECEE50A8}"/>
              </a:ext>
            </a:extLst>
          </p:cNvPr>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lang="en-US"/>
          </a:p>
        </p:txBody>
      </p:sp>
    </p:spTree>
    <p:extLst>
      <p:ext uri="{BB962C8B-B14F-4D97-AF65-F5344CB8AC3E}">
        <p14:creationId xmlns:p14="http://schemas.microsoft.com/office/powerpoint/2010/main" val="4124253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1: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2: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3: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4: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4: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15: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6: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7: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7: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8: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9: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19:notes"/>
          <p:cNvSpPr>
            <a:spLocks noGrp="1" noRot="1" noChangeAspect="1"/>
          </p:cNvSpPr>
          <p:nvPr>
            <p:ph type="sldImg" idx="2"/>
          </p:nvPr>
        </p:nvSpPr>
        <p:spPr>
          <a:xfrm>
            <a:off x="682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21"/>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1"/>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3" name="Google Shape;23;p21"/>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22"/>
          <p:cNvSpPr txBox="1">
            <a:spLocks noGrp="1"/>
          </p:cNvSpPr>
          <p:nvPr>
            <p:ph type="ctrTitle"/>
          </p:nvPr>
        </p:nvSpPr>
        <p:spPr>
          <a:xfrm>
            <a:off x="1909583" y="359898"/>
            <a:ext cx="9872948" cy="147218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562214"/>
              </a:buClr>
              <a:buSzPts val="4300"/>
              <a:buFont typeface="Gill Sans" panose="020B0502020104020203"/>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subTitle" idx="1"/>
          </p:nvPr>
        </p:nvSpPr>
        <p:spPr>
          <a:xfrm>
            <a:off x="1909583" y="1850064"/>
            <a:ext cx="9872948" cy="175260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9" name="Google Shape;29;p22"/>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32" name="Google Shape;32;p22"/>
          <p:cNvSpPr/>
          <p:nvPr/>
        </p:nvSpPr>
        <p:spPr>
          <a:xfrm>
            <a:off x="1228257" y="1413802"/>
            <a:ext cx="280343" cy="210312"/>
          </a:xfrm>
          <a:prstGeom prst="ellipse">
            <a:avLst/>
          </a:prstGeom>
          <a:gradFill>
            <a:gsLst>
              <a:gs pos="0">
                <a:srgbClr val="D7F6FF">
                  <a:alpha val="94117"/>
                </a:srgbClr>
              </a:gs>
              <a:gs pos="50000">
                <a:srgbClr val="C0E3F0">
                  <a:alpha val="89019"/>
                </a:srgbClr>
              </a:gs>
              <a:gs pos="95000">
                <a:srgbClr val="65C6EA">
                  <a:alpha val="87058"/>
                </a:srgbClr>
              </a:gs>
              <a:gs pos="100000">
                <a:srgbClr val="00BBF1">
                  <a:alpha val="83921"/>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
        <p:nvSpPr>
          <p:cNvPr id="33" name="Google Shape;33;p22"/>
          <p:cNvSpPr/>
          <p:nvPr/>
        </p:nvSpPr>
        <p:spPr>
          <a:xfrm>
            <a:off x="1542499" y="1345016"/>
            <a:ext cx="85322"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4"/>
        <p:cNvGrpSpPr/>
        <p:nvPr/>
      </p:nvGrpSpPr>
      <p:grpSpPr>
        <a:xfrm>
          <a:off x="0" y="0"/>
          <a:ext cx="0" cy="0"/>
          <a:chOff x="0" y="0"/>
          <a:chExt cx="0" cy="0"/>
        </a:xfrm>
      </p:grpSpPr>
      <p:sp>
        <p:nvSpPr>
          <p:cNvPr id="35" name="Google Shape;35;p23"/>
          <p:cNvSpPr/>
          <p:nvPr/>
        </p:nvSpPr>
        <p:spPr>
          <a:xfrm>
            <a:off x="3043061" y="-54"/>
            <a:ext cx="9141619"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36" name="Google Shape;36;p23"/>
          <p:cNvSpPr txBox="1">
            <a:spLocks noGrp="1"/>
          </p:cNvSpPr>
          <p:nvPr>
            <p:ph type="title"/>
          </p:nvPr>
        </p:nvSpPr>
        <p:spPr>
          <a:xfrm>
            <a:off x="3436960" y="2600325"/>
            <a:ext cx="8532178" cy="2286000"/>
          </a:xfrm>
          <a:prstGeom prst="rect">
            <a:avLst/>
          </a:prstGeom>
          <a:noFill/>
          <a:ln>
            <a:noFill/>
          </a:ln>
        </p:spPr>
        <p:txBody>
          <a:bodyPr spcFirstLastPara="1" wrap="square" lIns="91425" tIns="45700" rIns="91425" bIns="45700" anchor="t" anchorCtr="0">
            <a:normAutofit/>
          </a:bodyPr>
          <a:lstStyle>
            <a:lvl1pPr lvl="0" algn="l">
              <a:lnSpc>
                <a:spcPct val="113000"/>
              </a:lnSpc>
              <a:spcBef>
                <a:spcPts val="0"/>
              </a:spcBef>
              <a:spcAft>
                <a:spcPts val="0"/>
              </a:spcAft>
              <a:buClr>
                <a:srgbClr val="562214"/>
              </a:buClr>
              <a:buSzPts val="4000"/>
              <a:buFont typeface="Gill Sans" panose="020B0502020104020203"/>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3"/>
          <p:cNvSpPr txBox="1">
            <a:spLocks noGrp="1"/>
          </p:cNvSpPr>
          <p:nvPr>
            <p:ph type="body" idx="1"/>
          </p:nvPr>
        </p:nvSpPr>
        <p:spPr>
          <a:xfrm>
            <a:off x="3436960" y="1066800"/>
            <a:ext cx="8532178" cy="1509712"/>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8" name="Google Shape;38;p23"/>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3"/>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41" name="Google Shape;41;p23"/>
          <p:cNvSpPr/>
          <p:nvPr/>
        </p:nvSpPr>
        <p:spPr>
          <a:xfrm>
            <a:off x="3047206" y="0"/>
            <a:ext cx="101574"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42" name="Google Shape;42;p23"/>
          <p:cNvSpPr/>
          <p:nvPr/>
        </p:nvSpPr>
        <p:spPr>
          <a:xfrm>
            <a:off x="2895674" y="2814656"/>
            <a:ext cx="280343" cy="210312"/>
          </a:xfrm>
          <a:prstGeom prst="ellipse">
            <a:avLst/>
          </a:prstGeom>
          <a:gradFill>
            <a:gsLst>
              <a:gs pos="0">
                <a:srgbClr val="D7F6FF">
                  <a:alpha val="94117"/>
                </a:srgbClr>
              </a:gs>
              <a:gs pos="50000">
                <a:srgbClr val="C0E3F0">
                  <a:alpha val="89019"/>
                </a:srgbClr>
              </a:gs>
              <a:gs pos="95000">
                <a:srgbClr val="65C6EA">
                  <a:alpha val="87058"/>
                </a:srgbClr>
              </a:gs>
              <a:gs pos="100000">
                <a:srgbClr val="00BBF1">
                  <a:alpha val="83921"/>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
        <p:nvSpPr>
          <p:cNvPr id="43" name="Google Shape;43;p23"/>
          <p:cNvSpPr/>
          <p:nvPr/>
        </p:nvSpPr>
        <p:spPr>
          <a:xfrm>
            <a:off x="3209916" y="2745870"/>
            <a:ext cx="85322"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4"/>
          <p:cNvSpPr txBox="1">
            <a:spLocks noGrp="1"/>
          </p:cNvSpPr>
          <p:nvPr>
            <p:ph type="title"/>
          </p:nvPr>
        </p:nvSpPr>
        <p:spPr>
          <a:xfrm>
            <a:off x="1913645" y="274320"/>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4"/>
          <p:cNvSpPr txBox="1">
            <a:spLocks noGrp="1"/>
          </p:cNvSpPr>
          <p:nvPr>
            <p:ph type="body" idx="1"/>
          </p:nvPr>
        </p:nvSpPr>
        <p:spPr>
          <a:xfrm>
            <a:off x="1913646" y="1524000"/>
            <a:ext cx="487553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7" name="Google Shape;47;p24"/>
          <p:cNvSpPr txBox="1">
            <a:spLocks noGrp="1"/>
          </p:cNvSpPr>
          <p:nvPr>
            <p:ph type="body" idx="2"/>
          </p:nvPr>
        </p:nvSpPr>
        <p:spPr>
          <a:xfrm>
            <a:off x="7032952" y="1524000"/>
            <a:ext cx="487553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8" name="Google Shape;48;p24"/>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4"/>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4"/>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1"/>
        <p:cNvGrpSpPr/>
        <p:nvPr/>
      </p:nvGrpSpPr>
      <p:grpSpPr>
        <a:xfrm>
          <a:off x="0" y="0"/>
          <a:ext cx="0" cy="0"/>
          <a:chOff x="0" y="0"/>
          <a:chExt cx="0" cy="0"/>
        </a:xfrm>
      </p:grpSpPr>
      <p:sp>
        <p:nvSpPr>
          <p:cNvPr id="52" name="Google Shape;52;p25"/>
          <p:cNvSpPr txBox="1">
            <a:spLocks noGrp="1"/>
          </p:cNvSpPr>
          <p:nvPr>
            <p:ph type="title"/>
          </p:nvPr>
        </p:nvSpPr>
        <p:spPr>
          <a:xfrm>
            <a:off x="609441" y="5160336"/>
            <a:ext cx="10969943"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62214"/>
              </a:buClr>
              <a:buSzPts val="4500"/>
              <a:buFont typeface="Gill Sans" panose="020B0502020104020203"/>
              <a:buNone/>
              <a:defRPr sz="45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
          <p:cNvSpPr txBox="1">
            <a:spLocks noGrp="1"/>
          </p:cNvSpPr>
          <p:nvPr>
            <p:ph type="body" idx="1"/>
          </p:nvPr>
        </p:nvSpPr>
        <p:spPr>
          <a:xfrm>
            <a:off x="609441" y="328278"/>
            <a:ext cx="5363083"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4" name="Google Shape;54;p25"/>
          <p:cNvSpPr txBox="1">
            <a:spLocks noGrp="1"/>
          </p:cNvSpPr>
          <p:nvPr>
            <p:ph type="body" idx="2"/>
          </p:nvPr>
        </p:nvSpPr>
        <p:spPr>
          <a:xfrm>
            <a:off x="6216301" y="328278"/>
            <a:ext cx="5363083"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5" name="Google Shape;55;p25"/>
          <p:cNvSpPr txBox="1">
            <a:spLocks noGrp="1"/>
          </p:cNvSpPr>
          <p:nvPr>
            <p:ph type="body" idx="3"/>
          </p:nvPr>
        </p:nvSpPr>
        <p:spPr>
          <a:xfrm>
            <a:off x="609441" y="969336"/>
            <a:ext cx="5363083"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6" name="Google Shape;56;p25"/>
          <p:cNvSpPr txBox="1">
            <a:spLocks noGrp="1"/>
          </p:cNvSpPr>
          <p:nvPr>
            <p:ph type="body" idx="4"/>
          </p:nvPr>
        </p:nvSpPr>
        <p:spPr>
          <a:xfrm>
            <a:off x="6216301" y="969336"/>
            <a:ext cx="5363083"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7" name="Google Shape;57;p25"/>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6"/>
          <p:cNvSpPr txBox="1">
            <a:spLocks noGrp="1"/>
          </p:cNvSpPr>
          <p:nvPr>
            <p:ph type="title"/>
          </p:nvPr>
        </p:nvSpPr>
        <p:spPr>
          <a:xfrm>
            <a:off x="1913645" y="274320"/>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6"/>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5"/>
        <p:cNvGrpSpPr/>
        <p:nvPr/>
      </p:nvGrpSpPr>
      <p:grpSpPr>
        <a:xfrm>
          <a:off x="0" y="0"/>
          <a:ext cx="0" cy="0"/>
          <a:chOff x="0" y="0"/>
          <a:chExt cx="0" cy="0"/>
        </a:xfrm>
      </p:grpSpPr>
      <p:sp>
        <p:nvSpPr>
          <p:cNvPr id="66" name="Google Shape;66;p27"/>
          <p:cNvSpPr/>
          <p:nvPr/>
        </p:nvSpPr>
        <p:spPr>
          <a:xfrm>
            <a:off x="1352960" y="0"/>
            <a:ext cx="1083586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67" name="Google Shape;67;p27"/>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70" name="Google Shape;70;p27"/>
          <p:cNvSpPr/>
          <p:nvPr/>
        </p:nvSpPr>
        <p:spPr>
          <a:xfrm>
            <a:off x="1352959" y="-54"/>
            <a:ext cx="97511"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28"/>
          <p:cNvSpPr txBox="1">
            <a:spLocks noGrp="1"/>
          </p:cNvSpPr>
          <p:nvPr>
            <p:ph type="title"/>
          </p:nvPr>
        </p:nvSpPr>
        <p:spPr>
          <a:xfrm>
            <a:off x="609441" y="216778"/>
            <a:ext cx="5078677" cy="1162050"/>
          </a:xfrm>
          <a:prstGeom prst="rect">
            <a:avLst/>
          </a:prstGeom>
          <a:noFill/>
          <a:ln>
            <a:noFill/>
          </a:ln>
        </p:spPr>
        <p:txBody>
          <a:bodyPr spcFirstLastPara="1" wrap="square" lIns="91425" tIns="45700" rIns="91425" bIns="45700" anchor="b" anchorCtr="0">
            <a:normAutofit/>
          </a:bodyPr>
          <a:lstStyle>
            <a:lvl1pPr lvl="0" algn="l">
              <a:lnSpc>
                <a:spcPct val="91000"/>
              </a:lnSpc>
              <a:spcBef>
                <a:spcPts val="0"/>
              </a:spcBef>
              <a:spcAft>
                <a:spcPts val="0"/>
              </a:spcAft>
              <a:buClr>
                <a:srgbClr val="562214"/>
              </a:buClr>
              <a:buSzPts val="2200"/>
              <a:buFont typeface="Gill Sans" panose="020B0502020104020203"/>
              <a:buNone/>
              <a:defRPr sz="2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8"/>
          <p:cNvSpPr txBox="1">
            <a:spLocks noGrp="1"/>
          </p:cNvSpPr>
          <p:nvPr>
            <p:ph type="body" idx="1"/>
          </p:nvPr>
        </p:nvSpPr>
        <p:spPr>
          <a:xfrm>
            <a:off x="609441" y="1406964"/>
            <a:ext cx="5078677" cy="698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4" name="Google Shape;74;p28"/>
          <p:cNvSpPr txBox="1">
            <a:spLocks noGrp="1"/>
          </p:cNvSpPr>
          <p:nvPr>
            <p:ph type="body" idx="2"/>
          </p:nvPr>
        </p:nvSpPr>
        <p:spPr>
          <a:xfrm>
            <a:off x="609441" y="2133601"/>
            <a:ext cx="10868369" cy="3992563"/>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5" name="Google Shape;75;p28"/>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a:off x="7847150" y="1066800"/>
            <a:ext cx="3656648" cy="1981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562214"/>
              </a:buClr>
              <a:buSzPts val="2100"/>
              <a:buFont typeface="Gill Sans" panose="020B0502020104020203"/>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83" name="Google Shape;83;p29"/>
          <p:cNvSpPr/>
          <p:nvPr/>
        </p:nvSpPr>
        <p:spPr>
          <a:xfrm>
            <a:off x="1015735" y="1066800"/>
            <a:ext cx="6094413" cy="4572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117"/>
              </a:srgbClr>
            </a:outerShdw>
          </a:effectLst>
        </p:spPr>
        <p:txBody>
          <a:bodyPr spcFirstLastPara="1" wrap="square" lIns="91425" tIns="274300" rIns="91425" bIns="45700" anchor="t" anchorCtr="0">
            <a:noAutofit/>
          </a:bodyPr>
          <a:lstStyle/>
          <a:p>
            <a:pPr marL="0" marR="0" lvl="0" indent="0" algn="l" rtl="0">
              <a:lnSpc>
                <a:spcPct val="94000"/>
              </a:lnSpc>
              <a:spcBef>
                <a:spcPts val="0"/>
              </a:spcBef>
              <a:spcAft>
                <a:spcPts val="0"/>
              </a:spcAft>
              <a:buClr>
                <a:schemeClr val="accent1"/>
              </a:buClr>
              <a:buSzPts val="2560"/>
              <a:buFont typeface="Noto Sans Symbols"/>
              <a:buNone/>
            </a:pPr>
            <a:endParaRPr sz="3200" b="0" i="0" u="none" strike="noStrike" cap="none">
              <a:solidFill>
                <a:schemeClr val="dk1"/>
              </a:solidFill>
              <a:latin typeface="Gill Sans" panose="020B0502020104020203"/>
              <a:ea typeface="Gill Sans" panose="020B0502020104020203"/>
              <a:cs typeface="Gill Sans" panose="020B0502020104020203"/>
              <a:sym typeface="Gill Sans" panose="020B0502020104020203"/>
            </a:endParaRPr>
          </a:p>
        </p:txBody>
      </p:sp>
      <p:sp>
        <p:nvSpPr>
          <p:cNvPr id="84" name="Google Shape;84;p29"/>
          <p:cNvSpPr>
            <a:spLocks noGrp="1"/>
          </p:cNvSpPr>
          <p:nvPr>
            <p:ph type="pic" idx="2"/>
          </p:nvPr>
        </p:nvSpPr>
        <p:spPr>
          <a:xfrm>
            <a:off x="1117309" y="1143004"/>
            <a:ext cx="5891265" cy="3514531"/>
          </a:xfrm>
          <a:prstGeom prst="roundRect">
            <a:avLst>
              <a:gd name="adj" fmla="val 783"/>
            </a:avLst>
          </a:prstGeom>
          <a:solidFill>
            <a:schemeClr val="lt2"/>
          </a:solidFill>
          <a:ln>
            <a:noFill/>
          </a:ln>
        </p:spPr>
      </p:sp>
      <p:sp>
        <p:nvSpPr>
          <p:cNvPr id="85" name="Google Shape;85;p29"/>
          <p:cNvSpPr/>
          <p:nvPr/>
        </p:nvSpPr>
        <p:spPr>
          <a:xfrm rot="-2131329">
            <a:off x="528829" y="954341"/>
            <a:ext cx="914162" cy="204310"/>
          </a:xfrm>
          <a:prstGeom prst="flowChartProcess">
            <a:avLst/>
          </a:prstGeom>
          <a:solidFill>
            <a:srgbClr val="FBFBFB">
              <a:alpha val="43921"/>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86" name="Google Shape;86;p29"/>
          <p:cNvSpPr/>
          <p:nvPr/>
        </p:nvSpPr>
        <p:spPr>
          <a:xfrm rot="2103354" flipH="1">
            <a:off x="6669818" y="936786"/>
            <a:ext cx="865407" cy="204310"/>
          </a:xfrm>
          <a:prstGeom prst="flowChartProcess">
            <a:avLst/>
          </a:prstGeom>
          <a:solidFill>
            <a:srgbClr val="FBFBFB">
              <a:alpha val="43921"/>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87" name="Google Shape;87;p29"/>
          <p:cNvSpPr txBox="1">
            <a:spLocks noGrp="1"/>
          </p:cNvSpPr>
          <p:nvPr>
            <p:ph type="body" idx="1"/>
          </p:nvPr>
        </p:nvSpPr>
        <p:spPr>
          <a:xfrm>
            <a:off x="1117309" y="4800600"/>
            <a:ext cx="5891265"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114000"/>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30"/>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0"/>
          <p:cNvSpPr txBox="1">
            <a:spLocks noGrp="1"/>
          </p:cNvSpPr>
          <p:nvPr>
            <p:ph type="body" idx="1"/>
          </p:nvPr>
        </p:nvSpPr>
        <p:spPr>
          <a:xfrm rot="5400000">
            <a:off x="4510763" y="-1149318"/>
            <a:ext cx="4800600" cy="9994837"/>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1" name="Google Shape;91;p30"/>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0"/>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0"/>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31"/>
          <p:cNvSpPr txBox="1">
            <a:spLocks noGrp="1"/>
          </p:cNvSpPr>
          <p:nvPr>
            <p:ph type="title"/>
          </p:nvPr>
        </p:nvSpPr>
        <p:spPr>
          <a:xfrm rot="5400000">
            <a:off x="7434739" y="1981520"/>
            <a:ext cx="5851525" cy="243776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56221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body" idx="1"/>
          </p:nvPr>
        </p:nvSpPr>
        <p:spPr>
          <a:xfrm rot="5400000">
            <a:off x="2305275" y="-507031"/>
            <a:ext cx="5851525" cy="7414869"/>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7" name="Google Shape;97;p31"/>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1"/>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tile tx="0" ty="0" sx="90000" sy="90000" flip="xy" algn="tl"/>
        </a:blipFill>
        <a:effectLst/>
      </p:bgPr>
    </p:bg>
    <p:spTree>
      <p:nvGrpSpPr>
        <p:cNvPr id="1" name="Shape 9"/>
        <p:cNvGrpSpPr/>
        <p:nvPr/>
      </p:nvGrpSpPr>
      <p:grpSpPr>
        <a:xfrm>
          <a:off x="0" y="0"/>
          <a:ext cx="0" cy="0"/>
          <a:chOff x="0" y="0"/>
          <a:chExt cx="0" cy="0"/>
        </a:xfrm>
      </p:grpSpPr>
      <p:sp>
        <p:nvSpPr>
          <p:cNvPr id="10" name="Google Shape;10;p20"/>
          <p:cNvSpPr/>
          <p:nvPr/>
        </p:nvSpPr>
        <p:spPr>
          <a:xfrm>
            <a:off x="-1087619" y="-815922"/>
            <a:ext cx="2184614" cy="1638887"/>
          </a:xfrm>
          <a:prstGeom prst="pie">
            <a:avLst>
              <a:gd name="adj1" fmla="val 0"/>
              <a:gd name="adj2" fmla="val 5402120"/>
            </a:avLst>
          </a:prstGeom>
          <a:solidFill>
            <a:srgbClr val="FEF9F3">
              <a:alpha val="32156"/>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1" name="Google Shape;11;p20"/>
          <p:cNvSpPr/>
          <p:nvPr/>
        </p:nvSpPr>
        <p:spPr>
          <a:xfrm>
            <a:off x="225030" y="21103"/>
            <a:ext cx="2268997" cy="1702191"/>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2" name="Google Shape;12;p20"/>
          <p:cNvSpPr/>
          <p:nvPr/>
        </p:nvSpPr>
        <p:spPr>
          <a:xfrm rot="2315675">
            <a:off x="243779" y="1055077"/>
            <a:ext cx="1500565" cy="1102624"/>
          </a:xfrm>
          <a:prstGeom prst="donut">
            <a:avLst>
              <a:gd name="adj" fmla="val 11833"/>
            </a:avLst>
          </a:prstGeom>
          <a:gradFill>
            <a:gsLst>
              <a:gs pos="0">
                <a:srgbClr val="FEFBF4">
                  <a:alpha val="69019"/>
                </a:srgbClr>
              </a:gs>
              <a:gs pos="70000">
                <a:srgbClr val="FFFDF8">
                  <a:alpha val="54117"/>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3" name="Google Shape;13;p20"/>
          <p:cNvSpPr/>
          <p:nvPr/>
        </p:nvSpPr>
        <p:spPr>
          <a:xfrm>
            <a:off x="1350146" y="-54"/>
            <a:ext cx="10838679"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4" name="Google Shape;14;p20"/>
          <p:cNvSpPr txBox="1">
            <a:spLocks noGrp="1"/>
          </p:cNvSpPr>
          <p:nvPr>
            <p:ph type="title"/>
          </p:nvPr>
        </p:nvSpPr>
        <p:spPr>
          <a:xfrm>
            <a:off x="1913645" y="274638"/>
            <a:ext cx="9994837"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562214"/>
              </a:buClr>
              <a:buSzPts val="4300"/>
              <a:buFont typeface="Gill Sans" panose="020B0502020104020203"/>
              <a:buNone/>
              <a:defRPr sz="4300" b="0" i="0" u="none" strike="noStrike" cap="none">
                <a:solidFill>
                  <a:srgbClr val="562214"/>
                </a:solidFill>
                <a:latin typeface="Gill Sans" panose="020B0502020104020203"/>
                <a:ea typeface="Gill Sans" panose="020B0502020104020203"/>
                <a:cs typeface="Gill Sans" panose="020B0502020104020203"/>
                <a:sym typeface="Gill Sans" panose="020B050202010402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5" name="Google Shape;15;p20"/>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1pPr>
            <a:lvl2pPr marL="914400" marR="0" lvl="1" indent="-406400" algn="l" rtl="0">
              <a:lnSpc>
                <a:spcPct val="100000"/>
              </a:lnSpc>
              <a:spcBef>
                <a:spcPts val="550"/>
              </a:spcBef>
              <a:spcAft>
                <a:spcPts val="0"/>
              </a:spcAft>
              <a:buClr>
                <a:schemeClr val="accent1"/>
              </a:buClr>
              <a:buSzPts val="2800"/>
              <a:buFont typeface="Verdana" panose="020B0604030504040204"/>
              <a:buChar char="◦"/>
              <a:defRPr sz="2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9pPr>
          </a:lstStyle>
          <a:p>
            <a:endParaRPr/>
          </a:p>
        </p:txBody>
      </p:sp>
      <p:sp>
        <p:nvSpPr>
          <p:cNvPr id="16" name="Google Shape;16;p20"/>
          <p:cNvSpPr txBox="1">
            <a:spLocks noGrp="1"/>
          </p:cNvSpPr>
          <p:nvPr>
            <p:ph type="dt" idx="10"/>
          </p:nvPr>
        </p:nvSpPr>
        <p:spPr>
          <a:xfrm>
            <a:off x="4773957" y="6305550"/>
            <a:ext cx="2844059" cy="476250"/>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9pPr>
          </a:lstStyle>
          <a:p>
            <a:endParaRPr/>
          </a:p>
        </p:txBody>
      </p:sp>
      <p:sp>
        <p:nvSpPr>
          <p:cNvPr id="17" name="Google Shape;17;p20"/>
          <p:cNvSpPr txBox="1">
            <a:spLocks noGrp="1"/>
          </p:cNvSpPr>
          <p:nvPr>
            <p:ph type="ftr" idx="11"/>
          </p:nvPr>
        </p:nvSpPr>
        <p:spPr>
          <a:xfrm>
            <a:off x="7618015" y="6305550"/>
            <a:ext cx="3859795" cy="4762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defRPr>
            </a:lvl9pPr>
          </a:lstStyle>
          <a:p>
            <a:endParaRPr/>
          </a:p>
        </p:txBody>
      </p:sp>
      <p:sp>
        <p:nvSpPr>
          <p:cNvPr id="18" name="Google Shape;18;p20"/>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lvl1pPr marL="0" marR="0" lvl="0"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1pPr>
            <a:lvl2pPr marL="0" marR="0" lvl="1"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2pPr>
            <a:lvl3pPr marL="0" marR="0" lvl="2"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3pPr>
            <a:lvl4pPr marL="0" marR="0" lvl="3"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4pPr>
            <a:lvl5pPr marL="0" marR="0" lvl="4"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5pPr>
            <a:lvl6pPr marL="0" marR="0" lvl="5"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6pPr>
            <a:lvl7pPr marL="0" marR="0" lvl="6"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7pPr>
            <a:lvl8pPr marL="0" marR="0" lvl="7"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8pPr>
            <a:lvl9pPr marL="0" marR="0" lvl="8" indent="0" algn="ctr" rtl="0">
              <a:lnSpc>
                <a:spcPct val="100000"/>
              </a:lnSpc>
              <a:spcBef>
                <a:spcPts val="0"/>
              </a:spcBef>
              <a:spcAft>
                <a:spcPts val="0"/>
              </a:spcAft>
              <a:buClr>
                <a:srgbClr val="000000"/>
              </a:buClr>
              <a:buSzPts val="1200"/>
              <a:buFont typeface="Arial" panose="020B0604020202020204"/>
              <a:buNone/>
              <a:defRPr sz="1200" b="0" i="0" u="none" strike="noStrike" cap="none">
                <a:solidFill>
                  <a:srgbClr val="B3A787"/>
                </a:solidFill>
                <a:latin typeface="Gill Sans" panose="020B0502020104020203"/>
                <a:ea typeface="Gill Sans" panose="020B0502020104020203"/>
                <a:cs typeface="Gill Sans" panose="020B0502020104020203"/>
                <a:sym typeface="Gill Sans" panose="020B0502020104020203"/>
              </a:defRPr>
            </a:lvl9pPr>
          </a:lstStyle>
          <a:p>
            <a:pPr marL="0" lvl="0" indent="0" algn="ctr" rtl="0">
              <a:spcBef>
                <a:spcPts val="0"/>
              </a:spcBef>
              <a:spcAft>
                <a:spcPts val="0"/>
              </a:spcAft>
              <a:buNone/>
            </a:pPr>
            <a:fld id="{00000000-1234-1234-1234-123412341234}" type="slidenum">
              <a:rPr lang="en-US"/>
              <a:t>‹#›</a:t>
            </a:fld>
            <a:endParaRPr lang="en-US"/>
          </a:p>
        </p:txBody>
      </p:sp>
      <p:sp>
        <p:nvSpPr>
          <p:cNvPr id="19" name="Google Shape;19;p20"/>
          <p:cNvSpPr/>
          <p:nvPr/>
        </p:nvSpPr>
        <p:spPr>
          <a:xfrm>
            <a:off x="1352959" y="-54"/>
            <a:ext cx="97511" cy="6858054"/>
          </a:xfrm>
          <a:prstGeom prst="rect">
            <a:avLst/>
          </a:prstGeom>
          <a:solidFill>
            <a:schemeClr val="lt1"/>
          </a:solidFill>
          <a:ln>
            <a:noFill/>
          </a:ln>
          <a:effectLst>
            <a:outerShdw blurRad="38550" dist="38000" dir="10800000" algn="tl" rotWithShape="0">
              <a:srgbClr val="6F6A5F">
                <a:alpha val="2392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aphicFrame>
        <p:nvGraphicFramePr>
          <p:cNvPr id="105" name="Google Shape;105;p1"/>
          <p:cNvGraphicFramePr/>
          <p:nvPr/>
        </p:nvGraphicFramePr>
        <p:xfrm>
          <a:off x="1485900" y="188640"/>
          <a:ext cx="10225125" cy="1859090"/>
        </p:xfrm>
        <a:graphic>
          <a:graphicData uri="http://schemas.openxmlformats.org/drawingml/2006/table">
            <a:tbl>
              <a:tblPr>
                <a:noFill/>
                <a:tableStyleId>{1AD9F9A4-6209-4B79-A726-875C9723F9B2}</a:tableStyleId>
              </a:tblPr>
              <a:tblGrid>
                <a:gridCol w="1656175">
                  <a:extLst>
                    <a:ext uri="{9D8B030D-6E8A-4147-A177-3AD203B41FA5}">
                      <a16:colId xmlns:a16="http://schemas.microsoft.com/office/drawing/2014/main" val="20000"/>
                    </a:ext>
                  </a:extLst>
                </a:gridCol>
                <a:gridCol w="6984775">
                  <a:extLst>
                    <a:ext uri="{9D8B030D-6E8A-4147-A177-3AD203B41FA5}">
                      <a16:colId xmlns:a16="http://schemas.microsoft.com/office/drawing/2014/main" val="20001"/>
                    </a:ext>
                  </a:extLst>
                </a:gridCol>
                <a:gridCol w="1584175">
                  <a:extLst>
                    <a:ext uri="{9D8B030D-6E8A-4147-A177-3AD203B41FA5}">
                      <a16:colId xmlns:a16="http://schemas.microsoft.com/office/drawing/2014/main" val="20002"/>
                    </a:ext>
                  </a:extLst>
                </a:gridCol>
              </a:tblGrid>
              <a:tr h="1800200">
                <a:tc>
                  <a:txBody>
                    <a:bodyPr/>
                    <a:lstStyle/>
                    <a:p>
                      <a:pPr marL="0" marR="0" lvl="0" indent="0" algn="ctr" rtl="0">
                        <a:lnSpc>
                          <a:spcPct val="115000"/>
                        </a:lnSpc>
                        <a:spcBef>
                          <a:spcPts val="0"/>
                        </a:spcBef>
                        <a:spcAft>
                          <a:spcPts val="0"/>
                        </a:spcAft>
                        <a:buClr>
                          <a:srgbClr val="000000"/>
                        </a:buClr>
                        <a:buSzPts val="100"/>
                        <a:buFont typeface="Arial" panose="020B0604020202020204"/>
                        <a:buNone/>
                      </a:pPr>
                      <a:endParaRPr sz="1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2000"/>
                        <a:buFont typeface="Arial" panose="020B060402020202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ZEAL EDUCATION SOCIETY’S</a:t>
                      </a:r>
                      <a:endParaRPr sz="20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Clr>
                          <a:srgbClr val="000000"/>
                        </a:buClr>
                        <a:buSzPts val="2000"/>
                        <a:buFont typeface="Arial" panose="020B060402020202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ZEAL COLLEGE OF ENGINEERING AND RESEARCH</a:t>
                      </a:r>
                      <a:endParaRPr sz="20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Clr>
                          <a:srgbClr val="000000"/>
                        </a:buClr>
                        <a:buSzPts val="2000"/>
                        <a:buFont typeface="Arial" panose="020B0604020202020204"/>
                        <a:buNone/>
                      </a:pPr>
                      <a:r>
                        <a:rPr lang="en-US" sz="2000" b="1" u="none" strike="noStrike" cap="none" dirty="0">
                          <a:latin typeface="Times New Roman" panose="02020603050405020304"/>
                          <a:ea typeface="Times New Roman" panose="02020603050405020304"/>
                          <a:cs typeface="Times New Roman" panose="02020603050405020304"/>
                          <a:sym typeface="Times New Roman" panose="02020603050405020304"/>
                        </a:rPr>
                        <a:t>NARHE │PUNE -41 │ INDIA</a:t>
                      </a:r>
                      <a:endParaRPr sz="20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15000"/>
                        </a:lnSpc>
                        <a:spcBef>
                          <a:spcPts val="0"/>
                        </a:spcBef>
                        <a:spcAft>
                          <a:spcPts val="0"/>
                        </a:spcAft>
                        <a:buClr>
                          <a:srgbClr val="000000"/>
                        </a:buClr>
                        <a:buSzPts val="2400"/>
                        <a:buFont typeface="Arial" panose="020B0604020202020204"/>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 DEPARTMENT OF COMPUTER ENGINEERING</a:t>
                      </a:r>
                      <a:endParaRPr sz="24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200"/>
                        <a:buFont typeface="Arial" panose="020B0604020202020204"/>
                        <a:buNone/>
                      </a:pPr>
                      <a:endParaRPr sz="12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06" name="Google Shape;106;p1" descr="Image result for ZCOER"/>
          <p:cNvPicPr preferRelativeResize="0"/>
          <p:nvPr/>
        </p:nvPicPr>
        <p:blipFill rotWithShape="1">
          <a:blip r:embed="rId3"/>
          <a:srcRect/>
          <a:stretch>
            <a:fillRect/>
          </a:stretch>
        </p:blipFill>
        <p:spPr>
          <a:xfrm>
            <a:off x="1629918" y="476672"/>
            <a:ext cx="1512167" cy="1512168"/>
          </a:xfrm>
          <a:prstGeom prst="rect">
            <a:avLst/>
          </a:prstGeom>
          <a:noFill/>
          <a:ln>
            <a:noFill/>
          </a:ln>
        </p:spPr>
      </p:pic>
      <p:pic>
        <p:nvPicPr>
          <p:cNvPr id="107" name="Google Shape;107;p1" descr="Zeal 25 Years Logo"/>
          <p:cNvPicPr preferRelativeResize="0"/>
          <p:nvPr/>
        </p:nvPicPr>
        <p:blipFill rotWithShape="1">
          <a:blip r:embed="rId4"/>
          <a:srcRect/>
          <a:stretch>
            <a:fillRect/>
          </a:stretch>
        </p:blipFill>
        <p:spPr>
          <a:xfrm>
            <a:off x="10270877" y="548680"/>
            <a:ext cx="1152128" cy="1368152"/>
          </a:xfrm>
          <a:prstGeom prst="rect">
            <a:avLst/>
          </a:prstGeom>
          <a:noFill/>
          <a:ln>
            <a:noFill/>
          </a:ln>
        </p:spPr>
      </p:pic>
      <p:sp>
        <p:nvSpPr>
          <p:cNvPr id="108" name="Google Shape;108;p1"/>
          <p:cNvSpPr txBox="1"/>
          <p:nvPr/>
        </p:nvSpPr>
        <p:spPr>
          <a:xfrm>
            <a:off x="1557908" y="1988840"/>
            <a:ext cx="1015312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Academic Year: 2025-26        		                                   Semester: I</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9" name="Google Shape;109;p1"/>
          <p:cNvSpPr txBox="1"/>
          <p:nvPr/>
        </p:nvSpPr>
        <p:spPr>
          <a:xfrm>
            <a:off x="1485900" y="2360801"/>
            <a:ext cx="10153128" cy="412416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Presentation on</a:t>
            </a:r>
            <a:endParaRPr sz="1400" b="0" i="0" u="none" strike="noStrike" cap="none" dirty="0">
              <a:solidFill>
                <a:srgbClr val="000000"/>
              </a:solidFill>
              <a:sym typeface="Arial" panose="020B0604020202020204"/>
            </a:endParaRPr>
          </a:p>
          <a:p>
            <a:pPr lvl="0" algn="ctr">
              <a:buSzPts val="2000"/>
            </a:pPr>
            <a:r>
              <a:rPr lang="en-US" sz="2400" b="1" dirty="0">
                <a:solidFill>
                  <a:schemeClr val="tx1"/>
                </a:solidFill>
                <a:latin typeface="Times New Roman" panose="02020603050405020304"/>
                <a:cs typeface="Times New Roman" panose="02020603050405020304"/>
                <a:sym typeface="Times New Roman" panose="02020603050405020304"/>
              </a:rPr>
              <a:t>“</a:t>
            </a:r>
            <a:r>
              <a:rPr lang="en-US" sz="2400"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POCKET JOURNAL- An AI Powered Diary Analyzer and Media Recommender</a:t>
            </a:r>
            <a:r>
              <a:rPr lang="en-US" sz="2400" b="1" dirty="0">
                <a:solidFill>
                  <a:schemeClr val="tx1"/>
                </a:solidFill>
                <a:latin typeface="Times New Roman" panose="02020603050405020304"/>
                <a:cs typeface="Times New Roman" panose="02020603050405020304"/>
                <a:sym typeface="Times New Roman" panose="02020603050405020304"/>
              </a:rPr>
              <a:t>”</a:t>
            </a:r>
            <a:endParaRPr sz="1400" b="0" i="0" u="none" strike="noStrike" cap="none" dirty="0">
              <a:solidFill>
                <a:schemeClr val="tx1"/>
              </a:solidFill>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r>
              <a:rPr lang="en-US"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Presented By: </a:t>
            </a:r>
          </a:p>
          <a:p>
            <a:pPr marL="0" marR="0" lvl="0" indent="0" algn="ctr" rtl="0">
              <a:lnSpc>
                <a:spcPct val="100000"/>
              </a:lnSpc>
              <a:spcBef>
                <a:spcPts val="0"/>
              </a:spcBef>
              <a:spcAft>
                <a:spcPts val="0"/>
              </a:spcAft>
              <a:buClr>
                <a:srgbClr val="000000"/>
              </a:buClr>
              <a:buSzPts val="2000"/>
              <a:buFont typeface="Arial" panose="020B0604020202020204"/>
              <a:buNone/>
            </a:pPr>
            <a:endParaRPr sz="1400" b="0" i="0" u="none" strike="noStrike" cap="none" dirty="0">
              <a:solidFill>
                <a:srgbClr val="000000"/>
              </a:solidFill>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a:t>
            </a:r>
            <a:endParaRPr sz="1400" b="0" i="0" u="none" strike="noStrike" cap="none" dirty="0">
              <a:solidFill>
                <a:srgbClr val="000000"/>
              </a:solidFill>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r>
              <a:rPr lang="en-US"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Prof. Aparna V. Mote</a:t>
            </a:r>
            <a:endParaRPr sz="2000" i="0" u="none" strike="noStrike" cap="none"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1"/>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a:t>
            </a:fld>
            <a:endParaRPr lang="en-US"/>
          </a:p>
        </p:txBody>
      </p:sp>
      <p:graphicFrame>
        <p:nvGraphicFramePr>
          <p:cNvPr id="111" name="Google Shape;111;p1"/>
          <p:cNvGraphicFramePr/>
          <p:nvPr>
            <p:extLst>
              <p:ext uri="{D42A27DB-BD31-4B8C-83A1-F6EECF244321}">
                <p14:modId xmlns:p14="http://schemas.microsoft.com/office/powerpoint/2010/main" val="1774123522"/>
              </p:ext>
            </p:extLst>
          </p:nvPr>
        </p:nvGraphicFramePr>
        <p:xfrm>
          <a:off x="3430122" y="3847930"/>
          <a:ext cx="6408700" cy="1944250"/>
        </p:xfrm>
        <a:graphic>
          <a:graphicData uri="http://schemas.openxmlformats.org/drawingml/2006/table">
            <a:tbl>
              <a:tblPr firstRow="1" bandRow="1">
                <a:noFill/>
                <a:tableStyleId>{E03D46B1-7A9E-409F-B616-10CFBBF69FDA}</a:tableStyleId>
              </a:tblPr>
              <a:tblGrid>
                <a:gridCol w="624700">
                  <a:extLst>
                    <a:ext uri="{9D8B030D-6E8A-4147-A177-3AD203B41FA5}">
                      <a16:colId xmlns:a16="http://schemas.microsoft.com/office/drawing/2014/main" val="20000"/>
                    </a:ext>
                  </a:extLst>
                </a:gridCol>
                <a:gridCol w="3695775">
                  <a:extLst>
                    <a:ext uri="{9D8B030D-6E8A-4147-A177-3AD203B41FA5}">
                      <a16:colId xmlns:a16="http://schemas.microsoft.com/office/drawing/2014/main" val="20001"/>
                    </a:ext>
                  </a:extLst>
                </a:gridCol>
                <a:gridCol w="2088225">
                  <a:extLst>
                    <a:ext uri="{9D8B030D-6E8A-4147-A177-3AD203B41FA5}">
                      <a16:colId xmlns:a16="http://schemas.microsoft.com/office/drawing/2014/main" val="20002"/>
                    </a:ext>
                  </a:extLst>
                </a:gridCol>
              </a:tblGrid>
              <a:tr h="388850">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S.N.</a:t>
                      </a:r>
                      <a:endParaRPr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Name of the student</a:t>
                      </a:r>
                      <a:endParaRPr sz="160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No</a:t>
                      </a:r>
                      <a:endParaRPr sz="160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0CD"/>
                    </a:solidFill>
                  </a:tcPr>
                </a:tc>
                <a:extLst>
                  <a:ext uri="{0D108BD9-81ED-4DB2-BD59-A6C34878D82A}">
                    <a16:rowId xmlns:a16="http://schemas.microsoft.com/office/drawing/2014/main" val="10000"/>
                  </a:ext>
                </a:extLst>
              </a:tr>
              <a:tr h="388850">
                <a:tc>
                  <a:txBody>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1.</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Jenil Girish Rathod</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B22009</a:t>
                      </a:r>
                      <a:endParaRPr sz="1600" u="none" strike="noStrike" cap="none"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8850">
                <a:tc>
                  <a:txBody>
                    <a:bodyPr/>
                    <a:lstStyle/>
                    <a:p>
                      <a:pPr marL="0" marR="0" lvl="0" indent="0" algn="ctr" rtl="0">
                        <a:lnSpc>
                          <a:spcPct val="100000"/>
                        </a:lnSpc>
                        <a:spcBef>
                          <a:spcPts val="0"/>
                        </a:spcBef>
                        <a:spcAft>
                          <a:spcPts val="0"/>
                        </a:spcAft>
                        <a:buClr>
                          <a:schemeClr val="dk1"/>
                        </a:buClr>
                        <a:buSzPts val="1600"/>
                        <a:buFont typeface="Times New Roman" panose="020206030504050203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2.</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panose="020206030504050203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Manas Ballal Joshi</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cs typeface="Times New Roman" panose="02020603050405020304" pitchFamily="18" charset="0"/>
                        </a:rPr>
                        <a:t>B22011</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8850">
                <a:tc>
                  <a:txBody>
                    <a:bodyPr/>
                    <a:lstStyle/>
                    <a:p>
                      <a:pPr marL="0" marR="0" lvl="0" indent="0" algn="ctr" rtl="0">
                        <a:lnSpc>
                          <a:spcPct val="100000"/>
                        </a:lnSpc>
                        <a:spcBef>
                          <a:spcPts val="0"/>
                        </a:spcBef>
                        <a:spcAft>
                          <a:spcPts val="0"/>
                        </a:spcAft>
                        <a:buClr>
                          <a:schemeClr val="dk1"/>
                        </a:buClr>
                        <a:buSzPts val="1600"/>
                        <a:buFont typeface="Times New Roman" panose="020206030504050203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3.</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panose="020206030504050203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Saloni Mahesh Naik</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cs typeface="Times New Roman" panose="02020603050405020304" pitchFamily="18" charset="0"/>
                        </a:rPr>
                        <a:t>B22051</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8850">
                <a:tc>
                  <a:txBody>
                    <a:bodyPr/>
                    <a:lstStyle/>
                    <a:p>
                      <a:pPr marL="0" marR="0" lvl="0" indent="0" algn="ctr" rtl="0">
                        <a:lnSpc>
                          <a:spcPct val="100000"/>
                        </a:lnSpc>
                        <a:spcBef>
                          <a:spcPts val="0"/>
                        </a:spcBef>
                        <a:spcAft>
                          <a:spcPts val="0"/>
                        </a:spcAft>
                        <a:buClr>
                          <a:schemeClr val="dk1"/>
                        </a:buClr>
                        <a:buSzPts val="1600"/>
                        <a:buFont typeface="Times New Roman" panose="02020603050405020304"/>
                        <a:buNone/>
                      </a:pPr>
                      <a:r>
                        <a:rPr lang="en-US" sz="1600" u="none" strike="noStrike" cap="none">
                          <a:latin typeface="Times New Roman" panose="02020603050405020304"/>
                          <a:ea typeface="Times New Roman" panose="02020603050405020304"/>
                          <a:cs typeface="Times New Roman" panose="02020603050405020304"/>
                          <a:sym typeface="Times New Roman" panose="02020603050405020304"/>
                        </a:rPr>
                        <a:t>4.</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600"/>
                        <a:buFont typeface="Times New Roman" panose="02020603050405020304"/>
                        <a:buNone/>
                      </a:pPr>
                      <a:r>
                        <a:rPr lang="en-IN" sz="1600" u="none" strike="noStrike" cap="none" dirty="0">
                          <a:latin typeface="Times New Roman" panose="02020603050405020304"/>
                          <a:ea typeface="Times New Roman" panose="02020603050405020304"/>
                          <a:cs typeface="Times New Roman" panose="02020603050405020304"/>
                          <a:sym typeface="Times New Roman" panose="02020603050405020304"/>
                        </a:rPr>
                        <a:t>Aditya Sunil Nalla</a:t>
                      </a:r>
                      <a:endParaRPr sz="16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IN" sz="1600" u="none" strike="noStrike" cap="none" dirty="0">
                          <a:latin typeface="Times New Roman" panose="02020603050405020304" pitchFamily="18" charset="0"/>
                          <a:cs typeface="Times New Roman" panose="02020603050405020304" pitchFamily="18" charset="0"/>
                        </a:rPr>
                        <a:t>B22053</a:t>
                      </a:r>
                      <a:endParaRPr sz="1600" u="none" strike="noStrike" cap="none"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body" idx="1"/>
          </p:nvPr>
        </p:nvSpPr>
        <p:spPr>
          <a:xfrm>
            <a:off x="1485900" y="1340768"/>
            <a:ext cx="6768751" cy="4608512"/>
          </a:xfrm>
          <a:prstGeom prst="rect">
            <a:avLst/>
          </a:prstGeom>
          <a:noFill/>
          <a:ln>
            <a:noFill/>
          </a:ln>
        </p:spPr>
        <p:txBody>
          <a:bodyPr spcFirstLastPara="1" wrap="square" lIns="91425" tIns="45700" rIns="91425" bIns="45700" anchor="t" anchorCtr="0">
            <a:normAutofit fontScale="80833" lnSpcReduction="20000"/>
          </a:bodyPr>
          <a:lstStyle/>
          <a:p>
            <a:pPr marL="457200" lvl="0" indent="-457200" algn="l" rtl="0">
              <a:lnSpc>
                <a:spcPct val="100000"/>
              </a:lnSpc>
              <a:spcBef>
                <a:spcPts val="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Introduction</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Problem Statement</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Motivation</a:t>
            </a:r>
            <a:endParaRPr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Literature Survey</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Proposed System’s Architecture</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Algorithms/Methodology </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Hardware and Software Requirements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Comparison With Existing Systems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Expected Outcomes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Applications</a:t>
            </a:r>
            <a:endParaRPr dirty="0">
              <a:latin typeface="Times New Roman" panose="02020603050405020304" pitchFamily="18" charset="0"/>
              <a:cs typeface="Times New Roman" panose="02020603050405020304" pitchFamily="18" charset="0"/>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a:t>
            </a:r>
            <a:endParaRPr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457200" algn="l" rtl="0">
              <a:lnSpc>
                <a:spcPct val="100000"/>
              </a:lnSpc>
              <a:spcBef>
                <a:spcPts val="600"/>
              </a:spcBef>
              <a:spcAft>
                <a:spcPts val="0"/>
              </a:spcAft>
              <a:buClr>
                <a:srgbClr val="C58C00"/>
              </a:buClr>
              <a:buSzPct val="80000"/>
              <a:buFont typeface="Noto Sans Symbols"/>
              <a:buChar char="⮚"/>
            </a:pPr>
            <a:r>
              <a:rPr lang="en-US" sz="27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References</a:t>
            </a:r>
            <a:endParaRPr dirty="0">
              <a:latin typeface="Times New Roman" panose="02020603050405020304" pitchFamily="18" charset="0"/>
              <a:cs typeface="Times New Roman" panose="02020603050405020304" pitchFamily="18" charset="0"/>
            </a:endParaRPr>
          </a:p>
          <a:p>
            <a:pPr marL="457200" lvl="0" indent="-354330" algn="l" rtl="0">
              <a:lnSpc>
                <a:spcPct val="100000"/>
              </a:lnSpc>
              <a:spcBef>
                <a:spcPts val="600"/>
              </a:spcBef>
              <a:spcAft>
                <a:spcPts val="0"/>
              </a:spcAft>
              <a:buSzPct val="80000"/>
              <a:buFont typeface="Noto Sans Symbols"/>
              <a:buNone/>
            </a:pPr>
            <a:endParaRPr sz="2500" dirty="0">
              <a:solidFill>
                <a:srgbClr val="00206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57200" lvl="0" indent="-325755" algn="l" rtl="0">
              <a:lnSpc>
                <a:spcPct val="100000"/>
              </a:lnSpc>
              <a:spcBef>
                <a:spcPts val="600"/>
              </a:spcBef>
              <a:spcAft>
                <a:spcPts val="0"/>
              </a:spcAft>
              <a:buSzPct val="80000"/>
              <a:buFont typeface="Noto Sans Symbols"/>
              <a:buNone/>
            </a:pPr>
            <a:endParaRPr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17" name="Google Shape;117;p2"/>
          <p:cNvSpPr txBox="1"/>
          <p:nvPr/>
        </p:nvSpPr>
        <p:spPr>
          <a:xfrm>
            <a:off x="1413892" y="274638"/>
            <a:ext cx="9759198" cy="70609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180D"/>
              </a:buClr>
              <a:buSzPts val="6000"/>
              <a:buFont typeface="Times New Roman" panose="02020603050405020304"/>
              <a:buNone/>
            </a:pPr>
            <a:r>
              <a:rPr lang="en-US" sz="6000" b="1" i="0" u="none" strike="noStrike" cap="small">
                <a:solidFill>
                  <a:srgbClr val="1D180D"/>
                </a:solidFill>
                <a:latin typeface="Times New Roman" panose="02020603050405020304"/>
                <a:ea typeface="Times New Roman" panose="02020603050405020304"/>
                <a:cs typeface="Times New Roman" panose="02020603050405020304"/>
                <a:sym typeface="Times New Roman" panose="02020603050405020304"/>
              </a:rPr>
              <a:t>  </a:t>
            </a:r>
            <a:r>
              <a:rPr lang="en-US" sz="4500" b="1" i="0" u="none" strike="noStrike" cap="small">
                <a:solidFill>
                  <a:srgbClr val="1D180D"/>
                </a:solidFill>
                <a:latin typeface="Times New Roman" panose="02020603050405020304"/>
                <a:ea typeface="Times New Roman" panose="02020603050405020304"/>
                <a:cs typeface="Times New Roman" panose="02020603050405020304"/>
                <a:sym typeface="Times New Roman" panose="02020603050405020304"/>
              </a:rPr>
              <a:t>Index</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 name="Google Shape;118;p2"/>
          <p:cNvSpPr/>
          <p:nvPr/>
        </p:nvSpPr>
        <p:spPr>
          <a:xfrm>
            <a:off x="1389741" y="1196752"/>
            <a:ext cx="9745231" cy="4824536"/>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Gill Sans" panose="020B0502020104020203"/>
              <a:ea typeface="Gill Sans" panose="020B0502020104020203"/>
              <a:cs typeface="Gill Sans" panose="020B0502020104020203"/>
              <a:sym typeface="Gill Sans" panose="020B0502020104020203"/>
            </a:endParaRPr>
          </a:p>
        </p:txBody>
      </p:sp>
      <p:sp>
        <p:nvSpPr>
          <p:cNvPr id="119" name="Google Shape;119;p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p:nvPr/>
        </p:nvSpPr>
        <p:spPr>
          <a:xfrm>
            <a:off x="1413892" y="260648"/>
            <a:ext cx="9759198" cy="70609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180D"/>
              </a:buClr>
              <a:buSzPts val="6000"/>
              <a:buFont typeface="Times New Roman" panose="02020603050405020304"/>
              <a:buNone/>
            </a:pPr>
            <a:r>
              <a:rPr lang="en-US" sz="6000" b="1" i="0" u="none" strike="noStrike" cap="small" dirty="0">
                <a:solidFill>
                  <a:srgbClr val="1D180D"/>
                </a:solidFill>
                <a:latin typeface="Times New Roman" panose="02020603050405020304"/>
                <a:ea typeface="Times New Roman" panose="02020603050405020304"/>
                <a:cs typeface="Times New Roman" panose="02020603050405020304"/>
                <a:sym typeface="Times New Roman" panose="02020603050405020304"/>
              </a:rPr>
              <a:t>  </a:t>
            </a: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a:t>
            </a:r>
            <a:endParaRPr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3</a:t>
            </a:fld>
            <a:endParaRPr lang="en-US"/>
          </a:p>
        </p:txBody>
      </p:sp>
      <p:sp>
        <p:nvSpPr>
          <p:cNvPr id="3" name="Rectangle 2"/>
          <p:cNvSpPr>
            <a:spLocks noChangeArrowheads="1"/>
          </p:cNvSpPr>
          <p:nvPr/>
        </p:nvSpPr>
        <p:spPr bwMode="auto">
          <a:xfrm>
            <a:off x="1547498" y="1126481"/>
            <a:ext cx="9759198" cy="3184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r>
              <a:rPr lang="en-US" altLang="en-US" sz="1700" dirty="0">
                <a:solidFill>
                  <a:schemeClr val="tx1"/>
                </a:solidFill>
                <a:latin typeface="Times New Roman" panose="02020603050405020304" pitchFamily="18" charset="0"/>
                <a:cs typeface="Times New Roman" panose="02020603050405020304" pitchFamily="18" charset="0"/>
              </a:rPr>
              <a:t>Pocket Journal is an artificial intelligence, AI powered journaling application that aims to turn traditional diary writing into a digital, intelligent, interactive journaling experience. The application is able to take advantage of AI and natural language processing (NLP) models, like </a:t>
            </a:r>
            <a:r>
              <a:rPr lang="en-US" altLang="en-US" sz="1700" dirty="0" err="1">
                <a:solidFill>
                  <a:schemeClr val="tx1"/>
                </a:solidFill>
                <a:latin typeface="Times New Roman" panose="02020603050405020304" pitchFamily="18" charset="0"/>
                <a:cs typeface="Times New Roman" panose="02020603050405020304" pitchFamily="18" charset="0"/>
              </a:rPr>
              <a:t>RoBERTa</a:t>
            </a:r>
            <a:r>
              <a:rPr lang="en-US" altLang="en-US" sz="1700" dirty="0">
                <a:solidFill>
                  <a:schemeClr val="tx1"/>
                </a:solidFill>
                <a:latin typeface="Times New Roman" panose="02020603050405020304" pitchFamily="18" charset="0"/>
                <a:cs typeface="Times New Roman" panose="02020603050405020304" pitchFamily="18" charset="0"/>
              </a:rPr>
              <a:t> for emotion detection, BART for text summarization, and Gemini for insight, so that users can reflect on their emotions, recognize patterns, and observe personal growth while journaling. </a:t>
            </a:r>
          </a:p>
          <a:p>
            <a:pPr lvl="0" algn="just" eaLnBrk="0" fontAlgn="base" hangingPunct="0">
              <a:lnSpc>
                <a:spcPct val="150000"/>
              </a:lnSpc>
              <a:spcBef>
                <a:spcPct val="0"/>
              </a:spcBef>
              <a:spcAft>
                <a:spcPct val="0"/>
              </a:spcAft>
              <a:buClrTx/>
            </a:pPr>
            <a:r>
              <a:rPr lang="en-US" altLang="en-US" sz="1700" dirty="0">
                <a:solidFill>
                  <a:schemeClr val="tx1"/>
                </a:solidFill>
                <a:latin typeface="Times New Roman" panose="02020603050405020304" pitchFamily="18" charset="0"/>
                <a:cs typeface="Times New Roman" panose="02020603050405020304" pitchFamily="18" charset="0"/>
              </a:rPr>
              <a:t>The application is built using the Flutter, Flask, and Firebase stack with safe real-time analysis and personalized media recommendations with Spotify and TMDB APIs to represent modern mental wellness and self-awareness in an interactive format.</a:t>
            </a:r>
            <a:endPar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4"/>
          <p:cNvSpPr txBox="1">
            <a:spLocks noGrp="1"/>
          </p:cNvSpPr>
          <p:nvPr>
            <p:ph type="subTitle" idx="1"/>
          </p:nvPr>
        </p:nvSpPr>
        <p:spPr>
          <a:xfrm>
            <a:off x="1485900" y="332656"/>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lvl="0" indent="0" algn="l" rtl="0">
              <a:lnSpc>
                <a:spcPct val="100000"/>
              </a:lnSpc>
              <a:spcBef>
                <a:spcPts val="0"/>
              </a:spcBef>
              <a:spcAft>
                <a:spcPts val="0"/>
              </a:spcAft>
              <a:buSzPts val="3840"/>
              <a:buNone/>
            </a:pPr>
            <a:r>
              <a:rPr lang="en-US" sz="4400" b="1" i="0" u="none" strike="noStrike" cap="small" dirty="0">
                <a:solidFill>
                  <a:srgbClr val="1D180D"/>
                </a:solidFill>
                <a:latin typeface="Times New Roman" panose="02020603050405020304"/>
                <a:ea typeface="Times New Roman" panose="02020603050405020304"/>
                <a:cs typeface="Times New Roman" panose="02020603050405020304"/>
                <a:sym typeface="Times New Roman" panose="02020603050405020304"/>
              </a:rPr>
              <a:t>  Objective</a:t>
            </a:r>
            <a:endParaRPr sz="44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Google Shape;132;p4"/>
          <p:cNvSpPr txBox="1"/>
          <p:nvPr/>
        </p:nvSpPr>
        <p:spPr>
          <a:xfrm>
            <a:off x="1545193" y="1360959"/>
            <a:ext cx="9818687" cy="4247276"/>
          </a:xfrm>
          <a:prstGeom prst="rect">
            <a:avLst/>
          </a:prstGeom>
          <a:noFill/>
          <a:ln>
            <a:noFill/>
          </a:ln>
        </p:spPr>
        <p:txBody>
          <a:bodyPr spcFirstLastPara="1" wrap="square" lIns="91425" tIns="45700" rIns="91425" bIns="45700" anchor="t" anchorCtr="0">
            <a:spAutoFit/>
          </a:bodyPr>
          <a:lstStyle/>
          <a:p>
            <a:pPr algn="just"/>
            <a:r>
              <a:rPr lang="en-US" sz="1800" dirty="0">
                <a:latin typeface="Times New Roman" panose="02020603050405020304" pitchFamily="18" charset="0"/>
                <a:cs typeface="Times New Roman" panose="02020603050405020304" pitchFamily="18" charset="0"/>
              </a:rPr>
              <a:t>To establish a powerful AI-driven journaling framework that elevates self-reflection and emotional clarity at scale. To position Pocket Journal as a next-generation platform that transforms raw entries into actionable personal insight.</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modernize conventional journaling by incorporating AI and NLP to provide a more intelligent and mindful experience.</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analyze user-written entries to detect emotion, generate a brief summary, and identify habitual goals or behavioral patterns.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provide personalized feedback based on mood and offer suggestions or recommendations for other media using APIs such as Spotify or TMDB to support emotional wellness.</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build a habit of consistent self-reflection, emotional wellness, and personal development through AI-generated reflections and engagement prompts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5"/>
          <p:cNvSpPr txBox="1">
            <a:spLocks noGrp="1"/>
          </p:cNvSpPr>
          <p:nvPr>
            <p:ph type="body" idx="1"/>
          </p:nvPr>
        </p:nvSpPr>
        <p:spPr>
          <a:xfrm>
            <a:off x="1485900" y="1327746"/>
            <a:ext cx="9649072" cy="2869902"/>
          </a:xfrm>
          <a:prstGeom prst="rect">
            <a:avLst/>
          </a:prstGeom>
          <a:noFill/>
          <a:ln>
            <a:noFill/>
          </a:ln>
        </p:spPr>
        <p:txBody>
          <a:bodyPr spcFirstLastPara="1" wrap="square" lIns="91425" tIns="45700" rIns="91425" bIns="45700" anchor="t" anchorCtr="0">
            <a:noAutofit/>
          </a:bodyPr>
          <a:lstStyle/>
          <a:p>
            <a:pPr marL="82550" lvl="0" indent="0" algn="just">
              <a:lnSpc>
                <a:spcPct val="150000"/>
              </a:lnSpc>
              <a:buNone/>
            </a:pPr>
            <a:r>
              <a:rPr lang="en-US" sz="1900" dirty="0">
                <a:latin typeface="Times New Roman" panose="02020603050405020304" pitchFamily="18" charset="0"/>
                <a:cs typeface="Times New Roman" panose="02020603050405020304" pitchFamily="18" charset="0"/>
              </a:rPr>
              <a:t>To address the passivity of traditional journaling, which lacks analytical feedback, Pocket Journal introduces an intelligent framework for personal reflection. The core problem is transforming static diary-keeping into a dynamic dialogue that provides users with actionable insights. This is achieved by leveraging AI models, such as </a:t>
            </a:r>
            <a:r>
              <a:rPr lang="en-US" sz="1900" dirty="0" err="1">
                <a:latin typeface="Times New Roman" panose="02020603050405020304" pitchFamily="18" charset="0"/>
                <a:cs typeface="Times New Roman" panose="02020603050405020304" pitchFamily="18" charset="0"/>
              </a:rPr>
              <a:t>RoBERTa</a:t>
            </a:r>
            <a:r>
              <a:rPr lang="en-US" sz="1900" dirty="0">
                <a:latin typeface="Times New Roman" panose="02020603050405020304" pitchFamily="18" charset="0"/>
                <a:cs typeface="Times New Roman" panose="02020603050405020304" pitchFamily="18" charset="0"/>
              </a:rPr>
              <a:t> for mood detection and BART for summarization, to create a responsive environment that actively supports users in gaining greater self-awareness.</a:t>
            </a:r>
            <a:endParaRPr sz="19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39" name="Google Shape;139;p5"/>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Problem Statement</a:t>
            </a:r>
            <a:endParaRPr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p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p:nvPr/>
        </p:nvSpPr>
        <p:spPr>
          <a:xfrm>
            <a:off x="1466895" y="288063"/>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rgbClr val="1D180D"/>
                </a:solidFill>
                <a:latin typeface="Times New Roman" panose="02020603050405020304"/>
                <a:ea typeface="Times New Roman" panose="02020603050405020304"/>
                <a:cs typeface="Times New Roman" panose="02020603050405020304"/>
                <a:sym typeface="Times New Roman" panose="02020603050405020304"/>
              </a:rPr>
              <a:t>Motivation</a:t>
            </a:r>
            <a:endPar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Rectangle 2"/>
          <p:cNvSpPr>
            <a:spLocks noChangeArrowheads="1"/>
          </p:cNvSpPr>
          <p:nvPr/>
        </p:nvSpPr>
        <p:spPr bwMode="auto">
          <a:xfrm>
            <a:off x="1510867" y="1255384"/>
            <a:ext cx="9730741" cy="239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1" algn="just" eaLnBrk="0" fontAlgn="base" hangingPunct="0">
              <a:lnSpc>
                <a:spcPct val="150000"/>
              </a:lnSpc>
              <a:spcBef>
                <a:spcPct val="0"/>
              </a:spcBef>
              <a:spcAft>
                <a:spcPct val="0"/>
              </a:spcAft>
              <a:buClrTx/>
            </a:pPr>
            <a:r>
              <a:rPr lang="en-US" altLang="en-US" sz="1700" dirty="0">
                <a:solidFill>
                  <a:schemeClr val="tx1"/>
                </a:solidFill>
                <a:latin typeface="Times New Roman" panose="02020603050405020304" pitchFamily="18" charset="0"/>
                <a:cs typeface="Times New Roman" panose="02020603050405020304" pitchFamily="18" charset="0"/>
              </a:rPr>
              <a:t>The idea is to surpass the shortcomings of conventional journaling, which just captures thoughts without feedback or emotional awareness. It is known that media such as music and film have so much power in shaping mood, and hence the goal of the project is to merge journaling with smart emotional analysis and customized media suggestions. Through the applications of AI models, Flutter, and Firebase, Pocket Journal is an intelligent digital friend that encourages self-reflection, emotional health, and personal development particularly for students and young adults to confront contemporary challenges in life.</a:t>
            </a:r>
            <a:endPar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txBox="1"/>
          <p:nvPr/>
        </p:nvSpPr>
        <p:spPr>
          <a:xfrm>
            <a:off x="1485900" y="188640"/>
            <a:ext cx="10472420"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922122"/>
              </a:buClr>
              <a:buSzPts val="4800"/>
              <a:buFont typeface="Times New Roman" panose="02020603050405020304"/>
              <a:buNone/>
            </a:pPr>
            <a:r>
              <a:rPr lang="en-US" sz="48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53" name="Google Shape;153;p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7</a:t>
            </a:fld>
            <a:endParaRPr lang="en-US"/>
          </a:p>
        </p:txBody>
      </p:sp>
      <p:graphicFrame>
        <p:nvGraphicFramePr>
          <p:cNvPr id="154" name="Google Shape;154;p7"/>
          <p:cNvGraphicFramePr/>
          <p:nvPr>
            <p:extLst>
              <p:ext uri="{D42A27DB-BD31-4B8C-83A1-F6EECF244321}">
                <p14:modId xmlns:p14="http://schemas.microsoft.com/office/powerpoint/2010/main" val="2325438965"/>
              </p:ext>
            </p:extLst>
          </p:nvPr>
        </p:nvGraphicFramePr>
        <p:xfrm>
          <a:off x="1485900" y="967496"/>
          <a:ext cx="10501052" cy="5458069"/>
        </p:xfrm>
        <a:graphic>
          <a:graphicData uri="http://schemas.openxmlformats.org/drawingml/2006/table">
            <a:tbl>
              <a:tblPr firstRow="1">
                <a:noFill/>
                <a:tableStyleId>{E03D46B1-7A9E-409F-B616-10CFBBF69FDA}</a:tableStyleId>
              </a:tblPr>
              <a:tblGrid>
                <a:gridCol w="1458390">
                  <a:extLst>
                    <a:ext uri="{9D8B030D-6E8A-4147-A177-3AD203B41FA5}">
                      <a16:colId xmlns:a16="http://schemas.microsoft.com/office/drawing/2014/main" val="20000"/>
                    </a:ext>
                  </a:extLst>
                </a:gridCol>
                <a:gridCol w="1225663">
                  <a:extLst>
                    <a:ext uri="{9D8B030D-6E8A-4147-A177-3AD203B41FA5}">
                      <a16:colId xmlns:a16="http://schemas.microsoft.com/office/drawing/2014/main" val="20001"/>
                    </a:ext>
                  </a:extLst>
                </a:gridCol>
                <a:gridCol w="713676">
                  <a:extLst>
                    <a:ext uri="{9D8B030D-6E8A-4147-A177-3AD203B41FA5}">
                      <a16:colId xmlns:a16="http://schemas.microsoft.com/office/drawing/2014/main" val="20002"/>
                    </a:ext>
                  </a:extLst>
                </a:gridCol>
                <a:gridCol w="2435809">
                  <a:extLst>
                    <a:ext uri="{9D8B030D-6E8A-4147-A177-3AD203B41FA5}">
                      <a16:colId xmlns:a16="http://schemas.microsoft.com/office/drawing/2014/main" val="20003"/>
                    </a:ext>
                  </a:extLst>
                </a:gridCol>
                <a:gridCol w="1458390">
                  <a:extLst>
                    <a:ext uri="{9D8B030D-6E8A-4147-A177-3AD203B41FA5}">
                      <a16:colId xmlns:a16="http://schemas.microsoft.com/office/drawing/2014/main" val="20004"/>
                    </a:ext>
                  </a:extLst>
                </a:gridCol>
                <a:gridCol w="1644561">
                  <a:extLst>
                    <a:ext uri="{9D8B030D-6E8A-4147-A177-3AD203B41FA5}">
                      <a16:colId xmlns:a16="http://schemas.microsoft.com/office/drawing/2014/main" val="20005"/>
                    </a:ext>
                  </a:extLst>
                </a:gridCol>
                <a:gridCol w="1564563">
                  <a:extLst>
                    <a:ext uri="{9D8B030D-6E8A-4147-A177-3AD203B41FA5}">
                      <a16:colId xmlns:a16="http://schemas.microsoft.com/office/drawing/2014/main" val="20006"/>
                    </a:ext>
                  </a:extLst>
                </a:gridCol>
              </a:tblGrid>
              <a:tr h="302903">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Publisher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Author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Year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dirty="0">
                          <a:latin typeface="Times New Roman" panose="02020603050405020304"/>
                          <a:ea typeface="Times New Roman" panose="02020603050405020304"/>
                          <a:cs typeface="Times New Roman" panose="02020603050405020304"/>
                          <a:sym typeface="Times New Roman" panose="02020603050405020304"/>
                        </a:rPr>
                        <a:t>Name of the paper</a:t>
                      </a:r>
                      <a:endParaRPr sz="1200" b="1"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a:latin typeface="Times New Roman" panose="02020603050405020304"/>
                          <a:ea typeface="Times New Roman" panose="02020603050405020304"/>
                          <a:cs typeface="Times New Roman" panose="02020603050405020304"/>
                          <a:sym typeface="Times New Roman" panose="02020603050405020304"/>
                        </a:rPr>
                        <a:t>Objective</a:t>
                      </a:r>
                      <a:endParaRPr sz="12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a:latin typeface="Times New Roman" panose="02020603050405020304"/>
                          <a:ea typeface="Times New Roman" panose="02020603050405020304"/>
                          <a:cs typeface="Times New Roman" panose="02020603050405020304"/>
                          <a:sym typeface="Times New Roman" panose="02020603050405020304"/>
                        </a:rPr>
                        <a:t>Methodology</a:t>
                      </a:r>
                      <a:endParaRPr sz="12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000000"/>
                        </a:buClr>
                        <a:buSzPts val="1200"/>
                        <a:buFont typeface="Arial" panose="020B0604020202020204"/>
                        <a:buNone/>
                      </a:pPr>
                      <a:r>
                        <a:rPr lang="en-US" sz="1200" b="1" u="none" strike="noStrike" cap="none">
                          <a:latin typeface="Times New Roman" panose="02020603050405020304"/>
                          <a:ea typeface="Times New Roman" panose="02020603050405020304"/>
                          <a:cs typeface="Times New Roman" panose="02020603050405020304"/>
                          <a:sym typeface="Times New Roman" panose="02020603050405020304"/>
                        </a:rPr>
                        <a:t>Limitation</a:t>
                      </a:r>
                      <a:endParaRPr sz="12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3500" marR="63500" marT="63500" marB="63500" anchor="ctr">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419469">
                <a:tc>
                  <a:txBody>
                    <a:bodyPr/>
                    <a:lstStyle/>
                    <a:p>
                      <a:pPr marL="0" marR="0">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IN" sz="1200" dirty="0">
                          <a:latin typeface="Times New Roman" panose="02020603050405020304" pitchFamily="18" charset="0"/>
                          <a:cs typeface="Times New Roman" panose="02020603050405020304" pitchFamily="18" charset="0"/>
                        </a:rPr>
                        <a:t>Iqra Ameer, </a:t>
                      </a:r>
                      <a:r>
                        <a:rPr lang="en-IN" sz="1200" dirty="0" err="1">
                          <a:latin typeface="Times New Roman" panose="02020603050405020304" pitchFamily="18" charset="0"/>
                          <a:cs typeface="Times New Roman" panose="02020603050405020304" pitchFamily="18" charset="0"/>
                        </a:rPr>
                        <a:t>Necva</a:t>
                      </a:r>
                      <a:r>
                        <a:rPr lang="en-IN" sz="1200" dirty="0">
                          <a:latin typeface="Times New Roman" panose="02020603050405020304" pitchFamily="18" charset="0"/>
                          <a:cs typeface="Times New Roman" panose="02020603050405020304" pitchFamily="18" charset="0"/>
                        </a:rPr>
                        <a:t>, Grigori Sidorov, Burcu Can </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IN" sz="1200" dirty="0">
                          <a:latin typeface="Times New Roman" panose="02020603050405020304" pitchFamily="18" charset="0"/>
                          <a:cs typeface="Times New Roman" panose="02020603050405020304" pitchFamily="18" charset="0"/>
                        </a:rPr>
                        <a:t>2023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Emotion Classification in Texts Over Graph Neural Networks: Semantic Representation is Better Than Syntactic</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Test if semantic graphs out perform syntactic ones for emotion classification</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Used GNNs with both semantic and syntactic text structures and compared results</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Evaluated on</a:t>
                      </a:r>
                    </a:p>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limited</a:t>
                      </a:r>
                    </a:p>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datasets.</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700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dirty="0">
                          <a:latin typeface="Times New Roman" panose="02020603050405020304" pitchFamily="18" charset="0"/>
                          <a:cs typeface="Times New Roman" panose="02020603050405020304" pitchFamily="18" charset="0"/>
                        </a:rPr>
                        <a:t>Research Gate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dirty="0">
                          <a:latin typeface="Times New Roman" panose="02020603050405020304" pitchFamily="18" charset="0"/>
                          <a:cs typeface="Times New Roman" panose="02020603050405020304" pitchFamily="18" charset="0"/>
                        </a:rPr>
                        <a:t>Barkha, Tushar </a:t>
                      </a:r>
                      <a:r>
                        <a:rPr lang="en-IN" sz="1200" dirty="0" err="1">
                          <a:latin typeface="Times New Roman" panose="02020603050405020304" pitchFamily="18" charset="0"/>
                          <a:cs typeface="Times New Roman" panose="02020603050405020304" pitchFamily="18" charset="0"/>
                        </a:rPr>
                        <a:t>Kanjwani</a:t>
                      </a:r>
                      <a:r>
                        <a:rPr lang="en-IN" sz="1200" dirty="0">
                          <a:latin typeface="Times New Roman" panose="02020603050405020304" pitchFamily="18" charset="0"/>
                          <a:cs typeface="Times New Roman" panose="02020603050405020304" pitchFamily="18" charset="0"/>
                        </a:rPr>
                        <a:t>, Shahzad Nasim, Arslan Ahmed</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dirty="0">
                          <a:latin typeface="Times New Roman" panose="02020603050405020304" pitchFamily="18" charset="0"/>
                          <a:cs typeface="Times New Roman" panose="02020603050405020304" pitchFamily="18" charset="0"/>
                        </a:rPr>
                        <a:t>2025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Comparative Analysis of </a:t>
                      </a:r>
                      <a:r>
                        <a:rPr lang="en-US" sz="1200" dirty="0" err="1">
                          <a:latin typeface="Times New Roman" panose="02020603050405020304" pitchFamily="18" charset="0"/>
                          <a:cs typeface="Times New Roman" panose="02020603050405020304" pitchFamily="18" charset="0"/>
                        </a:rPr>
                        <a:t>DistilBERT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XLNet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RoBERTa</a:t>
                      </a:r>
                      <a:r>
                        <a:rPr lang="en-US" sz="1200" dirty="0">
                          <a:latin typeface="Times New Roman" panose="02020603050405020304" pitchFamily="18" charset="0"/>
                          <a:cs typeface="Times New Roman" panose="02020603050405020304" pitchFamily="18" charset="0"/>
                        </a:rPr>
                        <a:t>, and </a:t>
                      </a:r>
                      <a:r>
                        <a:rPr lang="en-US" sz="1200" dirty="0" err="1">
                          <a:latin typeface="Times New Roman" panose="02020603050405020304" pitchFamily="18" charset="0"/>
                          <a:cs typeface="Times New Roman" panose="02020603050405020304" pitchFamily="18" charset="0"/>
                        </a:rPr>
                        <a:t>BigBird</a:t>
                      </a:r>
                      <a:r>
                        <a:rPr lang="en-US" sz="1200" dirty="0">
                          <a:latin typeface="Times New Roman" panose="02020603050405020304" pitchFamily="18" charset="0"/>
                          <a:cs typeface="Times New Roman" panose="02020603050405020304" pitchFamily="18" charset="0"/>
                        </a:rPr>
                        <a:t> for Emotion Detection in Conversational Text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To compare transformer models for emotion detection in dialogues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Fine-tuned </a:t>
                      </a:r>
                      <a:r>
                        <a:rPr lang="en-US" sz="1200" dirty="0" err="1">
                          <a:latin typeface="Times New Roman" panose="02020603050405020304" pitchFamily="18" charset="0"/>
                          <a:cs typeface="Times New Roman" panose="02020603050405020304" pitchFamily="18" charset="0"/>
                        </a:rPr>
                        <a:t>DistilBERT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XLNet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RoBERTa</a:t>
                      </a:r>
                      <a:r>
                        <a:rPr lang="en-US" sz="1200" dirty="0">
                          <a:latin typeface="Times New Roman" panose="02020603050405020304" pitchFamily="18" charset="0"/>
                          <a:cs typeface="Times New Roman" panose="02020603050405020304" pitchFamily="18" charset="0"/>
                        </a:rPr>
                        <a:t>, and </a:t>
                      </a:r>
                      <a:r>
                        <a:rPr lang="en-US" sz="1200" dirty="0" err="1">
                          <a:latin typeface="Times New Roman" panose="02020603050405020304" pitchFamily="18" charset="0"/>
                          <a:cs typeface="Times New Roman" panose="02020603050405020304" pitchFamily="18" charset="0"/>
                        </a:rPr>
                        <a:t>BigBird</a:t>
                      </a:r>
                      <a:r>
                        <a:rPr lang="en-US" sz="1200" dirty="0">
                          <a:latin typeface="Times New Roman" panose="02020603050405020304" pitchFamily="18" charset="0"/>
                          <a:cs typeface="Times New Roman" panose="02020603050405020304" pitchFamily="18" charset="0"/>
                        </a:rPr>
                        <a:t> on conversational datasets and evaluated with standard metrics</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dirty="0">
                          <a:latin typeface="Times New Roman" panose="02020603050405020304" pitchFamily="18" charset="0"/>
                          <a:cs typeface="Times New Roman" panose="02020603050405020304" pitchFamily="18" charset="0"/>
                        </a:rPr>
                        <a:t>While the study benchmarks multiple transformer models, it does not consider computational efficiency</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buNone/>
                      </a:pP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T w="12700" cap="flat" cmpd="sng" algn="ctr">
                      <a:solidFill>
                        <a:schemeClr val="lt1"/>
                      </a:solidFill>
                      <a:prstDash val="solid"/>
                      <a:round/>
                      <a:headEnd type="none" w="sm" len="sm"/>
                      <a:tailEnd type="none" w="sm" len="sm"/>
                    </a:lnT>
                  </a:tcPr>
                </a:tc>
                <a:extLst>
                  <a:ext uri="{0D108BD9-81ED-4DB2-BD59-A6C34878D82A}">
                    <a16:rowId xmlns:a16="http://schemas.microsoft.com/office/drawing/2014/main" val="10002"/>
                  </a:ext>
                </a:extLst>
              </a:tr>
              <a:tr h="914400">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lgn="just">
                        <a:buNone/>
                      </a:pPr>
                      <a:r>
                        <a:rPr lang="en-IN" sz="1200" dirty="0">
                          <a:latin typeface="Times New Roman" panose="02020603050405020304" pitchFamily="18" charset="0"/>
                          <a:cs typeface="Times New Roman" panose="02020603050405020304" pitchFamily="18" charset="0"/>
                        </a:rPr>
                        <a:t>Fahim Anzum, Mariana L.G,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tc>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Emotion Detection From </a:t>
                      </a:r>
                      <a:r>
                        <a:rPr lang="en-US" sz="1200" dirty="0" err="1">
                          <a:latin typeface="Times New Roman" panose="02020603050405020304" pitchFamily="18" charset="0"/>
                          <a:cs typeface="Times New Roman" panose="02020603050405020304" pitchFamily="18" charset="0"/>
                        </a:rPr>
                        <a:t>MicroBlogs</a:t>
                      </a:r>
                      <a:r>
                        <a:rPr lang="en-US" sz="1200" dirty="0">
                          <a:latin typeface="Times New Roman" panose="02020603050405020304" pitchFamily="18" charset="0"/>
                          <a:cs typeface="Times New Roman" panose="02020603050405020304" pitchFamily="18" charset="0"/>
                        </a:rPr>
                        <a:t> Using Novel Input Representation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To improve emotion detection in short, noisy microblogs.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Proposed a new input encoding for micro-blogs and tested with ML classifiers.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tc>
                  <a:txBody>
                    <a:bodyPr/>
                    <a:lstStyle/>
                    <a:p>
                      <a:pPr marL="0" marR="0">
                        <a:buNone/>
                      </a:pPr>
                      <a:r>
                        <a:rPr lang="en-US" sz="1200" dirty="0">
                          <a:latin typeface="Times New Roman" panose="02020603050405020304" pitchFamily="18" charset="0"/>
                          <a:cs typeface="Times New Roman" panose="02020603050405020304" pitchFamily="18" charset="0"/>
                        </a:rPr>
                        <a:t>Informal text reduces accuracy; results not generalized to other platforms</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0003"/>
                  </a:ext>
                </a:extLst>
              </a:tr>
              <a:tr h="1363252">
                <a:tc>
                  <a:txBody>
                    <a:bodyPr/>
                    <a:lstStyle/>
                    <a:p>
                      <a:pPr marL="0" marR="0">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IN" sz="1200" dirty="0" err="1">
                          <a:latin typeface="Times New Roman" panose="02020603050405020304" pitchFamily="18" charset="0"/>
                          <a:cs typeface="Times New Roman" panose="02020603050405020304" pitchFamily="18" charset="0"/>
                        </a:rPr>
                        <a:t>Buchepal</a:t>
                      </a:r>
                      <a:r>
                        <a:rPr lang="en-IN" sz="1200" dirty="0">
                          <a:latin typeface="Times New Roman" panose="02020603050405020304" pitchFamily="18" charset="0"/>
                          <a:cs typeface="Times New Roman" panose="02020603050405020304" pitchFamily="18" charset="0"/>
                        </a:rPr>
                        <a:t> Li Pranee Th , Mohana , Eshitha </a:t>
                      </a:r>
                      <a:r>
                        <a:rPr lang="en-IN" sz="1200" dirty="0" err="1">
                          <a:latin typeface="Times New Roman" panose="02020603050405020304" pitchFamily="18" charset="0"/>
                          <a:cs typeface="Times New Roman" panose="02020603050405020304" pitchFamily="18" charset="0"/>
                        </a:rPr>
                        <a:t>Chowdar</a:t>
                      </a:r>
                      <a:r>
                        <a:rPr lang="en-IN" sz="1200" dirty="0">
                          <a:latin typeface="Times New Roman" panose="02020603050405020304" pitchFamily="18" charset="0"/>
                          <a:cs typeface="Times New Roman" panose="02020603050405020304" pitchFamily="18" charset="0"/>
                        </a:rPr>
                        <a:t> Y </a:t>
                      </a:r>
                      <a:r>
                        <a:rPr lang="en-IN" sz="1200" dirty="0" err="1">
                          <a:latin typeface="Times New Roman" panose="02020603050405020304" pitchFamily="18" charset="0"/>
                          <a:cs typeface="Times New Roman" panose="02020603050405020304" pitchFamily="18" charset="0"/>
                        </a:rPr>
                        <a:t>Nattem</a:t>
                      </a:r>
                      <a:r>
                        <a:rPr lang="en-IN" sz="1200" dirty="0">
                          <a:latin typeface="Times New Roman" panose="02020603050405020304" pitchFamily="18" charset="0"/>
                          <a:cs typeface="Times New Roman" panose="02020603050405020304" pitchFamily="18" charset="0"/>
                        </a:rPr>
                        <a:t> ,Kamala J Etti , B. K. </a:t>
                      </a:r>
                      <a:r>
                        <a:rPr lang="en-IN" sz="1200" dirty="0" err="1">
                          <a:latin typeface="Times New Roman" panose="02020603050405020304" pitchFamily="18" charset="0"/>
                          <a:cs typeface="Times New Roman" panose="02020603050405020304" pitchFamily="18" charset="0"/>
                        </a:rPr>
                        <a:t>Kavyash</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B w="12700" cap="flat" cmpd="sng">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Optimization of Customer Feedback Summarization Using Large Language Models (LLM) and Advanced Retrieval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To create an LLM based system that can summarize and answer queries from large sets of customer feedback.</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IN" sz="1200" dirty="0">
                          <a:latin typeface="Times New Roman" panose="02020603050405020304" pitchFamily="18" charset="0"/>
                          <a:cs typeface="Times New Roman" panose="02020603050405020304" pitchFamily="18" charset="0"/>
                        </a:rPr>
                        <a:t>Used hierarchical chunking, retrieval augmented generation and multi - hop refinement with </a:t>
                      </a:r>
                      <a:r>
                        <a:rPr lang="en-IN" sz="1200" dirty="0" err="1">
                          <a:latin typeface="Times New Roman" panose="02020603050405020304" pitchFamily="18" charset="0"/>
                          <a:cs typeface="Times New Roman" panose="02020603050405020304" pitchFamily="18" charset="0"/>
                        </a:rPr>
                        <a:t>DSPy</a:t>
                      </a:r>
                      <a:r>
                        <a:rPr lang="en-IN" sz="1200" dirty="0">
                          <a:latin typeface="Times New Roman" panose="02020603050405020304" pitchFamily="18" charset="0"/>
                          <a:cs typeface="Times New Roman" panose="02020603050405020304" pitchFamily="18" charset="0"/>
                        </a:rPr>
                        <a:t>; tested on LLaMA3, GPT-3.5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tc>
                  <a:txBody>
                    <a:bodyPr/>
                    <a:lstStyle/>
                    <a:p>
                      <a:pPr marL="0" marR="0">
                        <a:buNone/>
                      </a:pPr>
                      <a:r>
                        <a:rPr lang="en-US" sz="1200" dirty="0">
                          <a:latin typeface="Times New Roman" panose="02020603050405020304" pitchFamily="18" charset="0"/>
                          <a:cs typeface="Times New Roman" panose="02020603050405020304" pitchFamily="18" charset="0"/>
                        </a:rPr>
                        <a:t>Relies on synthetic customer data (not real world); needs high computation; query expansion may add noise.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25903013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p:nvPr/>
        </p:nvSpPr>
        <p:spPr>
          <a:xfrm>
            <a:off x="1485900" y="188640"/>
            <a:ext cx="1048721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922122"/>
              </a:buClr>
              <a:buSzPts val="4800"/>
              <a:buFont typeface="Times New Roman" panose="02020603050405020304"/>
              <a:buNone/>
            </a:pPr>
            <a:r>
              <a:rPr lang="en-US" sz="48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61" name="Google Shape;161;p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8</a:t>
            </a:fld>
            <a:endParaRPr lang="en-US"/>
          </a:p>
        </p:txBody>
      </p:sp>
      <p:graphicFrame>
        <p:nvGraphicFramePr>
          <p:cNvPr id="162" name="Google Shape;162;p8"/>
          <p:cNvGraphicFramePr/>
          <p:nvPr>
            <p:extLst>
              <p:ext uri="{D42A27DB-BD31-4B8C-83A1-F6EECF244321}">
                <p14:modId xmlns:p14="http://schemas.microsoft.com/office/powerpoint/2010/main" val="1411348710"/>
              </p:ext>
            </p:extLst>
          </p:nvPr>
        </p:nvGraphicFramePr>
        <p:xfrm>
          <a:off x="1485900" y="950665"/>
          <a:ext cx="10487216" cy="5875195"/>
        </p:xfrm>
        <a:graphic>
          <a:graphicData uri="http://schemas.openxmlformats.org/drawingml/2006/table">
            <a:tbl>
              <a:tblPr>
                <a:noFill/>
                <a:tableStyleId>{E03D46B1-7A9E-409F-B616-10CFBBF69FDA}</a:tableStyleId>
              </a:tblPr>
              <a:tblGrid>
                <a:gridCol w="1481418">
                  <a:extLst>
                    <a:ext uri="{9D8B030D-6E8A-4147-A177-3AD203B41FA5}">
                      <a16:colId xmlns:a16="http://schemas.microsoft.com/office/drawing/2014/main" val="20000"/>
                    </a:ext>
                  </a:extLst>
                </a:gridCol>
                <a:gridCol w="1224543">
                  <a:extLst>
                    <a:ext uri="{9D8B030D-6E8A-4147-A177-3AD203B41FA5}">
                      <a16:colId xmlns:a16="http://schemas.microsoft.com/office/drawing/2014/main" val="20001"/>
                    </a:ext>
                  </a:extLst>
                </a:gridCol>
                <a:gridCol w="713025">
                  <a:extLst>
                    <a:ext uri="{9D8B030D-6E8A-4147-A177-3AD203B41FA5}">
                      <a16:colId xmlns:a16="http://schemas.microsoft.com/office/drawing/2014/main" val="20002"/>
                    </a:ext>
                  </a:extLst>
                </a:gridCol>
                <a:gridCol w="2433581">
                  <a:extLst>
                    <a:ext uri="{9D8B030D-6E8A-4147-A177-3AD203B41FA5}">
                      <a16:colId xmlns:a16="http://schemas.microsoft.com/office/drawing/2014/main" val="20003"/>
                    </a:ext>
                  </a:extLst>
                </a:gridCol>
                <a:gridCol w="1457059">
                  <a:extLst>
                    <a:ext uri="{9D8B030D-6E8A-4147-A177-3AD203B41FA5}">
                      <a16:colId xmlns:a16="http://schemas.microsoft.com/office/drawing/2014/main" val="20004"/>
                    </a:ext>
                  </a:extLst>
                </a:gridCol>
                <a:gridCol w="1643061">
                  <a:extLst>
                    <a:ext uri="{9D8B030D-6E8A-4147-A177-3AD203B41FA5}">
                      <a16:colId xmlns:a16="http://schemas.microsoft.com/office/drawing/2014/main" val="20005"/>
                    </a:ext>
                  </a:extLst>
                </a:gridCol>
                <a:gridCol w="1534529">
                  <a:extLst>
                    <a:ext uri="{9D8B030D-6E8A-4147-A177-3AD203B41FA5}">
                      <a16:colId xmlns:a16="http://schemas.microsoft.com/office/drawing/2014/main" val="20006"/>
                    </a:ext>
                  </a:extLst>
                </a:gridCol>
              </a:tblGrid>
              <a:tr h="1713847">
                <a:tc>
                  <a:txBody>
                    <a:bodyPr/>
                    <a:lstStyle/>
                    <a:p>
                      <a:pPr marL="0" marR="0" algn="just">
                        <a:buNone/>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Bilal Khan, Muhammad Usman, Inayat Khan, Jawad Khan, Dildar Hussain, Yeong Hyeon Gu</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err="1">
                          <a:latin typeface="Times New Roman" panose="02020603050405020304" pitchFamily="18" charset="0"/>
                          <a:cs typeface="Times New Roman" panose="02020603050405020304" pitchFamily="18" charset="0"/>
                        </a:rPr>
                        <a:t>NextGeneration</a:t>
                      </a:r>
                      <a:r>
                        <a:rPr lang="en-US" sz="1200" dirty="0">
                          <a:latin typeface="Times New Roman" panose="02020603050405020304" pitchFamily="18" charset="0"/>
                          <a:cs typeface="Times New Roman" panose="02020603050405020304" pitchFamily="18" charset="0"/>
                        </a:rPr>
                        <a:t> Text Summarization : A T5-LSTM </a:t>
                      </a:r>
                      <a:r>
                        <a:rPr lang="en-US" sz="1200" dirty="0" err="1">
                          <a:latin typeface="Times New Roman" panose="02020603050405020304" pitchFamily="18" charset="0"/>
                          <a:cs typeface="Times New Roman" panose="02020603050405020304" pitchFamily="18" charset="0"/>
                        </a:rPr>
                        <a:t>FusionNet</a:t>
                      </a:r>
                      <a:r>
                        <a:rPr lang="en-US" sz="1200" dirty="0">
                          <a:latin typeface="Times New Roman" panose="02020603050405020304" pitchFamily="18" charset="0"/>
                          <a:cs typeface="Times New Roman" panose="02020603050405020304" pitchFamily="18" charset="0"/>
                        </a:rPr>
                        <a:t> Hybrid Approach</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improve abstractive text summarization, especially for complex psychological texts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Hybrid T5- LSTM model tested against T5, BERT, </a:t>
                      </a:r>
                      <a:r>
                        <a:rPr lang="en-US" sz="1200" dirty="0" err="1">
                          <a:latin typeface="Times New Roman" panose="02020603050405020304" pitchFamily="18" charset="0"/>
                          <a:cs typeface="Times New Roman" panose="02020603050405020304" pitchFamily="18" charset="0"/>
                        </a:rPr>
                        <a:t>DistilBERT</a:t>
                      </a:r>
                      <a:r>
                        <a:rPr lang="en-US" sz="1200" dirty="0">
                          <a:latin typeface="Times New Roman" panose="02020603050405020304" pitchFamily="18" charset="0"/>
                          <a:cs typeface="Times New Roman" panose="02020603050405020304" pitchFamily="18" charset="0"/>
                        </a:rPr>
                        <a:t>, and LSTM using ROUGE and accuracy metrics..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Needs better</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sequence</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retention; high</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computational</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cost; focused</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only on</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psychology.</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2643260">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s-ES" sz="1200" dirty="0">
                          <a:latin typeface="Times New Roman" panose="02020603050405020304" pitchFamily="18" charset="0"/>
                          <a:cs typeface="Times New Roman" panose="02020603050405020304" pitchFamily="18" charset="0"/>
                        </a:rPr>
                        <a:t>Alejandro de León </a:t>
                      </a:r>
                      <a:r>
                        <a:rPr lang="es-ES" sz="1200" dirty="0" err="1">
                          <a:latin typeface="Times New Roman" panose="02020603050405020304" pitchFamily="18" charset="0"/>
                          <a:cs typeface="Times New Roman" panose="02020603050405020304" pitchFamily="18" charset="0"/>
                        </a:rPr>
                        <a:t>Languré</a:t>
                      </a:r>
                      <a:r>
                        <a:rPr lang="es-ES" sz="1200" dirty="0">
                          <a:latin typeface="Times New Roman" panose="02020603050405020304" pitchFamily="18" charset="0"/>
                          <a:cs typeface="Times New Roman" panose="02020603050405020304" pitchFamily="18" charset="0"/>
                        </a:rPr>
                        <a:t> &amp; </a:t>
                      </a:r>
                      <a:r>
                        <a:rPr lang="es-ES" sz="1200" dirty="0" err="1">
                          <a:latin typeface="Times New Roman" panose="02020603050405020304" pitchFamily="18" charset="0"/>
                          <a:cs typeface="Times New Roman" panose="02020603050405020304" pitchFamily="18" charset="0"/>
                        </a:rPr>
                        <a:t>Mahdi</a:t>
                      </a:r>
                      <a:r>
                        <a:rPr lang="es-ES" sz="1200" dirty="0">
                          <a:latin typeface="Times New Roman" panose="02020603050405020304" pitchFamily="18" charset="0"/>
                          <a:cs typeface="Times New Roman" panose="02020603050405020304" pitchFamily="18" charset="0"/>
                        </a:rPr>
                        <a:t> </a:t>
                      </a:r>
                      <a:r>
                        <a:rPr lang="es-ES" sz="1200" dirty="0" err="1">
                          <a:latin typeface="Times New Roman" panose="02020603050405020304" pitchFamily="18" charset="0"/>
                          <a:cs typeface="Times New Roman" panose="02020603050405020304" pitchFamily="18" charset="0"/>
                        </a:rPr>
                        <a:t>Zareei</a:t>
                      </a:r>
                      <a:r>
                        <a:rPr lang="es-ES" sz="1200" dirty="0">
                          <a:latin typeface="Times New Roman" panose="02020603050405020304" pitchFamily="18" charset="0"/>
                          <a:cs typeface="Times New Roman" panose="02020603050405020304" pitchFamily="18" charset="0"/>
                        </a:rPr>
                        <a: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Evaluating the Effect of Emotion Models o n the Generalizability of Tex t Emotion Detection Systems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study how the choice of emotion categories (emotion models) affects how well text emotion detection systems work across different datasets </a:t>
                      </a: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recommend books based on a user’s mood, combining ML with content-based filtering.</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Tested 3 models (Linear Regression, Neural Network, BERT) on 8 datasets; used label mapping to unify different emotion categories.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Still poor generalization acro</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ss datasets; didn’t test very advanced tuning</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or broader models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474028">
                <a:tc>
                  <a:txBody>
                    <a:bodyPr/>
                    <a:lstStyle/>
                    <a:p>
                      <a:pPr marL="0" marR="0" algn="just">
                        <a:buNone/>
                      </a:pPr>
                      <a:r>
                        <a:rPr lang="en-US" sz="1200" dirty="0">
                          <a:latin typeface="Times New Roman" panose="02020603050405020304" pitchFamily="18" charset="0"/>
                          <a:cs typeface="Times New Roman" panose="02020603050405020304" pitchFamily="18" charset="0"/>
                        </a:rPr>
                        <a:t>IJNRD (Inter national Journal of Novel Research and Development)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Ms. </a:t>
                      </a:r>
                      <a:r>
                        <a:rPr lang="en-US" sz="1200" dirty="0" err="1">
                          <a:latin typeface="Times New Roman" panose="02020603050405020304" pitchFamily="18" charset="0"/>
                          <a:cs typeface="Times New Roman" panose="02020603050405020304" pitchFamily="18" charset="0"/>
                        </a:rPr>
                        <a:t>Sarwath</a:t>
                      </a:r>
                      <a:r>
                        <a:rPr lang="en-US" sz="1200" dirty="0">
                          <a:latin typeface="Times New Roman" panose="02020603050405020304" pitchFamily="18" charset="0"/>
                          <a:cs typeface="Times New Roman" panose="02020603050405020304" pitchFamily="18" charset="0"/>
                        </a:rPr>
                        <a:t> Unnisa, Akshaya N. S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Personalized Mood Centric Book Recommendation Integrating Machine Learning with Content Based Filtering</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recommend books-based o n a user’s moo d, combining ML with content-based filtering</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Used machine learning to analyze user moods/preferences and applied content-based filtering to match books accordingly.</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Limited dataset; may not adapt well to new</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users (cold start problem); only works with available book metadata</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DED84A4F-FD26-8CFE-65D0-FA8F0BBC9023}"/>
            </a:ext>
          </a:extLst>
        </p:cNvPr>
        <p:cNvGrpSpPr/>
        <p:nvPr/>
      </p:nvGrpSpPr>
      <p:grpSpPr>
        <a:xfrm>
          <a:off x="0" y="0"/>
          <a:ext cx="0" cy="0"/>
          <a:chOff x="0" y="0"/>
          <a:chExt cx="0" cy="0"/>
        </a:xfrm>
      </p:grpSpPr>
      <p:sp>
        <p:nvSpPr>
          <p:cNvPr id="160" name="Google Shape;160;p8">
            <a:extLst>
              <a:ext uri="{FF2B5EF4-FFF2-40B4-BE49-F238E27FC236}">
                <a16:creationId xmlns:a16="http://schemas.microsoft.com/office/drawing/2014/main" id="{9EACAE7D-5553-9BA3-E90B-57E4AB80FE4B}"/>
              </a:ext>
            </a:extLst>
          </p:cNvPr>
          <p:cNvSpPr txBox="1"/>
          <p:nvPr/>
        </p:nvSpPr>
        <p:spPr>
          <a:xfrm>
            <a:off x="1485900" y="188640"/>
            <a:ext cx="10468806"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922122"/>
              </a:buClr>
              <a:buSzPts val="4800"/>
              <a:buFont typeface="Times New Roman" panose="02020603050405020304"/>
              <a:buNone/>
            </a:pPr>
            <a:r>
              <a:rPr lang="en-US" sz="48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p:txBody>
      </p:sp>
      <p:sp>
        <p:nvSpPr>
          <p:cNvPr id="161" name="Google Shape;161;p8">
            <a:extLst>
              <a:ext uri="{FF2B5EF4-FFF2-40B4-BE49-F238E27FC236}">
                <a16:creationId xmlns:a16="http://schemas.microsoft.com/office/drawing/2014/main" id="{7AA02F65-FD70-77EC-51FF-DC7B692F3483}"/>
              </a:ext>
            </a:extLst>
          </p:cNvPr>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9</a:t>
            </a:fld>
            <a:endParaRPr lang="en-US"/>
          </a:p>
        </p:txBody>
      </p:sp>
      <p:graphicFrame>
        <p:nvGraphicFramePr>
          <p:cNvPr id="162" name="Google Shape;162;p8">
            <a:extLst>
              <a:ext uri="{FF2B5EF4-FFF2-40B4-BE49-F238E27FC236}">
                <a16:creationId xmlns:a16="http://schemas.microsoft.com/office/drawing/2014/main" id="{05A43E15-3FA6-4883-5817-1AEAEDE4064F}"/>
              </a:ext>
            </a:extLst>
          </p:cNvPr>
          <p:cNvGraphicFramePr/>
          <p:nvPr>
            <p:extLst>
              <p:ext uri="{D42A27DB-BD31-4B8C-83A1-F6EECF244321}">
                <p14:modId xmlns:p14="http://schemas.microsoft.com/office/powerpoint/2010/main" val="3008101044"/>
              </p:ext>
            </p:extLst>
          </p:nvPr>
        </p:nvGraphicFramePr>
        <p:xfrm>
          <a:off x="1463040" y="1047751"/>
          <a:ext cx="10491666" cy="3544023"/>
        </p:xfrm>
        <a:graphic>
          <a:graphicData uri="http://schemas.openxmlformats.org/drawingml/2006/table">
            <a:tbl>
              <a:tblPr>
                <a:noFill/>
                <a:tableStyleId>{E03D46B1-7A9E-409F-B616-10CFBBF69FDA}</a:tableStyleId>
              </a:tblPr>
              <a:tblGrid>
                <a:gridCol w="1482048">
                  <a:extLst>
                    <a:ext uri="{9D8B030D-6E8A-4147-A177-3AD203B41FA5}">
                      <a16:colId xmlns:a16="http://schemas.microsoft.com/office/drawing/2014/main" val="20000"/>
                    </a:ext>
                  </a:extLst>
                </a:gridCol>
                <a:gridCol w="1225062">
                  <a:extLst>
                    <a:ext uri="{9D8B030D-6E8A-4147-A177-3AD203B41FA5}">
                      <a16:colId xmlns:a16="http://schemas.microsoft.com/office/drawing/2014/main" val="20001"/>
                    </a:ext>
                  </a:extLst>
                </a:gridCol>
                <a:gridCol w="713328">
                  <a:extLst>
                    <a:ext uri="{9D8B030D-6E8A-4147-A177-3AD203B41FA5}">
                      <a16:colId xmlns:a16="http://schemas.microsoft.com/office/drawing/2014/main" val="20002"/>
                    </a:ext>
                  </a:extLst>
                </a:gridCol>
                <a:gridCol w="2434614">
                  <a:extLst>
                    <a:ext uri="{9D8B030D-6E8A-4147-A177-3AD203B41FA5}">
                      <a16:colId xmlns:a16="http://schemas.microsoft.com/office/drawing/2014/main" val="20003"/>
                    </a:ext>
                  </a:extLst>
                </a:gridCol>
                <a:gridCol w="1457677">
                  <a:extLst>
                    <a:ext uri="{9D8B030D-6E8A-4147-A177-3AD203B41FA5}">
                      <a16:colId xmlns:a16="http://schemas.microsoft.com/office/drawing/2014/main" val="20004"/>
                    </a:ext>
                  </a:extLst>
                </a:gridCol>
                <a:gridCol w="1643758">
                  <a:extLst>
                    <a:ext uri="{9D8B030D-6E8A-4147-A177-3AD203B41FA5}">
                      <a16:colId xmlns:a16="http://schemas.microsoft.com/office/drawing/2014/main" val="20005"/>
                    </a:ext>
                  </a:extLst>
                </a:gridCol>
                <a:gridCol w="1535179">
                  <a:extLst>
                    <a:ext uri="{9D8B030D-6E8A-4147-A177-3AD203B41FA5}">
                      <a16:colId xmlns:a16="http://schemas.microsoft.com/office/drawing/2014/main" val="20006"/>
                    </a:ext>
                  </a:extLst>
                </a:gridCol>
              </a:tblGrid>
              <a:tr h="1734778">
                <a:tc>
                  <a:txBody>
                    <a:bodyPr/>
                    <a:lstStyle/>
                    <a:p>
                      <a:pPr marL="0" marR="0" algn="just">
                        <a:buNone/>
                      </a:pPr>
                      <a:r>
                        <a:rPr lang="en-IN" sz="1200" dirty="0">
                          <a:latin typeface="Times New Roman" panose="02020603050405020304" pitchFamily="18" charset="0"/>
                          <a:cs typeface="Times New Roman" panose="02020603050405020304" pitchFamily="18" charset="0"/>
                        </a:rPr>
                        <a:t>International Journal on Advances in IC T for Emergi ng Regions (</a:t>
                      </a:r>
                      <a:r>
                        <a:rPr lang="en-IN" sz="1200" dirty="0" err="1">
                          <a:latin typeface="Times New Roman" panose="02020603050405020304" pitchFamily="18" charset="0"/>
                          <a:cs typeface="Times New Roman" panose="02020603050405020304" pitchFamily="18" charset="0"/>
                        </a:rPr>
                        <a:t>ICTer</a:t>
                      </a:r>
                      <a:r>
                        <a:rPr lang="en-IN" sz="1200" dirty="0">
                          <a:latin typeface="Times New Roman" panose="02020603050405020304" pitchFamily="18" charset="0"/>
                          <a:cs typeface="Times New Roman" panose="02020603050405020304" pitchFamily="18" charset="0"/>
                        </a:rPr>
                        <a:t>)</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Neeraja Krishnakumar, Musharaf K. K, Sivadasan E. 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MOODBASED REC OMMENDER : Music and Book Recommendations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recommend both music and books based on user mood</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Designed a mood based recommender system using user mood inputs + recommendation algorithms t o suggest media.</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Mood detection may not always be accurate; recommendations depend</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 limited data</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set; personalization scope is</a:t>
                      </a:r>
                    </a:p>
                    <a:p>
                      <a:pPr marL="0" marR="0" algn="just">
                        <a:buNone/>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basic.</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771103">
                <a:tc>
                  <a:txBody>
                    <a:bodyPr/>
                    <a:lstStyle/>
                    <a:p>
                      <a:pPr marL="0" marR="0" algn="just">
                        <a:buNone/>
                      </a:pPr>
                      <a:r>
                        <a:rPr lang="en-IN" sz="1200" dirty="0">
                          <a:latin typeface="Times New Roman" panose="02020603050405020304" pitchFamily="18" charset="0"/>
                          <a:cs typeface="Times New Roman" panose="02020603050405020304" pitchFamily="18" charset="0"/>
                        </a:rPr>
                        <a:t>International Journal on Advances in IC T for Emerging Regions (</a:t>
                      </a:r>
                      <a:r>
                        <a:rPr lang="en-IN" sz="1200" dirty="0" err="1">
                          <a:latin typeface="Times New Roman" panose="02020603050405020304" pitchFamily="18" charset="0"/>
                          <a:cs typeface="Times New Roman" panose="02020603050405020304" pitchFamily="18" charset="0"/>
                        </a:rPr>
                        <a:t>ICTer</a:t>
                      </a:r>
                      <a:r>
                        <a:rPr lang="en-IN" sz="1200" dirty="0">
                          <a:latin typeface="Times New Roman" panose="02020603050405020304" pitchFamily="18" charset="0"/>
                          <a:cs typeface="Times New Roman" panose="02020603050405020304" pitchFamily="18" charset="0"/>
                        </a:rPr>
                        <a:t>)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err="1">
                          <a:latin typeface="Times New Roman" panose="02020603050405020304" pitchFamily="18" charset="0"/>
                          <a:cs typeface="Times New Roman" panose="02020603050405020304" pitchFamily="18" charset="0"/>
                        </a:rPr>
                        <a:t>Nimasha</a:t>
                      </a:r>
                      <a:r>
                        <a:rPr lang="en-IN" sz="1200" dirty="0">
                          <a:latin typeface="Times New Roman" panose="02020603050405020304" pitchFamily="18" charset="0"/>
                          <a:cs typeface="Times New Roman" panose="02020603050405020304" pitchFamily="18" charset="0"/>
                        </a:rPr>
                        <a:t> Tennakoon, </a:t>
                      </a:r>
                      <a:r>
                        <a:rPr lang="en-IN" sz="1200" dirty="0" err="1">
                          <a:latin typeface="Times New Roman" panose="02020603050405020304" pitchFamily="18" charset="0"/>
                          <a:cs typeface="Times New Roman" panose="02020603050405020304" pitchFamily="18" charset="0"/>
                        </a:rPr>
                        <a:t>Oshada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Senaweera</a:t>
                      </a:r>
                      <a:r>
                        <a:rPr lang="en-IN" sz="1200" dirty="0">
                          <a:latin typeface="Times New Roman" panose="02020603050405020304" pitchFamily="18" charset="0"/>
                          <a:cs typeface="Times New Roman" panose="02020603050405020304" pitchFamily="18" charset="0"/>
                        </a:rPr>
                        <a:t>, H. A. S. G . </a:t>
                      </a:r>
                      <a:r>
                        <a:rPr lang="en-IN" sz="1200" dirty="0" err="1">
                          <a:latin typeface="Times New Roman" panose="02020603050405020304" pitchFamily="18" charset="0"/>
                          <a:cs typeface="Times New Roman" panose="02020603050405020304" pitchFamily="18" charset="0"/>
                        </a:rPr>
                        <a:t>Dharmarathne</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rPr>
                        <a:t>2024</a:t>
                      </a:r>
                    </a:p>
                  </a:txBody>
                  <a:tcP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Emotion Based Movie Recommendation System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latin typeface="Times New Roman" panose="02020603050405020304" pitchFamily="18" charset="0"/>
                          <a:cs typeface="Times New Roman" panose="02020603050405020304" pitchFamily="18" charset="0"/>
                        </a:rPr>
                        <a:t>To recommend movies according to a user’s emotions.</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IN" sz="1200" dirty="0">
                          <a:latin typeface="Times New Roman" panose="02020603050405020304" pitchFamily="18" charset="0"/>
                          <a:cs typeface="Times New Roman" panose="02020603050405020304" pitchFamily="18" charset="0"/>
                        </a:rPr>
                        <a:t>Collected user emotional input (via text/e motion mapping) and applied filtering + recommendation algorithms for personalized movie suggestions. </a:t>
                      </a:r>
                      <a:endPar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tc>
                  <a:txBody>
                    <a:bodyPr/>
                    <a:lstStyle/>
                    <a:p>
                      <a:pPr marL="0" marR="0" algn="just">
                        <a:buNone/>
                      </a:pPr>
                      <a:r>
                        <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rPr>
                        <a:t>Small scale system; limited to specific datasets; may struggle with complex or</a:t>
                      </a:r>
                    </a:p>
                    <a:p>
                      <a:pPr marL="0" marR="0" algn="just">
                        <a:buNone/>
                      </a:pPr>
                      <a:r>
                        <a:rPr lang="en-US" sz="1200" dirty="0">
                          <a:solidFill>
                            <a:srgbClr val="00000A"/>
                          </a:solidFill>
                          <a:effectLst/>
                          <a:latin typeface="Times New Roman" panose="02020603050405020304" pitchFamily="18" charset="0"/>
                          <a:ea typeface="Times New Roman" panose="02020603050405020304" pitchFamily="18" charset="0"/>
                          <a:cs typeface="Times New Roman" panose="02020603050405020304" pitchFamily="18" charset="0"/>
                        </a:rPr>
                        <a:t>mixed emotions.</a:t>
                      </a:r>
                    </a:p>
                  </a:txBody>
                  <a:tcPr marL="63500" marR="63500" marT="63500" marB="635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3234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4" name="Google Shape;184;p11"/>
          <p:cNvSpPr txBox="1">
            <a:spLocks noGrp="1"/>
          </p:cNvSpPr>
          <p:nvPr>
            <p:ph type="sldNum" idx="12"/>
          </p:nvPr>
        </p:nvSpPr>
        <p:spPr>
          <a:xfrm>
            <a:off x="11579384" y="6202598"/>
            <a:ext cx="582991" cy="426801"/>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10</a:t>
            </a:fld>
            <a:endParaRPr lang="en-US" dirty="0"/>
          </a:p>
        </p:txBody>
      </p:sp>
      <p:sp>
        <p:nvSpPr>
          <p:cNvPr id="185" name="Google Shape;185;p11"/>
          <p:cNvSpPr txBox="1"/>
          <p:nvPr/>
        </p:nvSpPr>
        <p:spPr>
          <a:xfrm>
            <a:off x="1511403" y="183014"/>
            <a:ext cx="10056889" cy="645314"/>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0" marR="0" lvl="0" indent="0" algn="l" rtl="0">
              <a:lnSpc>
                <a:spcPct val="100000"/>
              </a:lnSpc>
              <a:spcBef>
                <a:spcPts val="0"/>
              </a:spcBef>
              <a:spcAft>
                <a:spcPts val="0"/>
              </a:spcAft>
              <a:buClr>
                <a:srgbClr val="002060"/>
              </a:buClr>
              <a:buSzPts val="4000"/>
              <a:buFont typeface="Times New Roman" panose="02020603050405020304"/>
              <a:buNone/>
            </a:pPr>
            <a:r>
              <a:rPr lang="en-US" sz="4000" b="0" i="0" u="none" strike="noStrike" cap="small" dirty="0">
                <a:solidFill>
                  <a:schemeClr val="tx1"/>
                </a:solidFill>
                <a:latin typeface="Times New Roman" panose="02020603050405020304"/>
                <a:ea typeface="Times New Roman" panose="02020603050405020304"/>
                <a:cs typeface="Times New Roman" panose="02020603050405020304"/>
                <a:sym typeface="Times New Roman" panose="02020603050405020304"/>
              </a:rPr>
              <a:t>Proposed System’s Architecture:</a:t>
            </a:r>
          </a:p>
        </p:txBody>
      </p:sp>
      <p:pic>
        <p:nvPicPr>
          <p:cNvPr id="4" name="Picture 3">
            <a:extLst>
              <a:ext uri="{FF2B5EF4-FFF2-40B4-BE49-F238E27FC236}">
                <a16:creationId xmlns:a16="http://schemas.microsoft.com/office/drawing/2014/main" id="{CD644A9B-8344-A089-EEC4-99266C6DA1D9}"/>
              </a:ext>
            </a:extLst>
          </p:cNvPr>
          <p:cNvPicPr>
            <a:picLocks noChangeAspect="1"/>
          </p:cNvPicPr>
          <p:nvPr/>
        </p:nvPicPr>
        <p:blipFill>
          <a:blip r:embed="rId3"/>
          <a:stretch>
            <a:fillRect/>
          </a:stretch>
        </p:blipFill>
        <p:spPr>
          <a:xfrm>
            <a:off x="2744134" y="1296475"/>
            <a:ext cx="7591425" cy="52482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body" idx="1"/>
          </p:nvPr>
        </p:nvSpPr>
        <p:spPr>
          <a:xfrm>
            <a:off x="1817073" y="1400175"/>
            <a:ext cx="9994837" cy="4800600"/>
          </a:xfrm>
          <a:prstGeom prst="rect">
            <a:avLst/>
          </a:prstGeom>
          <a:noFill/>
          <a:ln>
            <a:noFill/>
          </a:ln>
        </p:spPr>
        <p:txBody>
          <a:bodyPr spcFirstLastPara="1" wrap="square" lIns="91425" tIns="45700" rIns="91425" bIns="45700" anchor="t" anchorCtr="0">
            <a:normAutofit/>
          </a:bodyPr>
          <a:lstStyle/>
          <a:p>
            <a:pPr marL="137160" indent="0">
              <a:buNone/>
            </a:pPr>
            <a:r>
              <a:rPr lang="en-US" sz="1900" b="1" dirty="0">
                <a:latin typeface="Times New Roman" panose="02020603050405020304" pitchFamily="18" charset="0"/>
                <a:cs typeface="Times New Roman" panose="02020603050405020304" pitchFamily="18" charset="0"/>
              </a:rPr>
              <a:t>Algorithm 1: Real-Time Journal Entry Analysis</a:t>
            </a:r>
          </a:p>
          <a:p>
            <a:pPr marL="137160" indent="0">
              <a:buNone/>
            </a:pPr>
            <a:r>
              <a:rPr lang="en-US" sz="1900" b="1" dirty="0">
                <a:latin typeface="Times New Roman" panose="02020603050405020304" pitchFamily="18" charset="0"/>
                <a:cs typeface="Times New Roman" panose="02020603050405020304" pitchFamily="18" charset="0"/>
              </a:rPr>
              <a:t>Input:</a:t>
            </a:r>
            <a:r>
              <a:rPr lang="en-US" sz="1900" dirty="0">
                <a:latin typeface="Times New Roman" panose="02020603050405020304" pitchFamily="18" charset="0"/>
                <a:cs typeface="Times New Roman" panose="02020603050405020304" pitchFamily="18" charset="0"/>
              </a:rPr>
              <a:t> User submits a new journal entry.</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API Call:</a:t>
            </a:r>
            <a:r>
              <a:rPr lang="en-US" sz="1900" dirty="0">
                <a:latin typeface="Times New Roman" panose="02020603050405020304" pitchFamily="18" charset="0"/>
                <a:cs typeface="Times New Roman" panose="02020603050405020304" pitchFamily="18" charset="0"/>
              </a:rPr>
              <a:t> The client sends the text to the backend API for processing.</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Backend Analysis:</a:t>
            </a:r>
            <a:r>
              <a:rPr lang="en-US" sz="1900" dirty="0">
                <a:latin typeface="Times New Roman" panose="02020603050405020304" pitchFamily="18" charset="0"/>
                <a:cs typeface="Times New Roman" panose="02020603050405020304" pitchFamily="18" charset="0"/>
              </a:rPr>
              <a:t> A two-stage process is executed:</a:t>
            </a:r>
          </a:p>
          <a:p>
            <a:pPr lvl="1">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Summarize:</a:t>
            </a:r>
            <a:r>
              <a:rPr lang="en-US" sz="1900" dirty="0">
                <a:latin typeface="Times New Roman" panose="02020603050405020304" pitchFamily="18" charset="0"/>
                <a:cs typeface="Times New Roman" panose="02020603050405020304" pitchFamily="18" charset="0"/>
              </a:rPr>
              <a:t> A </a:t>
            </a:r>
            <a:r>
              <a:rPr lang="en-US" sz="1900" b="1" dirty="0">
                <a:latin typeface="Times New Roman" panose="02020603050405020304" pitchFamily="18" charset="0"/>
                <a:cs typeface="Times New Roman" panose="02020603050405020304" pitchFamily="18" charset="0"/>
              </a:rPr>
              <a:t>BART</a:t>
            </a:r>
            <a:r>
              <a:rPr lang="en-US" sz="1900" dirty="0">
                <a:latin typeface="Times New Roman" panose="02020603050405020304" pitchFamily="18" charset="0"/>
                <a:cs typeface="Times New Roman" panose="02020603050405020304" pitchFamily="18" charset="0"/>
              </a:rPr>
              <a:t> model generates a concise, abstractive summary.</a:t>
            </a:r>
          </a:p>
          <a:p>
            <a:pPr lvl="1">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Classify Mood:</a:t>
            </a:r>
            <a:r>
              <a:rPr lang="en-US" sz="1900" dirty="0">
                <a:latin typeface="Times New Roman" panose="02020603050405020304" pitchFamily="18" charset="0"/>
                <a:cs typeface="Times New Roman" panose="02020603050405020304" pitchFamily="18" charset="0"/>
              </a:rPr>
              <a:t> A fine-tuned </a:t>
            </a:r>
            <a:r>
              <a:rPr lang="en-US" sz="1900" b="1" dirty="0" err="1">
                <a:latin typeface="Times New Roman" panose="02020603050405020304" pitchFamily="18" charset="0"/>
                <a:cs typeface="Times New Roman" panose="02020603050405020304" pitchFamily="18" charset="0"/>
              </a:rPr>
              <a:t>RoBERTa</a:t>
            </a:r>
            <a:r>
              <a:rPr lang="en-US" sz="1900" dirty="0">
                <a:latin typeface="Times New Roman" panose="02020603050405020304" pitchFamily="18" charset="0"/>
                <a:cs typeface="Times New Roman" panose="02020603050405020304" pitchFamily="18" charset="0"/>
              </a:rPr>
              <a:t> model analyzes the summary to produce a mood vector with emotion scores.</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Store &amp; Respond:</a:t>
            </a:r>
            <a:r>
              <a:rPr lang="en-US" sz="1900" dirty="0">
                <a:latin typeface="Times New Roman" panose="02020603050405020304" pitchFamily="18" charset="0"/>
                <a:cs typeface="Times New Roman" panose="02020603050405020304" pitchFamily="18" charset="0"/>
              </a:rPr>
              <a:t> The original entry and the AI analysis are saved to </a:t>
            </a:r>
            <a:r>
              <a:rPr lang="en-US" sz="1900" dirty="0" err="1">
                <a:latin typeface="Times New Roman" panose="02020603050405020304" pitchFamily="18" charset="0"/>
                <a:cs typeface="Times New Roman" panose="02020603050405020304" pitchFamily="18" charset="0"/>
              </a:rPr>
              <a:t>Firestore</a:t>
            </a:r>
            <a:r>
              <a:rPr lang="en-US" sz="1900" dirty="0">
                <a:latin typeface="Times New Roman" panose="02020603050405020304" pitchFamily="18" charset="0"/>
                <a:cs typeface="Times New Roman" panose="02020603050405020304" pitchFamily="18" charset="0"/>
              </a:rPr>
              <a:t>, and the results are sent back to the client.</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Output:</a:t>
            </a:r>
            <a:r>
              <a:rPr lang="en-US" sz="1900" dirty="0">
                <a:latin typeface="Times New Roman" panose="02020603050405020304" pitchFamily="18" charset="0"/>
                <a:cs typeface="Times New Roman" panose="02020603050405020304" pitchFamily="18" charset="0"/>
              </a:rPr>
              <a:t> The user's device displays the new summary and mood insights.</a:t>
            </a:r>
          </a:p>
          <a:p>
            <a:pPr marL="82550" lvl="0" indent="0">
              <a:spcBef>
                <a:spcPts val="0"/>
              </a:spcBef>
              <a:buSzPts val="1600"/>
              <a:buNone/>
            </a:pPr>
            <a:endParaRPr lang="en-US" sz="2000" b="1" dirty="0">
              <a:latin typeface="Times New Roman" panose="02020603050405020304" pitchFamily="18" charset="0"/>
              <a:ea typeface="Tahoma" panose="020B0604030504040204" pitchFamily="34" charset="0"/>
              <a:cs typeface="Times New Roman" panose="02020603050405020304" pitchFamily="18" charset="0"/>
              <a:sym typeface="Times New Roman" panose="02020603050405020304"/>
            </a:endParaRPr>
          </a:p>
          <a:p>
            <a:pPr marL="82550" lvl="0" indent="0">
              <a:spcBef>
                <a:spcPts val="0"/>
              </a:spcBef>
              <a:buSzPts val="1600"/>
              <a:buNone/>
            </a:pPr>
            <a:endParaRPr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92" name="Google Shape;192;p12"/>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11</a:t>
            </a:fld>
            <a:endParaRPr lang="en-US"/>
          </a:p>
        </p:txBody>
      </p:sp>
      <p:sp>
        <p:nvSpPr>
          <p:cNvPr id="193" name="Google Shape;193;p12"/>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l" rtl="0">
              <a:lnSpc>
                <a:spcPct val="100000"/>
              </a:lnSpc>
              <a:spcBef>
                <a:spcPts val="0"/>
              </a:spcBef>
              <a:spcAft>
                <a:spcPts val="0"/>
              </a:spcAft>
              <a:buClr>
                <a:srgbClr val="C58C00"/>
              </a:buClr>
              <a:buSzPts val="4000"/>
              <a:buFont typeface="Times New Roman" panose="02020603050405020304"/>
              <a:buNone/>
            </a:pPr>
            <a:r>
              <a:rPr lang="en-US" sz="4000" b="1" i="0" u="none" strike="noStrike" cap="small">
                <a:solidFill>
                  <a:srgbClr val="002060"/>
                </a:solidFill>
                <a:latin typeface="Times New Roman" panose="02020603050405020304"/>
                <a:ea typeface="Times New Roman" panose="02020603050405020304"/>
                <a:cs typeface="Times New Roman" panose="02020603050405020304"/>
                <a:sym typeface="Times New Roman" panose="02020603050405020304"/>
              </a:rPr>
              <a:t>Algorithms/Methodology: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a:spLocks noGrp="1"/>
          </p:cNvSpPr>
          <p:nvPr>
            <p:ph type="body" idx="1"/>
          </p:nvPr>
        </p:nvSpPr>
        <p:spPr>
          <a:xfrm>
            <a:off x="1817073" y="1242839"/>
            <a:ext cx="9994837" cy="4800600"/>
          </a:xfrm>
          <a:prstGeom prst="rect">
            <a:avLst/>
          </a:prstGeom>
          <a:noFill/>
          <a:ln>
            <a:noFill/>
          </a:ln>
        </p:spPr>
        <p:txBody>
          <a:bodyPr spcFirstLastPara="1" wrap="square" lIns="91425" tIns="45700" rIns="91425" bIns="45700" anchor="t" anchorCtr="0">
            <a:noAutofit/>
          </a:bodyPr>
          <a:lstStyle/>
          <a:p>
            <a:pPr>
              <a:buNone/>
            </a:pPr>
            <a:r>
              <a:rPr lang="en-US" sz="1900" b="1" dirty="0">
                <a:latin typeface="Times New Roman" panose="02020603050405020304" pitchFamily="18" charset="0"/>
                <a:cs typeface="Times New Roman" panose="02020603050405020304" pitchFamily="18" charset="0"/>
              </a:rPr>
              <a:t>Algorithm 2: On-Demand Deep Insight Generation</a:t>
            </a:r>
          </a:p>
          <a:p>
            <a:pPr marL="137160" indent="0">
              <a:buNone/>
            </a:pPr>
            <a:r>
              <a:rPr lang="en-US" sz="1900" b="1" dirty="0">
                <a:latin typeface="Times New Roman" panose="02020603050405020304" pitchFamily="18" charset="0"/>
                <a:cs typeface="Times New Roman" panose="02020603050405020304" pitchFamily="18" charset="0"/>
              </a:rPr>
              <a:t>Input:</a:t>
            </a:r>
            <a:r>
              <a:rPr lang="en-US" sz="1900" dirty="0">
                <a:latin typeface="Times New Roman" panose="02020603050405020304" pitchFamily="18" charset="0"/>
                <a:cs typeface="Times New Roman" panose="02020603050405020304" pitchFamily="18" charset="0"/>
              </a:rPr>
              <a:t> User requests a deep analysis for a selected date range.</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Data Retrieval:</a:t>
            </a:r>
            <a:r>
              <a:rPr lang="en-US" sz="1900" dirty="0">
                <a:latin typeface="Times New Roman" panose="02020603050405020304" pitchFamily="18" charset="0"/>
                <a:cs typeface="Times New Roman" panose="02020603050405020304" pitchFamily="18" charset="0"/>
              </a:rPr>
              <a:t> The backend fetches all relevant journal entries from </a:t>
            </a:r>
            <a:r>
              <a:rPr lang="en-US" sz="1900" dirty="0" err="1">
                <a:latin typeface="Times New Roman" panose="02020603050405020304" pitchFamily="18" charset="0"/>
                <a:cs typeface="Times New Roman" panose="02020603050405020304" pitchFamily="18" charset="0"/>
              </a:rPr>
              <a:t>Firestore</a:t>
            </a:r>
            <a:r>
              <a:rPr lang="en-US" sz="1900" dirty="0">
                <a:latin typeface="Times New Roman" panose="02020603050405020304" pitchFamily="18" charset="0"/>
                <a:cs typeface="Times New Roman" panose="02020603050405020304" pitchFamily="18" charset="0"/>
              </a:rPr>
              <a:t>.</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Prompt &amp; Generate:</a:t>
            </a:r>
            <a:r>
              <a:rPr lang="en-US" sz="1900" dirty="0">
                <a:latin typeface="Times New Roman" panose="02020603050405020304" pitchFamily="18" charset="0"/>
                <a:cs typeface="Times New Roman" panose="02020603050405020304" pitchFamily="18" charset="0"/>
              </a:rPr>
              <a:t> The entries are formatted into a single prompt for the </a:t>
            </a:r>
            <a:r>
              <a:rPr lang="en-US" sz="1900" b="1" dirty="0">
                <a:latin typeface="Times New Roman" panose="02020603050405020304" pitchFamily="18" charset="0"/>
                <a:cs typeface="Times New Roman" panose="02020603050405020304" pitchFamily="18" charset="0"/>
              </a:rPr>
              <a:t>Gemini LLM</a:t>
            </a:r>
            <a:r>
              <a:rPr lang="en-US" sz="1900" dirty="0">
                <a:latin typeface="Times New Roman" panose="02020603050405020304" pitchFamily="18" charset="0"/>
                <a:cs typeface="Times New Roman" panose="02020603050405020304" pitchFamily="18" charset="0"/>
              </a:rPr>
              <a:t>, which returns deep, structured insights (e.g., goals, conflicts, progress) in JSON format.</a:t>
            </a:r>
          </a:p>
          <a:p>
            <a:pPr marL="594360" indent="-457200">
              <a:buFont typeface="+mj-lt"/>
              <a:buAutoNum type="arabicPeriod"/>
            </a:pPr>
            <a:r>
              <a:rPr lang="en-US" sz="1900" b="1" dirty="0">
                <a:latin typeface="Times New Roman" panose="02020603050405020304" pitchFamily="18" charset="0"/>
                <a:cs typeface="Times New Roman" panose="02020603050405020304" pitchFamily="18" charset="0"/>
              </a:rPr>
              <a:t>Store &amp; Display:</a:t>
            </a:r>
            <a:r>
              <a:rPr lang="en-US" sz="1900" dirty="0">
                <a:latin typeface="Times New Roman" panose="02020603050405020304" pitchFamily="18" charset="0"/>
                <a:cs typeface="Times New Roman" panose="02020603050405020304" pitchFamily="18" charset="0"/>
              </a:rPr>
              <a:t> The generated insights are saved to </a:t>
            </a:r>
            <a:r>
              <a:rPr lang="en-US" sz="1900" dirty="0" err="1">
                <a:latin typeface="Times New Roman" panose="02020603050405020304" pitchFamily="18" charset="0"/>
                <a:cs typeface="Times New Roman" panose="02020603050405020304" pitchFamily="18" charset="0"/>
              </a:rPr>
              <a:t>Firestore</a:t>
            </a:r>
            <a:r>
              <a:rPr lang="en-US" sz="1900" dirty="0">
                <a:latin typeface="Times New Roman" panose="02020603050405020304" pitchFamily="18" charset="0"/>
                <a:cs typeface="Times New Roman" panose="02020603050405020304" pitchFamily="18" charset="0"/>
              </a:rPr>
              <a:t> and then presented to the user in a clear, readable report.</a:t>
            </a:r>
          </a:p>
        </p:txBody>
      </p:sp>
      <p:sp>
        <p:nvSpPr>
          <p:cNvPr id="199" name="Google Shape;199;p13"/>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12</a:t>
            </a:fld>
            <a:endParaRPr lang="en-US"/>
          </a:p>
        </p:txBody>
      </p:sp>
      <p:sp>
        <p:nvSpPr>
          <p:cNvPr id="200" name="Google Shape;200;p13"/>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l" rtl="0">
              <a:lnSpc>
                <a:spcPct val="100000"/>
              </a:lnSpc>
              <a:spcBef>
                <a:spcPts val="0"/>
              </a:spcBef>
              <a:spcAft>
                <a:spcPts val="0"/>
              </a:spcAft>
              <a:buClr>
                <a:srgbClr val="C58C00"/>
              </a:buClr>
              <a:buSzPts val="4000"/>
              <a:buFont typeface="Times New Roman" panose="02020603050405020304"/>
              <a:buNone/>
            </a:pPr>
            <a:r>
              <a:rPr lang="en-US" sz="4000" b="1" i="0" u="none" strike="noStrike" cap="small">
                <a:solidFill>
                  <a:srgbClr val="002060"/>
                </a:solidFill>
                <a:latin typeface="Times New Roman" panose="02020603050405020304"/>
                <a:ea typeface="Times New Roman" panose="02020603050405020304"/>
                <a:cs typeface="Times New Roman" panose="02020603050405020304"/>
                <a:sym typeface="Times New Roman" panose="02020603050405020304"/>
              </a:rPr>
              <a:t>Algorithms/Methodology: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4"/>
          <p:cNvSpPr txBox="1">
            <a:spLocks noGrp="1"/>
          </p:cNvSpPr>
          <p:nvPr>
            <p:ph type="body" idx="1"/>
          </p:nvPr>
        </p:nvSpPr>
        <p:spPr>
          <a:xfrm>
            <a:off x="1725657" y="1147589"/>
            <a:ext cx="10177669" cy="5528514"/>
          </a:xfrm>
          <a:prstGeom prst="rect">
            <a:avLst/>
          </a:prstGeom>
          <a:noFill/>
          <a:ln>
            <a:noFill/>
          </a:ln>
        </p:spPr>
        <p:txBody>
          <a:bodyPr spcFirstLastPara="1" wrap="square" lIns="91425" tIns="45700" rIns="91425" bIns="45700" anchor="t" anchorCtr="0">
            <a:noAutofit/>
          </a:bodyPr>
          <a:lstStyle/>
          <a:p>
            <a:pPr marL="365760" lvl="0" indent="-283210" algn="l" rtl="0">
              <a:lnSpc>
                <a:spcPct val="150000"/>
              </a:lnSpc>
              <a:spcBef>
                <a:spcPts val="0"/>
              </a:spcBef>
              <a:spcAft>
                <a:spcPts val="0"/>
              </a:spcAft>
              <a:buClr>
                <a:srgbClr val="0C0C0C"/>
              </a:buClr>
              <a:buSzPct val="80000"/>
              <a:buFont typeface="Noto Sans Symbols"/>
              <a:buChar char="❑"/>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Hardware Requirements</a:t>
            </a:r>
            <a:endParaRPr lang="en-US" sz="1600" dirty="0">
              <a:latin typeface="Times New Roman" panose="02020603050405020304" pitchFamily="18" charset="0"/>
              <a:cs typeface="Times New Roman" panose="02020603050405020304" pitchFamily="18" charset="0"/>
            </a:endParaRPr>
          </a:p>
          <a:p>
            <a:pPr marL="365760" lvl="0" indent="-283210" algn="l" rtl="0">
              <a:lnSpc>
                <a:spcPct val="150000"/>
              </a:lnSpc>
              <a:spcBef>
                <a:spcPts val="600"/>
              </a:spcBef>
              <a:spcAft>
                <a:spcPts val="0"/>
              </a:spcAft>
              <a:buClr>
                <a:srgbClr val="0C0C0C"/>
              </a:buClr>
              <a:buSzPct val="80000"/>
              <a:buFont typeface="Arial" panose="020B0604020202020204"/>
              <a:buChar char="•"/>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Development machine: </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Dual-core processor, 8 GB RAM (16 GB recommended), 256 GB SSD</a:t>
            </a:r>
          </a:p>
          <a:p>
            <a:pPr marL="365760" lvl="0" indent="-283210" algn="l" rtl="0">
              <a:lnSpc>
                <a:spcPct val="150000"/>
              </a:lnSpc>
              <a:spcBef>
                <a:spcPts val="600"/>
              </a:spcBef>
              <a:spcAft>
                <a:spcPts val="0"/>
              </a:spcAft>
              <a:buClr>
                <a:srgbClr val="0C0C0C"/>
              </a:buClr>
              <a:buSzPct val="80000"/>
              <a:buFont typeface="Arial" panose="020B0604020202020204"/>
              <a:buChar char="•"/>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Mobile devices: </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Android/iOS smartphones for testing</a:t>
            </a:r>
          </a:p>
          <a:p>
            <a:pPr marL="365760" lvl="0" indent="-283210">
              <a:lnSpc>
                <a:spcPct val="150000"/>
              </a:lnSpc>
              <a:buClr>
                <a:srgbClr val="0C0C0C"/>
              </a:buClr>
              <a:buSzPct val="80000"/>
              <a:buFont typeface="Arial" panose="020B0604020202020204"/>
              <a:buChar char="•"/>
            </a:pPr>
            <a:r>
              <a:rPr lang="en-IN" sz="1600" dirty="0">
                <a:latin typeface="Times New Roman" panose="02020603050405020304" pitchFamily="18" charset="0"/>
                <a:cs typeface="Times New Roman" panose="02020603050405020304" pitchFamily="18" charset="0"/>
              </a:rPr>
              <a:t>Server Setup: Cloud-based environment for AI model hosting and API integration</a:t>
            </a:r>
          </a:p>
          <a:p>
            <a:pPr marL="368300" lvl="0" indent="-285750">
              <a:lnSpc>
                <a:spcPct val="150000"/>
              </a:lnSpc>
              <a:buClr>
                <a:srgbClr val="0C0C0C"/>
              </a:buClr>
              <a:buSzPct val="80000"/>
              <a:buFont typeface="Wingdings" panose="05000000000000000000" pitchFamily="2" charset="2"/>
              <a:buChar char="q"/>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Software Requirements:</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OS</a:t>
            </a:r>
            <a:r>
              <a:rPr lang="en-US" sz="1600" dirty="0">
                <a:latin typeface="Times New Roman" panose="02020603050405020304" pitchFamily="18" charset="0"/>
                <a:cs typeface="Times New Roman" panose="02020603050405020304" pitchFamily="18" charset="0"/>
              </a:rPr>
              <a:t>: Windows/macOS/Linux</a:t>
            </a:r>
          </a:p>
          <a:p>
            <a:pPr marL="368300" indent="-285750">
              <a:lnSpc>
                <a:spcPct val="150000"/>
              </a:lnSpc>
              <a:buClr>
                <a:srgbClr val="0C0C0C"/>
              </a:buClr>
              <a:buSzPct val="800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 Framework:</a:t>
            </a:r>
            <a:r>
              <a:rPr lang="en-IN" sz="1600" dirty="0">
                <a:latin typeface="Times New Roman" panose="02020603050405020304" pitchFamily="18" charset="0"/>
                <a:cs typeface="Times New Roman" panose="02020603050405020304" pitchFamily="18" charset="0"/>
              </a:rPr>
              <a:t> Flutter (Dart)</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Backend Framework:</a:t>
            </a:r>
            <a:r>
              <a:rPr lang="en-US" sz="1600" dirty="0">
                <a:latin typeface="Times New Roman" panose="02020603050405020304" pitchFamily="18" charset="0"/>
                <a:cs typeface="Times New Roman" panose="02020603050405020304" pitchFamily="18" charset="0"/>
              </a:rPr>
              <a:t> Python with Flask</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Database &amp; Authentication:</a:t>
            </a:r>
            <a:r>
              <a:rPr lang="en-US" sz="1600" dirty="0">
                <a:latin typeface="Times New Roman" panose="02020603050405020304" pitchFamily="18" charset="0"/>
                <a:cs typeface="Times New Roman" panose="02020603050405020304" pitchFamily="18" charset="0"/>
              </a:rPr>
              <a:t> Firebase (</a:t>
            </a:r>
            <a:r>
              <a:rPr lang="en-US" sz="1600" dirty="0" err="1">
                <a:latin typeface="Times New Roman" panose="02020603050405020304" pitchFamily="18" charset="0"/>
                <a:cs typeface="Times New Roman" panose="02020603050405020304" pitchFamily="18" charset="0"/>
              </a:rPr>
              <a:t>Firestore</a:t>
            </a:r>
            <a:r>
              <a:rPr lang="en-US" sz="1600" dirty="0">
                <a:latin typeface="Times New Roman" panose="02020603050405020304" pitchFamily="18" charset="0"/>
                <a:cs typeface="Times New Roman" panose="02020603050405020304" pitchFamily="18" charset="0"/>
              </a:rPr>
              <a:t>, Firebase Auth)</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AI Frameworks: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Gemini API for NLP and insights</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External APIs:</a:t>
            </a:r>
            <a:r>
              <a:rPr lang="en-US" sz="1600" dirty="0">
                <a:latin typeface="Times New Roman" panose="02020603050405020304" pitchFamily="18" charset="0"/>
                <a:cs typeface="Times New Roman" panose="02020603050405020304" pitchFamily="18" charset="0"/>
              </a:rPr>
              <a:t> Spotify, TMDB for media recommendations</a:t>
            </a:r>
          </a:p>
          <a:p>
            <a:pPr marL="368300" indent="-285750">
              <a:lnSpc>
                <a:spcPct val="150000"/>
              </a:lnSpc>
              <a:buClr>
                <a:srgbClr val="0C0C0C"/>
              </a:buClr>
              <a:buSzPct val="8000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Development Tools:</a:t>
            </a:r>
            <a:r>
              <a:rPr lang="en-US" sz="1600" dirty="0">
                <a:latin typeface="Times New Roman" panose="02020603050405020304" pitchFamily="18" charset="0"/>
                <a:cs typeface="Times New Roman" panose="02020603050405020304" pitchFamily="18" charset="0"/>
              </a:rPr>
              <a:t> Visual Studio Code / Android Studio, GitHub for version control</a:t>
            </a:r>
          </a:p>
        </p:txBody>
      </p:sp>
      <p:sp>
        <p:nvSpPr>
          <p:cNvPr id="206" name="Google Shape;206;p14"/>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13</a:t>
            </a:fld>
            <a:endParaRPr lang="en-US"/>
          </a:p>
        </p:txBody>
      </p:sp>
      <p:sp>
        <p:nvSpPr>
          <p:cNvPr id="207" name="Google Shape;207;p14"/>
          <p:cNvSpPr txBox="1"/>
          <p:nvPr/>
        </p:nvSpPr>
        <p:spPr>
          <a:xfrm>
            <a:off x="1557908" y="260648"/>
            <a:ext cx="10513168"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457200" marR="0" lvl="0" indent="-457200" algn="l" rtl="0">
              <a:lnSpc>
                <a:spcPct val="100000"/>
              </a:lnSpc>
              <a:spcBef>
                <a:spcPts val="0"/>
              </a:spcBef>
              <a:spcAft>
                <a:spcPts val="0"/>
              </a:spcAft>
              <a:buClr>
                <a:srgbClr val="C58C00"/>
              </a:buClr>
              <a:buSzPts val="4000"/>
              <a:buFont typeface="Times New Roman" panose="02020603050405020304"/>
              <a:buNone/>
            </a:pPr>
            <a:r>
              <a:rPr lang="en-US" sz="4000" b="1" i="0" u="none" strike="noStrike" cap="small"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Hardware and Software requirements: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13" name="Google Shape;213;p15"/>
          <p:cNvGraphicFramePr/>
          <p:nvPr>
            <p:extLst>
              <p:ext uri="{D42A27DB-BD31-4B8C-83A1-F6EECF244321}">
                <p14:modId xmlns:p14="http://schemas.microsoft.com/office/powerpoint/2010/main" val="4055330289"/>
              </p:ext>
            </p:extLst>
          </p:nvPr>
        </p:nvGraphicFramePr>
        <p:xfrm>
          <a:off x="1637034" y="1547664"/>
          <a:ext cx="9994875" cy="3833586"/>
        </p:xfrm>
        <a:graphic>
          <a:graphicData uri="http://schemas.openxmlformats.org/drawingml/2006/table">
            <a:tbl>
              <a:tblPr firstRow="1" bandRow="1">
                <a:noFill/>
                <a:tableStyleId>{E03D46B1-7A9E-409F-B616-10CFBBF69FDA}</a:tableStyleId>
              </a:tblPr>
              <a:tblGrid>
                <a:gridCol w="2363466">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3897609">
                  <a:extLst>
                    <a:ext uri="{9D8B030D-6E8A-4147-A177-3AD203B41FA5}">
                      <a16:colId xmlns:a16="http://schemas.microsoft.com/office/drawing/2014/main" val="20002"/>
                    </a:ext>
                  </a:extLst>
                </a:gridCol>
              </a:tblGrid>
              <a:tr h="491102">
                <a:tc>
                  <a:txBody>
                    <a:bodyPr/>
                    <a:lstStyle/>
                    <a:p>
                      <a:pPr algn="just">
                        <a:buNone/>
                      </a:pPr>
                      <a:r>
                        <a:rPr lang="en-IN" sz="1600" dirty="0">
                          <a:latin typeface="Times New Roman" panose="02020603050405020304" pitchFamily="18" charset="0"/>
                          <a:cs typeface="Times New Roman" panose="02020603050405020304" pitchFamily="18" charset="0"/>
                        </a:rPr>
                        <a:t>Feature</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Existing Systems</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Pocket Journal</a:t>
                      </a:r>
                    </a:p>
                  </a:txBody>
                  <a:tcPr anchor="ctr"/>
                </a:tc>
                <a:extLst>
                  <a:ext uri="{0D108BD9-81ED-4DB2-BD59-A6C34878D82A}">
                    <a16:rowId xmlns:a16="http://schemas.microsoft.com/office/drawing/2014/main" val="10000"/>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Diary Analysis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Mostly manual, users have to read and interpret their own entries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AI-powered summarization of entries for quick understanding</a:t>
                      </a:r>
                    </a:p>
                  </a:txBody>
                  <a:tcPr anchor="ctr"/>
                </a:tc>
                <a:extLst>
                  <a:ext uri="{0D108BD9-81ED-4DB2-BD59-A6C34878D82A}">
                    <a16:rowId xmlns:a16="http://schemas.microsoft.com/office/drawing/2014/main" val="10001"/>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Mood Detection</a:t>
                      </a:r>
                    </a:p>
                  </a:txBody>
                  <a:tcPr anchor="ctr"/>
                </a:tc>
                <a:tc>
                  <a:txBody>
                    <a:bodyPr/>
                    <a:lstStyle/>
                    <a:p>
                      <a:pPr algn="just">
                        <a:buNone/>
                      </a:pPr>
                      <a:r>
                        <a:rPr lang="en-US" sz="1600">
                          <a:latin typeface="Times New Roman" panose="02020603050405020304" pitchFamily="18" charset="0"/>
                          <a:cs typeface="Times New Roman" panose="02020603050405020304" pitchFamily="18" charset="0"/>
                        </a:rPr>
                        <a:t>Basic mood trackers using emojis or scales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AI detects moods and emotional patterns from text</a:t>
                      </a:r>
                    </a:p>
                  </a:txBody>
                  <a:tcPr anchor="ctr"/>
                </a:tc>
                <a:extLst>
                  <a:ext uri="{0D108BD9-81ED-4DB2-BD59-A6C34878D82A}">
                    <a16:rowId xmlns:a16="http://schemas.microsoft.com/office/drawing/2014/main" val="10002"/>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Goal Tracking</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Users track goals manually or not at all</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Automatically identifies goals and monitors progress over time</a:t>
                      </a:r>
                    </a:p>
                  </a:txBody>
                  <a:tcPr anchor="ctr"/>
                </a:tc>
                <a:extLst>
                  <a:ext uri="{0D108BD9-81ED-4DB2-BD59-A6C34878D82A}">
                    <a16:rowId xmlns:a16="http://schemas.microsoft.com/office/drawing/2014/main" val="10003"/>
                  </a:ext>
                </a:extLst>
              </a:tr>
              <a:tr h="814766">
                <a:tc>
                  <a:txBody>
                    <a:bodyPr/>
                    <a:lstStyle/>
                    <a:p>
                      <a:pPr algn="just">
                        <a:buNone/>
                      </a:pPr>
                      <a:r>
                        <a:rPr lang="en-IN" sz="1600" dirty="0">
                          <a:latin typeface="Times New Roman" panose="02020603050405020304" pitchFamily="18" charset="0"/>
                          <a:cs typeface="Times New Roman" panose="02020603050405020304" pitchFamily="18" charset="0"/>
                        </a:rPr>
                        <a:t>Personalized Feedback</a:t>
                      </a:r>
                    </a:p>
                  </a:txBody>
                  <a:tcPr anchor="ctr"/>
                </a:tc>
                <a:tc>
                  <a:txBody>
                    <a:bodyPr/>
                    <a:lstStyle/>
                    <a:p>
                      <a:pPr algn="just">
                        <a:buNone/>
                      </a:pPr>
                      <a:r>
                        <a:rPr lang="en-US" sz="1600">
                          <a:latin typeface="Times New Roman" panose="02020603050405020304" pitchFamily="18" charset="0"/>
                          <a:cs typeface="Times New Roman" panose="02020603050405020304" pitchFamily="18" charset="0"/>
                        </a:rPr>
                        <a:t>Generic tips or advice, not tailored to user</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AI generates actionable feedback and improvement suggestions based on individual entries</a:t>
                      </a:r>
                    </a:p>
                  </a:txBody>
                  <a:tcPr anchor="ctr"/>
                </a:tc>
                <a:extLst>
                  <a:ext uri="{0D108BD9-81ED-4DB2-BD59-A6C34878D82A}">
                    <a16:rowId xmlns:a16="http://schemas.microsoft.com/office/drawing/2014/main" val="10004"/>
                  </a:ext>
                </a:extLst>
              </a:tr>
              <a:tr h="629881">
                <a:tc>
                  <a:txBody>
                    <a:bodyPr/>
                    <a:lstStyle/>
                    <a:p>
                      <a:pPr algn="just">
                        <a:buNone/>
                      </a:pPr>
                      <a:r>
                        <a:rPr lang="en-IN" sz="1600" dirty="0">
                          <a:latin typeface="Times New Roman" panose="02020603050405020304" pitchFamily="18" charset="0"/>
                          <a:cs typeface="Times New Roman" panose="02020603050405020304" pitchFamily="18" charset="0"/>
                        </a:rPr>
                        <a:t>Media Recommendations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Rarely included or generic suggestions</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Personalized music, articles, and videos based on mood and goals</a:t>
                      </a:r>
                    </a:p>
                  </a:txBody>
                  <a:tcPr anchor="ctr"/>
                </a:tc>
                <a:extLst>
                  <a:ext uri="{0D108BD9-81ED-4DB2-BD59-A6C34878D82A}">
                    <a16:rowId xmlns:a16="http://schemas.microsoft.com/office/drawing/2014/main" val="10005"/>
                  </a:ext>
                </a:extLst>
              </a:tr>
            </a:tbl>
          </a:graphicData>
        </a:graphic>
      </p:graphicFrame>
      <p:sp>
        <p:nvSpPr>
          <p:cNvPr id="214" name="Google Shape;214;p15"/>
          <p:cNvSpPr txBox="1"/>
          <p:nvPr/>
        </p:nvSpPr>
        <p:spPr>
          <a:xfrm>
            <a:off x="1485900" y="404664"/>
            <a:ext cx="10297144"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Comparison with Existing systems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15" name="Google Shape;215;p15"/>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6"/>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 name="Google Shape;221;p16"/>
          <p:cNvSpPr txBox="1">
            <a:spLocks noGrp="1"/>
          </p:cNvSpPr>
          <p:nvPr>
            <p:ph type="body" idx="1"/>
          </p:nvPr>
        </p:nvSpPr>
        <p:spPr>
          <a:xfrm>
            <a:off x="1570707" y="1403648"/>
            <a:ext cx="9649072" cy="4678033"/>
          </a:xfrm>
          <a:prstGeom prst="rect">
            <a:avLst/>
          </a:prstGeom>
          <a:noFill/>
          <a:ln>
            <a:noFill/>
          </a:ln>
        </p:spPr>
        <p:txBody>
          <a:bodyPr spcFirstLastPara="1" wrap="square" lIns="91425" tIns="45700" rIns="91425" bIns="45700" anchor="t" anchorCtr="0">
            <a:normAutofit lnSpcReduction="10000"/>
          </a:bodyPr>
          <a:lstStyle/>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High-Accuracy Mood Detection:</a:t>
            </a:r>
            <a:r>
              <a:rPr lang="en-US" sz="1900" dirty="0">
                <a:latin typeface="Times New Roman" panose="02020603050405020304" pitchFamily="18" charset="0"/>
                <a:cs typeface="Times New Roman" panose="02020603050405020304" pitchFamily="18" charset="0"/>
              </a:rPr>
              <a:t> Achieve a high</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accuracy and f-score with the fine-tuned </a:t>
            </a:r>
            <a:r>
              <a:rPr lang="en-US" sz="1900" b="1" dirty="0" err="1">
                <a:latin typeface="Times New Roman" panose="02020603050405020304" pitchFamily="18" charset="0"/>
                <a:cs typeface="Times New Roman" panose="02020603050405020304" pitchFamily="18" charset="0"/>
              </a:rPr>
              <a:t>RoBERTa</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and</a:t>
            </a:r>
            <a:r>
              <a:rPr lang="en-US" sz="1900" b="1" dirty="0">
                <a:latin typeface="Times New Roman" panose="02020603050405020304" pitchFamily="18" charset="0"/>
                <a:cs typeface="Times New Roman" panose="02020603050405020304" pitchFamily="18" charset="0"/>
              </a:rPr>
              <a:t> BART</a:t>
            </a:r>
            <a:r>
              <a:rPr lang="en-US" sz="1900" dirty="0">
                <a:latin typeface="Times New Roman" panose="02020603050405020304" pitchFamily="18" charset="0"/>
                <a:cs typeface="Times New Roman" panose="02020603050405020304" pitchFamily="18" charset="0"/>
              </a:rPr>
              <a:t> model, providing users with reliable emotional insights.</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Effective AI Analysis:</a:t>
            </a:r>
            <a:r>
              <a:rPr lang="en-US" sz="1900" dirty="0">
                <a:latin typeface="Times New Roman" panose="02020603050405020304" pitchFamily="18" charset="0"/>
                <a:cs typeface="Times New Roman" panose="02020603050405020304" pitchFamily="18" charset="0"/>
              </a:rPr>
              <a:t> Successfully deliver multi-layered analysis, including concise summaries from </a:t>
            </a:r>
            <a:r>
              <a:rPr lang="en-US" sz="1900" b="1" dirty="0">
                <a:latin typeface="Times New Roman" panose="02020603050405020304" pitchFamily="18" charset="0"/>
                <a:cs typeface="Times New Roman" panose="02020603050405020304" pitchFamily="18" charset="0"/>
              </a:rPr>
              <a:t>BART</a:t>
            </a:r>
            <a:r>
              <a:rPr lang="en-US" sz="1900" dirty="0">
                <a:latin typeface="Times New Roman" panose="02020603050405020304" pitchFamily="18" charset="0"/>
                <a:cs typeface="Times New Roman" panose="02020603050405020304" pitchFamily="18" charset="0"/>
              </a:rPr>
              <a:t> and deep, actionable insights from the </a:t>
            </a:r>
            <a:r>
              <a:rPr lang="en-US" sz="1900" b="1" dirty="0">
                <a:latin typeface="Times New Roman" panose="02020603050405020304" pitchFamily="18" charset="0"/>
                <a:cs typeface="Times New Roman" panose="02020603050405020304" pitchFamily="18" charset="0"/>
              </a:rPr>
              <a:t>Gemini LLM</a:t>
            </a:r>
            <a:r>
              <a:rPr lang="en-US" sz="19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Functional &amp; Scalable Application:</a:t>
            </a:r>
            <a:r>
              <a:rPr lang="en-US" sz="1900" dirty="0">
                <a:latin typeface="Times New Roman" panose="02020603050405020304" pitchFamily="18" charset="0"/>
                <a:cs typeface="Times New Roman" panose="02020603050405020304" pitchFamily="18" charset="0"/>
              </a:rPr>
              <a:t> Deliver a complete, end-to-end mobile application using a modern tech stack (</a:t>
            </a:r>
            <a:r>
              <a:rPr lang="en-US" sz="1900" b="1" dirty="0">
                <a:latin typeface="Times New Roman" panose="02020603050405020304" pitchFamily="18" charset="0"/>
                <a:cs typeface="Times New Roman" panose="02020603050405020304" pitchFamily="18" charset="0"/>
              </a:rPr>
              <a:t>Flutter</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Python</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Firebase</a:t>
            </a:r>
            <a:r>
              <a:rPr lang="en-US" sz="1900" dirty="0">
                <a:latin typeface="Times New Roman" panose="02020603050405020304" pitchFamily="18" charset="0"/>
                <a:cs typeface="Times New Roman" panose="02020603050405020304" pitchFamily="18" charset="0"/>
              </a:rPr>
              <a:t>) ready for real-world use.</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Context-Aware Recommendations:</a:t>
            </a:r>
            <a:r>
              <a:rPr lang="en-US" sz="1900" dirty="0">
                <a:latin typeface="Times New Roman" panose="02020603050405020304" pitchFamily="18" charset="0"/>
                <a:cs typeface="Times New Roman" panose="02020603050405020304" pitchFamily="18" charset="0"/>
              </a:rPr>
              <a:t> Provide personalized and relevant media suggestions that align with the user's detected mood, enhancing the supportive experience.</a:t>
            </a:r>
          </a:p>
          <a:p>
            <a:pPr algn="just">
              <a:lnSpc>
                <a:spcPct val="150000"/>
              </a:lnSpc>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Enhanced Self-Awareness:</a:t>
            </a:r>
            <a:r>
              <a:rPr lang="en-US" sz="1900" dirty="0">
                <a:latin typeface="Times New Roman" panose="02020603050405020304" pitchFamily="18" charset="0"/>
                <a:cs typeface="Times New Roman" panose="02020603050405020304" pitchFamily="18" charset="0"/>
              </a:rPr>
              <a:t> Empower users with data-driven feedback and visualizations, transforming journaling into a proactive tool for personal growth.</a:t>
            </a:r>
          </a:p>
        </p:txBody>
      </p:sp>
      <p:sp>
        <p:nvSpPr>
          <p:cNvPr id="222" name="Google Shape;222;p16"/>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Expected Outcomes: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23" name="Google Shape;223;p16"/>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9" name="Google Shape;229;p17"/>
          <p:cNvSpPr txBox="1">
            <a:spLocks noGrp="1"/>
          </p:cNvSpPr>
          <p:nvPr>
            <p:ph type="body" idx="1"/>
          </p:nvPr>
        </p:nvSpPr>
        <p:spPr>
          <a:xfrm>
            <a:off x="1570707" y="1391246"/>
            <a:ext cx="9649072" cy="4800600"/>
          </a:xfrm>
          <a:prstGeom prst="rect">
            <a:avLst/>
          </a:prstGeom>
          <a:noFill/>
          <a:ln>
            <a:noFill/>
          </a:ln>
        </p:spPr>
        <p:txBody>
          <a:bodyPr spcFirstLastPara="1" wrap="square" lIns="91425" tIns="45700" rIns="91425" bIns="45700" anchor="t" anchorCtr="0">
            <a:noAutofit/>
          </a:bodyPr>
          <a:lstStyle/>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Empowering Users:</a:t>
            </a:r>
            <a:r>
              <a:rPr lang="en-US" sz="1800" dirty="0">
                <a:latin typeface="Times New Roman" panose="02020603050405020304"/>
                <a:ea typeface="Times New Roman" panose="02020603050405020304"/>
                <a:cs typeface="Times New Roman" panose="02020603050405020304"/>
                <a:sym typeface="Times New Roman" panose="02020603050405020304"/>
              </a:rPr>
              <a:t> Record daily reflections, track goals, and gain insights into moods and patterns.</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Personal Growth: </a:t>
            </a:r>
            <a:r>
              <a:rPr lang="en-US" sz="1800" dirty="0">
                <a:latin typeface="Times New Roman" panose="02020603050405020304"/>
                <a:ea typeface="Times New Roman" panose="02020603050405020304"/>
                <a:cs typeface="Times New Roman" panose="02020603050405020304"/>
                <a:sym typeface="Times New Roman" panose="02020603050405020304"/>
              </a:rPr>
              <a:t>AI-generated feedback guides self-improvement and healthier habits.</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Emotional Well-Being:</a:t>
            </a:r>
            <a:r>
              <a:rPr lang="en-US" sz="1800" dirty="0">
                <a:latin typeface="Times New Roman" panose="02020603050405020304"/>
                <a:ea typeface="Times New Roman" panose="02020603050405020304"/>
                <a:cs typeface="Times New Roman" panose="02020603050405020304"/>
                <a:sym typeface="Times New Roman" panose="02020603050405020304"/>
              </a:rPr>
              <a:t> Personalized media (music, articles, videos) helps manage stress and motivation.</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Valuable Insights:</a:t>
            </a:r>
            <a:r>
              <a:rPr lang="en-US" sz="1800" dirty="0">
                <a:latin typeface="Times New Roman" panose="02020603050405020304"/>
                <a:ea typeface="Times New Roman" panose="02020603050405020304"/>
                <a:cs typeface="Times New Roman" panose="02020603050405020304"/>
                <a:sym typeface="Times New Roman" panose="02020603050405020304"/>
              </a:rPr>
              <a:t> Analytics dashboard visualizes mood trends, goal progress, and recurring themes.</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Consistency</a:t>
            </a:r>
            <a:r>
              <a:rPr lang="en-US" sz="1800" dirty="0">
                <a:latin typeface="Times New Roman" panose="02020603050405020304"/>
                <a:ea typeface="Times New Roman" panose="02020603050405020304"/>
                <a:cs typeface="Times New Roman" panose="02020603050405020304"/>
                <a:sym typeface="Times New Roman" panose="02020603050405020304"/>
              </a:rPr>
              <a:t>: Interactive feedback and reminders encourage regular journaling.</a:t>
            </a: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Self-Discovery: </a:t>
            </a:r>
            <a:r>
              <a:rPr lang="en-US" sz="1800" dirty="0">
                <a:latin typeface="Times New Roman" panose="02020603050405020304"/>
                <a:ea typeface="Times New Roman" panose="02020603050405020304"/>
                <a:cs typeface="Times New Roman" panose="02020603050405020304"/>
                <a:sym typeface="Times New Roman" panose="02020603050405020304"/>
              </a:rPr>
              <a:t>Summaries and analyses reveal hidden patterns, promoting deeper self-awareness.</a:t>
            </a:r>
            <a:endParaRPr lang="en-US" sz="1800" b="1" dirty="0">
              <a:latin typeface="Times New Roman" panose="02020603050405020304"/>
              <a:ea typeface="Times New Roman" panose="02020603050405020304"/>
              <a:cs typeface="Times New Roman" panose="02020603050405020304"/>
              <a:sym typeface="Times New Roman" panose="02020603050405020304"/>
            </a:endParaRP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Goal Support:</a:t>
            </a:r>
            <a:r>
              <a:rPr lang="en-US" sz="1800" dirty="0">
                <a:latin typeface="Times New Roman" panose="02020603050405020304"/>
                <a:ea typeface="Times New Roman" panose="02020603050405020304"/>
                <a:cs typeface="Times New Roman" panose="02020603050405020304"/>
                <a:sym typeface="Times New Roman" panose="02020603050405020304"/>
              </a:rPr>
              <a:t> Track and stay focused on personal goals.</a:t>
            </a:r>
            <a:endParaRPr lang="en-US" sz="1800" b="1" dirty="0">
              <a:latin typeface="Times New Roman" panose="02020603050405020304"/>
              <a:ea typeface="Times New Roman" panose="02020603050405020304"/>
              <a:cs typeface="Times New Roman" panose="02020603050405020304"/>
              <a:sym typeface="Times New Roman" panose="02020603050405020304"/>
            </a:endParaRPr>
          </a:p>
          <a:p>
            <a:pPr marL="365760" lvl="0" indent="-283210" algn="just" rtl="0">
              <a:lnSpc>
                <a:spcPct val="150000"/>
              </a:lnSpc>
              <a:spcBef>
                <a:spcPts val="0"/>
              </a:spcBef>
              <a:spcAft>
                <a:spcPts val="0"/>
              </a:spcAft>
              <a:buClr>
                <a:srgbClr val="0C0C0C"/>
              </a:buClr>
              <a:buSzPts val="1280"/>
              <a:buFont typeface="Arial" panose="020B0604020202020204"/>
              <a:buChar char="•"/>
            </a:pPr>
            <a:r>
              <a:rPr lang="en-US" sz="1800" b="1" dirty="0">
                <a:latin typeface="Times New Roman" panose="02020603050405020304"/>
                <a:ea typeface="Times New Roman" panose="02020603050405020304"/>
                <a:cs typeface="Times New Roman" panose="02020603050405020304"/>
                <a:sym typeface="Times New Roman" panose="02020603050405020304"/>
              </a:rPr>
              <a:t>Behavior Analysis:</a:t>
            </a:r>
            <a:r>
              <a:rPr lang="en-US" sz="1800" dirty="0">
                <a:latin typeface="Times New Roman" panose="02020603050405020304"/>
                <a:ea typeface="Times New Roman" panose="02020603050405020304"/>
                <a:cs typeface="Times New Roman" panose="02020603050405020304"/>
                <a:sym typeface="Times New Roman" panose="02020603050405020304"/>
              </a:rPr>
              <a:t> Identify habits and patterns for positive change.</a:t>
            </a:r>
            <a:endParaRPr sz="18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30" name="Google Shape;230;p17"/>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Applications: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31" name="Google Shape;231;p17"/>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8"/>
          <p:cNvSpPr txBox="1">
            <a:spLocks noGrp="1"/>
          </p:cNvSpPr>
          <p:nvPr>
            <p:ph type="title"/>
          </p:nvPr>
        </p:nvSpPr>
        <p:spPr>
          <a:xfrm>
            <a:off x="0" y="260648"/>
            <a:ext cx="12188825" cy="1143000"/>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0"/>
              </a:spcBef>
              <a:spcAft>
                <a:spcPts val="0"/>
              </a:spcAft>
              <a:buClr>
                <a:schemeClr val="dk1"/>
              </a:buClr>
              <a:buSzPts val="4300"/>
              <a:buFont typeface="Times New Roman" panose="02020603050405020304"/>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4000">
              <a:solidFill>
                <a:srgbClr val="C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7" name="Google Shape;237;p18"/>
          <p:cNvSpPr txBox="1">
            <a:spLocks noGrp="1"/>
          </p:cNvSpPr>
          <p:nvPr>
            <p:ph type="body" idx="1"/>
          </p:nvPr>
        </p:nvSpPr>
        <p:spPr>
          <a:xfrm>
            <a:off x="1346200" y="1319560"/>
            <a:ext cx="9678987" cy="2497600"/>
          </a:xfrm>
          <a:prstGeom prst="rect">
            <a:avLst/>
          </a:prstGeom>
          <a:noFill/>
          <a:ln>
            <a:noFill/>
          </a:ln>
        </p:spPr>
        <p:txBody>
          <a:bodyPr spcFirstLastPara="1" wrap="square" lIns="91425" tIns="45700" rIns="91425" bIns="45700" anchor="t" anchorCtr="0">
            <a:normAutofit fontScale="92500" lnSpcReduction="20000"/>
          </a:bodyPr>
          <a:lstStyle/>
          <a:p>
            <a:pPr marL="365760" lvl="0" indent="-283210" algn="just">
              <a:lnSpc>
                <a:spcPct val="150000"/>
              </a:lnSpc>
              <a:spcBef>
                <a:spcPts val="0"/>
              </a:spcBef>
              <a:buSzPts val="1280"/>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2100" dirty="0">
                <a:latin typeface="Times New Roman" panose="02020603050405020304" pitchFamily="18" charset="0"/>
                <a:cs typeface="Times New Roman" panose="02020603050405020304" pitchFamily="18" charset="0"/>
              </a:rPr>
              <a:t>Pocket Journal successfully transforms traditional journaling into a dynamic, interactive tool for self-discovery. By leveraging a multi-stage AI pipeline featuring </a:t>
            </a:r>
            <a:r>
              <a:rPr lang="en-US" sz="2100" b="1" dirty="0" err="1">
                <a:latin typeface="Times New Roman" panose="02020603050405020304" pitchFamily="18" charset="0"/>
                <a:cs typeface="Times New Roman" panose="02020603050405020304" pitchFamily="18" charset="0"/>
              </a:rPr>
              <a:t>RoBERTa</a:t>
            </a: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BART</a:t>
            </a:r>
            <a:r>
              <a:rPr lang="en-US" sz="2100" dirty="0">
                <a:latin typeface="Times New Roman" panose="02020603050405020304" pitchFamily="18" charset="0"/>
                <a:cs typeface="Times New Roman" panose="02020603050405020304" pitchFamily="18" charset="0"/>
              </a:rPr>
              <a:t>, and a generative </a:t>
            </a:r>
            <a:r>
              <a:rPr lang="en-US" sz="2100" b="1" dirty="0">
                <a:latin typeface="Times New Roman" panose="02020603050405020304" pitchFamily="18" charset="0"/>
                <a:cs typeface="Times New Roman" panose="02020603050405020304" pitchFamily="18" charset="0"/>
              </a:rPr>
              <a:t>LLM</a:t>
            </a:r>
            <a:r>
              <a:rPr lang="en-US" sz="2100" dirty="0">
                <a:latin typeface="Times New Roman" panose="02020603050405020304" pitchFamily="18" charset="0"/>
                <a:cs typeface="Times New Roman" panose="02020603050405020304" pitchFamily="18" charset="0"/>
              </a:rPr>
              <a:t>, the system provides users with deep, personalized feedback on their emotional state. The integration of media recommendations creates a holistic and proactive companion for modern mental wellness, marking a significant step forward in applying NLP for personal growth.</a:t>
            </a:r>
          </a:p>
        </p:txBody>
      </p:sp>
      <p:sp>
        <p:nvSpPr>
          <p:cNvPr id="238" name="Google Shape;238;p18"/>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Conclusion:</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8"/>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sp>
        <p:nvSpPr>
          <p:cNvPr id="5" name="Google Shape;238;p18"/>
          <p:cNvSpPr txBox="1"/>
          <p:nvPr/>
        </p:nvSpPr>
        <p:spPr>
          <a:xfrm>
            <a:off x="1485900" y="404664"/>
            <a:ext cx="9818687" cy="720080"/>
          </a:xfrm>
          <a:prstGeom prst="rect">
            <a:avLst/>
          </a:prstGeom>
          <a:gradFill>
            <a:gsLst>
              <a:gs pos="0">
                <a:srgbClr val="C5E6F2"/>
              </a:gs>
              <a:gs pos="50000">
                <a:srgbClr val="B7E0F0"/>
              </a:gs>
              <a:gs pos="97000">
                <a:srgbClr val="A0D9EE"/>
              </a:gs>
              <a:gs pos="100000">
                <a:srgbClr val="97D6EF"/>
              </a:gs>
            </a:gsLst>
            <a:path path="circle">
              <a:fillToRect l="50000" t="50000" r="50000" b="50000"/>
            </a:path>
            <a:tileRect/>
          </a:gradFill>
          <a:ln w="9525" cap="flat" cmpd="sng">
            <a:solidFill>
              <a:schemeClr val="accent1"/>
            </a:solidFill>
            <a:prstDash val="solid"/>
            <a:round/>
            <a:headEnd type="none" w="sm" len="sm"/>
            <a:tailEnd type="none" w="sm" len="sm"/>
          </a:ln>
        </p:spPr>
        <p:txBody>
          <a:bodyPr spcFirstLastPara="1" wrap="square" lIns="91425" tIns="0" rIns="91425" bIns="45700" anchor="ctr" anchorCtr="0">
            <a:noAutofit/>
          </a:bodyPr>
          <a:lstStyle/>
          <a:p>
            <a:pPr marL="27305" marR="0" lvl="0" indent="0" algn="l" rtl="0">
              <a:lnSpc>
                <a:spcPct val="100000"/>
              </a:lnSpc>
              <a:spcBef>
                <a:spcPts val="0"/>
              </a:spcBef>
              <a:spcAft>
                <a:spcPts val="0"/>
              </a:spcAft>
              <a:buClr>
                <a:schemeClr val="accent1"/>
              </a:buClr>
              <a:buSzPts val="3600"/>
              <a:buFont typeface="Times New Roman" panose="02020603050405020304"/>
              <a:buNone/>
            </a:pPr>
            <a:r>
              <a:rPr lang="en-US" sz="4500" b="1" i="0" u="none" strike="noStrike" cap="small"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REFERENCES:</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485900" y="1124744"/>
            <a:ext cx="9731904" cy="5693866"/>
          </a:xfrm>
          <a:prstGeom prst="rect">
            <a:avLst/>
          </a:prstGeom>
          <a:noFill/>
        </p:spPr>
        <p:txBody>
          <a:bodyPr wrap="square">
            <a:spAutoFit/>
          </a:bodyPr>
          <a:lstStyle/>
          <a:p>
            <a:r>
              <a:rPr lang="en-IN" sz="1300" dirty="0">
                <a:latin typeface="Times New Roman" panose="02020603050405020304" pitchFamily="18" charset="0"/>
                <a:cs typeface="Times New Roman" panose="02020603050405020304" pitchFamily="18" charset="0"/>
              </a:rPr>
              <a:t>[1] I. Ameer, G. Sidorov, and B. Can, "Emotion Classification in Texts Over Graph Neural Networks: Semantic Representation is Better Than Syntactic," in IEEE Access, 2023. (Note: Full citation details like volume and page numbers should be added if available.)</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[2] Barkha, T. </a:t>
            </a:r>
            <a:r>
              <a:rPr lang="en-IN" sz="1300" dirty="0" err="1">
                <a:latin typeface="Times New Roman" panose="02020603050405020304" pitchFamily="18" charset="0"/>
                <a:cs typeface="Times New Roman" panose="02020603050405020304" pitchFamily="18" charset="0"/>
              </a:rPr>
              <a:t>Kanjwani</a:t>
            </a:r>
            <a:r>
              <a:rPr lang="en-IN" sz="1300" dirty="0">
                <a:latin typeface="Times New Roman" panose="02020603050405020304" pitchFamily="18" charset="0"/>
                <a:cs typeface="Times New Roman" panose="02020603050405020304" pitchFamily="18" charset="0"/>
              </a:rPr>
              <a:t>, S. Nasim, and A. Ahmed, "Comparative Analysis of </a:t>
            </a:r>
            <a:r>
              <a:rPr lang="en-IN" sz="1300" dirty="0" err="1">
                <a:latin typeface="Times New Roman" panose="02020603050405020304" pitchFamily="18" charset="0"/>
                <a:cs typeface="Times New Roman" panose="02020603050405020304" pitchFamily="18" charset="0"/>
              </a:rPr>
              <a:t>DistilBERT</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XLNet</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RoBERTa</a:t>
            </a:r>
            <a:r>
              <a:rPr lang="en-IN" sz="1300" dirty="0">
                <a:latin typeface="Times New Roman" panose="02020603050405020304" pitchFamily="18" charset="0"/>
                <a:cs typeface="Times New Roman" panose="02020603050405020304" pitchFamily="18" charset="0"/>
              </a:rPr>
              <a:t>, and </a:t>
            </a:r>
            <a:r>
              <a:rPr lang="en-IN" sz="1300" dirty="0" err="1">
                <a:latin typeface="Times New Roman" panose="02020603050405020304" pitchFamily="18" charset="0"/>
                <a:cs typeface="Times New Roman" panose="02020603050405020304" pitchFamily="18" charset="0"/>
              </a:rPr>
              <a:t>BigBird</a:t>
            </a:r>
            <a:r>
              <a:rPr lang="en-IN" sz="1300" dirty="0">
                <a:latin typeface="Times New Roman" panose="02020603050405020304" pitchFamily="18" charset="0"/>
                <a:cs typeface="Times New Roman" panose="02020603050405020304" pitchFamily="18" charset="0"/>
              </a:rPr>
              <a:t> for Emotion Detection in Conversational Text," ResearchGate, 2025. (Note: Specify if this is a preprint or a conference/journal paper found on ResearchGate and add details.)</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[3] F. Anzum and M. L. G, "Emotion Detection From Micro-Blogs Using Novel Input Representation," in IEEE Access, 2023. (Note: Full citation details should be added.)</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[4] B. Praneeth, Mohana, E. C. </a:t>
            </a:r>
            <a:r>
              <a:rPr lang="en-IN" sz="1300" dirty="0" err="1">
                <a:latin typeface="Times New Roman" panose="02020603050405020304" pitchFamily="18" charset="0"/>
                <a:cs typeface="Times New Roman" panose="02020603050405020304" pitchFamily="18" charset="0"/>
              </a:rPr>
              <a:t>Nattem</a:t>
            </a:r>
            <a:r>
              <a:rPr lang="en-IN" sz="1300" dirty="0">
                <a:latin typeface="Times New Roman" panose="02020603050405020304" pitchFamily="18" charset="0"/>
                <a:cs typeface="Times New Roman" panose="02020603050405020304" pitchFamily="18" charset="0"/>
              </a:rPr>
              <a:t>, K. Jetti, B. K. Kavyashree, D. Rakshitha, P. R. Kumar, and K. Sreelakshmi, "Optimization of Customer Feedback Summarization Using Large Language Models (LLM) and Advanced Retrieval-Augmented Generation," IEEE Access, vol. 13, pp. 124319–124332, 2025,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10.1109/ACCESS.2025.3588337.</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[5] B. Khan, M. Usman, I. Khan, J. Khan, D. Hussain, and Y. H. Gu, "Next-Generation Text Summarization: A T5-LSTM </a:t>
            </a:r>
            <a:r>
              <a:rPr lang="en-IN" sz="1300" dirty="0" err="1">
                <a:latin typeface="Times New Roman" panose="02020603050405020304" pitchFamily="18" charset="0"/>
                <a:cs typeface="Times New Roman" panose="02020603050405020304" pitchFamily="18" charset="0"/>
              </a:rPr>
              <a:t>FusionNet</a:t>
            </a:r>
            <a:r>
              <a:rPr lang="en-IN" sz="1300" dirty="0">
                <a:latin typeface="Times New Roman" panose="02020603050405020304" pitchFamily="18" charset="0"/>
                <a:cs typeface="Times New Roman" panose="02020603050405020304" pitchFamily="18" charset="0"/>
              </a:rPr>
              <a:t> Hybrid Approach," in IEEE Access, 2025. (Note: Full citation details should be added.)</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[6] A. de León </a:t>
            </a:r>
            <a:r>
              <a:rPr lang="en-IN" sz="1300" dirty="0" err="1">
                <a:latin typeface="Times New Roman" panose="02020603050405020304" pitchFamily="18" charset="0"/>
                <a:cs typeface="Times New Roman" panose="02020603050405020304" pitchFamily="18" charset="0"/>
              </a:rPr>
              <a:t>Languré</a:t>
            </a:r>
            <a:r>
              <a:rPr lang="en-IN" sz="1300" dirty="0">
                <a:latin typeface="Times New Roman" panose="02020603050405020304" pitchFamily="18" charset="0"/>
                <a:cs typeface="Times New Roman" panose="02020603050405020304" pitchFamily="18" charset="0"/>
              </a:rPr>
              <a:t> and M. </a:t>
            </a:r>
            <a:r>
              <a:rPr lang="en-IN" sz="1300" dirty="0" err="1">
                <a:latin typeface="Times New Roman" panose="02020603050405020304" pitchFamily="18" charset="0"/>
                <a:cs typeface="Times New Roman" panose="02020603050405020304" pitchFamily="18" charset="0"/>
              </a:rPr>
              <a:t>Zareei</a:t>
            </a:r>
            <a:r>
              <a:rPr lang="en-IN" sz="1300" dirty="0">
                <a:latin typeface="Times New Roman" panose="02020603050405020304" pitchFamily="18" charset="0"/>
                <a:cs typeface="Times New Roman" panose="02020603050405020304" pitchFamily="18" charset="0"/>
              </a:rPr>
              <a:t>, "Evaluating the Effect of Emotion Models on the Generalizability of Text Emotion Detection Systems," IEEE Access, vol. 12, pp. 70489–70500, 2024, </a:t>
            </a:r>
            <a:r>
              <a:rPr lang="en-IN" sz="1300" dirty="0" err="1">
                <a:latin typeface="Times New Roman" panose="02020603050405020304" pitchFamily="18" charset="0"/>
                <a:cs typeface="Times New Roman" panose="02020603050405020304" pitchFamily="18" charset="0"/>
              </a:rPr>
              <a:t>doi</a:t>
            </a:r>
            <a:r>
              <a:rPr lang="en-IN" sz="1300" dirty="0">
                <a:latin typeface="Times New Roman" panose="02020603050405020304" pitchFamily="18" charset="0"/>
                <a:cs typeface="Times New Roman" panose="02020603050405020304" pitchFamily="18" charset="0"/>
              </a:rPr>
              <a:t>: 10.1109/ACCESS.2024.3401203.</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[7] S. Unnisa and A. N. S, "Personalized Mood-Centric Book Recommendation Integrating Machine Learning with Content-Based Filtering," International Journal of Novel Research and Development (IJNRD), 2024. (Note: Full citation details should be added.)</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[8] N. Tennakoon, O. </a:t>
            </a:r>
            <a:r>
              <a:rPr lang="en-IN" sz="1300" dirty="0" err="1">
                <a:latin typeface="Times New Roman" panose="02020603050405020304" pitchFamily="18" charset="0"/>
                <a:cs typeface="Times New Roman" panose="02020603050405020304" pitchFamily="18" charset="0"/>
              </a:rPr>
              <a:t>Senaweera</a:t>
            </a:r>
            <a:r>
              <a:rPr lang="en-IN" sz="1300" dirty="0">
                <a:latin typeface="Times New Roman" panose="02020603050405020304" pitchFamily="18" charset="0"/>
                <a:cs typeface="Times New Roman" panose="02020603050405020304" pitchFamily="18" charset="0"/>
              </a:rPr>
              <a:t>, and H. A. S. G. </a:t>
            </a:r>
            <a:r>
              <a:rPr lang="en-IN" sz="1300" dirty="0" err="1">
                <a:latin typeface="Times New Roman" panose="02020603050405020304" pitchFamily="18" charset="0"/>
                <a:cs typeface="Times New Roman" panose="02020603050405020304" pitchFamily="18" charset="0"/>
              </a:rPr>
              <a:t>Dharmarathne</a:t>
            </a:r>
            <a:r>
              <a:rPr lang="en-IN" sz="1300" dirty="0">
                <a:latin typeface="Times New Roman" panose="02020603050405020304" pitchFamily="18" charset="0"/>
                <a:cs typeface="Times New Roman" panose="02020603050405020304" pitchFamily="18" charset="0"/>
              </a:rPr>
              <a:t>, "Emotion-Based Movie Recommendation System," International Journal on Advances in ICT for Emerging Regions (</a:t>
            </a:r>
            <a:r>
              <a:rPr lang="en-IN" sz="1300" dirty="0" err="1">
                <a:latin typeface="Times New Roman" panose="02020603050405020304" pitchFamily="18" charset="0"/>
                <a:cs typeface="Times New Roman" panose="02020603050405020304" pitchFamily="18" charset="0"/>
              </a:rPr>
              <a:t>ICTer</a:t>
            </a:r>
            <a:r>
              <a:rPr lang="en-IN" sz="1300" dirty="0">
                <a:latin typeface="Times New Roman" panose="02020603050405020304" pitchFamily="18" charset="0"/>
                <a:cs typeface="Times New Roman" panose="02020603050405020304" pitchFamily="18" charset="0"/>
              </a:rPr>
              <a:t>), 2024. (Note: Full citation details should be added.)</a:t>
            </a:r>
          </a:p>
          <a:p>
            <a:endParaRPr lang="en-IN" sz="1300" dirty="0">
              <a:latin typeface="Times New Roman" panose="02020603050405020304" pitchFamily="18" charset="0"/>
              <a:cs typeface="Times New Roman" panose="02020603050405020304" pitchFamily="18" charset="0"/>
            </a:endParaRPr>
          </a:p>
          <a:p>
            <a:r>
              <a:rPr lang="en-IN" sz="1300" dirty="0">
                <a:latin typeface="Times New Roman" panose="02020603050405020304" pitchFamily="18" charset="0"/>
                <a:cs typeface="Times New Roman" panose="02020603050405020304" pitchFamily="18" charset="0"/>
              </a:rPr>
              <a:t>[9] N. Krishnakumar, M. K. K, and S. E. T, "MOOD-BASED RECOMMENDER: Music and Book Recommendations," International Journal on Advances in ICT for Emerging Regions (</a:t>
            </a:r>
            <a:r>
              <a:rPr lang="en-IN" sz="1300" dirty="0" err="1">
                <a:latin typeface="Times New Roman" panose="02020603050405020304" pitchFamily="18" charset="0"/>
                <a:cs typeface="Times New Roman" panose="02020603050405020304" pitchFamily="18" charset="0"/>
              </a:rPr>
              <a:t>ICTer</a:t>
            </a:r>
            <a:r>
              <a:rPr lang="en-IN" sz="1300" dirty="0">
                <a:latin typeface="Times New Roman" panose="02020603050405020304" pitchFamily="18" charset="0"/>
                <a:cs typeface="Times New Roman" panose="02020603050405020304" pitchFamily="18" charset="0"/>
              </a:rPr>
              <a:t>), 2024. (Note: Full citation details should be added.)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9"/>
          <p:cNvSpPr txBox="1">
            <a:spLocks noGrp="1"/>
          </p:cNvSpPr>
          <p:nvPr>
            <p:ph type="body" idx="1"/>
          </p:nvPr>
        </p:nvSpPr>
        <p:spPr>
          <a:xfrm>
            <a:off x="1913645" y="1447800"/>
            <a:ext cx="9994837" cy="4800600"/>
          </a:xfrm>
          <a:prstGeom prst="rect">
            <a:avLst/>
          </a:prstGeom>
          <a:noFill/>
          <a:ln>
            <a:noFill/>
          </a:ln>
        </p:spPr>
        <p:txBody>
          <a:bodyPr spcFirstLastPara="1" wrap="square" lIns="91425" tIns="45700" rIns="91425" bIns="45700" anchor="t" anchorCtr="0">
            <a:normAutofit/>
          </a:bodyPr>
          <a:lstStyle/>
          <a:p>
            <a:pPr marL="365760" lvl="0" indent="-283210" algn="l" rtl="0">
              <a:lnSpc>
                <a:spcPct val="100000"/>
              </a:lnSpc>
              <a:spcBef>
                <a:spcPts val="0"/>
              </a:spcBef>
              <a:spcAft>
                <a:spcPts val="0"/>
              </a:spcAft>
              <a:buSzPts val="4800"/>
              <a:buNone/>
            </a:pPr>
            <a:endParaRPr sz="6000" dirty="0">
              <a:latin typeface="Times New Roman" panose="02020603050405020304"/>
              <a:ea typeface="Times New Roman" panose="02020603050405020304"/>
              <a:cs typeface="Times New Roman" panose="02020603050405020304"/>
              <a:sym typeface="Times New Roman" panose="02020603050405020304"/>
            </a:endParaRPr>
          </a:p>
          <a:p>
            <a:pPr marL="365760" lvl="0" indent="-283210" algn="ctr" rtl="0">
              <a:lnSpc>
                <a:spcPct val="100000"/>
              </a:lnSpc>
              <a:spcBef>
                <a:spcPts val="600"/>
              </a:spcBef>
              <a:spcAft>
                <a:spcPts val="0"/>
              </a:spcAft>
              <a:buSzPts val="4800"/>
              <a:buNone/>
            </a:pPr>
            <a:r>
              <a:rPr lang="en-US" sz="6000" dirty="0">
                <a:latin typeface="Times New Roman" panose="02020603050405020304"/>
                <a:ea typeface="Times New Roman" panose="02020603050405020304"/>
                <a:cs typeface="Times New Roman" panose="02020603050405020304"/>
                <a:sym typeface="Times New Roman" panose="02020603050405020304"/>
              </a:rPr>
              <a:t>Thank You....!!!!</a:t>
            </a:r>
            <a:endParaRPr sz="6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45" name="Google Shape;245;p19"/>
          <p:cNvSpPr txBox="1">
            <a:spLocks noGrp="1"/>
          </p:cNvSpPr>
          <p:nvPr>
            <p:ph type="sldNum" idx="12"/>
          </p:nvPr>
        </p:nvSpPr>
        <p:spPr>
          <a:xfrm>
            <a:off x="11481873" y="6305550"/>
            <a:ext cx="609441" cy="476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200"/>
              <a:buNone/>
            </a:pPr>
            <a:fld id="{00000000-1234-1234-1234-123412341234}" type="slidenum">
              <a:rPr lang="en-US"/>
              <a:t>19</a:t>
            </a:fld>
            <a:endParaRPr lang="en-US"/>
          </a:p>
        </p:txBody>
      </p:sp>
    </p:spTree>
  </p:cSld>
  <p:clrMapOvr>
    <a:masterClrMapping/>
  </p:clrMapOvr>
</p:sld>
</file>

<file path=ppt/theme/theme1.xml><?xml version="1.0" encoding="utf-8"?>
<a:theme xmlns:a="http://schemas.openxmlformats.org/drawingml/2006/main"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647</TotalTime>
  <Words>2540</Words>
  <Application>Microsoft Office PowerPoint</Application>
  <PresentationFormat>Custom</PresentationFormat>
  <Paragraphs>259</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Times New Roman</vt:lpstr>
      <vt:lpstr>Gill Sans</vt:lpstr>
      <vt:lpstr>Noto Sans Symbols</vt:lpstr>
      <vt:lpstr>Calibri</vt:lpstr>
      <vt:lpstr>Wingdings</vt:lpstr>
      <vt:lpstr>Arial</vt:lpstr>
      <vt:lpstr>Solstice</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Jenil Rathod</dc:creator>
  <cp:lastModifiedBy>Jenil Rathod</cp:lastModifiedBy>
  <cp:revision>33</cp:revision>
  <dcterms:created xsi:type="dcterms:W3CDTF">2025-09-18T10:50:52Z</dcterms:created>
  <dcterms:modified xsi:type="dcterms:W3CDTF">2025-11-14T20:53:24Z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994557BA13034CF89CE1F3A490FCD5E2_12</vt:lpwstr>
  </property>
  <property fmtid="{D5CDD505-2E9C-101B-9397-08002B2CF9AE}" pid="3" name="KSOProductBuildVer">
    <vt:lpwstr>1033-12.2.0.22549</vt:lpwstr>
  </property>
</Properties>
</file>