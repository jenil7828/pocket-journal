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9"/>
  </p:notesMasterIdLst>
  <p:sldIdLst>
    <p:sldId id="256" r:id="rId2"/>
    <p:sldId id="258" r:id="rId3"/>
    <p:sldId id="259" r:id="rId4"/>
    <p:sldId id="260" r:id="rId5"/>
    <p:sldId id="261" r:id="rId6"/>
    <p:sldId id="262" r:id="rId7"/>
    <p:sldId id="263" r:id="rId8"/>
  </p:sldIdLst>
  <p:sldSz cx="12188825" cy="6858000"/>
  <p:notesSz cx="6761163" cy="9942513"/>
  <p:custDataLst>
    <p:tags r:id="rId10"/>
  </p:custDataLst>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CCE372E-ECD7-4A1C-B22A-9EB5CF0A707A}">
  <a:tblStyle styleId="{1CCE372E-ECD7-4A1C-B22A-9EB5CF0A707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1153E5F-1116-4281-9A61-3A002BC911FA}" styleName="Table_1">
    <a:wholeTbl>
      <a:tcTxStyle b="off" i="off">
        <a:font>
          <a:latin typeface="Gill Sans MT"/>
          <a:ea typeface="Gill Sans MT"/>
          <a:cs typeface="Gill Sans M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EF0"/>
          </a:solidFill>
        </a:fill>
      </a:tcStyle>
    </a:wholeTbl>
    <a:band1H>
      <a:tcTxStyle/>
      <a:tcStyle>
        <a:tcBdr/>
        <a:fill>
          <a:solidFill>
            <a:srgbClr val="CCDBE1"/>
          </a:solidFill>
        </a:fill>
      </a:tcStyle>
    </a:band1H>
    <a:band2H>
      <a:tcTxStyle/>
      <a:tcStyle>
        <a:tcBdr/>
      </a:tcStyle>
    </a:band2H>
    <a:band1V>
      <a:tcTxStyle/>
      <a:tcStyle>
        <a:tcBdr/>
        <a:fill>
          <a:solidFill>
            <a:srgbClr val="CCDBE1"/>
          </a:solidFill>
        </a:fill>
      </a:tcStyle>
    </a:band1V>
    <a:band2V>
      <a:tcTxStyle/>
      <a:tcStyle>
        <a:tcBdr/>
      </a:tcStyle>
    </a:band2V>
    <a:lastCol>
      <a:tcTxStyle b="on" i="off">
        <a:font>
          <a:latin typeface="Gill Sans MT"/>
          <a:ea typeface="Gill Sans MT"/>
          <a:cs typeface="Gill Sans MT"/>
        </a:font>
        <a:schemeClr val="lt1"/>
      </a:tcTxStyle>
      <a:tcStyle>
        <a:tcBdr/>
        <a:fill>
          <a:solidFill>
            <a:schemeClr val="accent1"/>
          </a:solidFill>
        </a:fill>
      </a:tcStyle>
    </a:lastCol>
    <a:firstCol>
      <a:tcTxStyle b="on" i="off">
        <a:font>
          <a:latin typeface="Gill Sans MT"/>
          <a:ea typeface="Gill Sans MT"/>
          <a:cs typeface="Gill Sans MT"/>
        </a:font>
        <a:schemeClr val="lt1"/>
      </a:tcTxStyle>
      <a:tcStyle>
        <a:tcBdr/>
        <a:fill>
          <a:solidFill>
            <a:schemeClr val="accent1"/>
          </a:solidFill>
        </a:fill>
      </a:tcStyle>
    </a:firstCol>
    <a:lastRow>
      <a:tcTxStyle b="on" i="off">
        <a:font>
          <a:latin typeface="Gill Sans MT"/>
          <a:ea typeface="Gill Sans MT"/>
          <a:cs typeface="Gill Sans M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Gill Sans MT"/>
          <a:ea typeface="Gill Sans MT"/>
          <a:cs typeface="Gill Sans M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954" y="102"/>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7126"/>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7126"/>
          </a:xfrm>
          <a:prstGeom prst="rect">
            <a:avLst/>
          </a:prstGeom>
        </p:spPr>
        <p:txBody>
          <a:bodyPr vert="horz" lIns="91440" tIns="45720" rIns="91440" bIns="45720" rtlCol="0"/>
          <a:lstStyle>
            <a:lvl1pPr algn="r">
              <a:defRPr sz="1200"/>
            </a:lvl1pPr>
          </a:lstStyle>
          <a:p>
            <a:fld id="{03328EF6-EFF9-44DE-A3DE-952C4DDD5FF2}" type="datetimeFigureOut">
              <a:rPr lang="en-IN" smtClean="0"/>
              <a:pPr/>
              <a:t>11-07-2025</a:t>
            </a:fld>
            <a:endParaRPr lang="en-IN"/>
          </a:p>
        </p:txBody>
      </p:sp>
      <p:sp>
        <p:nvSpPr>
          <p:cNvPr id="4" name="Slide Image Placeholder 3"/>
          <p:cNvSpPr>
            <a:spLocks noGrp="1" noRot="1" noChangeAspect="1"/>
          </p:cNvSpPr>
          <p:nvPr>
            <p:ph type="sldImg" idx="2"/>
          </p:nvPr>
        </p:nvSpPr>
        <p:spPr>
          <a:xfrm>
            <a:off x="68263" y="746125"/>
            <a:ext cx="6624637" cy="37274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22694"/>
            <a:ext cx="5408930" cy="447413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7126"/>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7126"/>
          </a:xfrm>
          <a:prstGeom prst="rect">
            <a:avLst/>
          </a:prstGeom>
        </p:spPr>
        <p:txBody>
          <a:bodyPr vert="horz" lIns="91440" tIns="45720" rIns="91440" bIns="45720" rtlCol="0" anchor="b"/>
          <a:lstStyle>
            <a:lvl1pPr algn="r">
              <a:defRPr sz="1200"/>
            </a:lvl1pPr>
          </a:lstStyle>
          <a:p>
            <a:fld id="{2F0A7174-0450-466D-84B3-66F729647D9B}" type="slidenum">
              <a:rPr lang="en-IN" smtClean="0"/>
              <a:pPr/>
              <a:t>‹#›</a:t>
            </a:fld>
            <a:endParaRPr lang="en-IN"/>
          </a:p>
        </p:txBody>
      </p:sp>
    </p:spTree>
    <p:extLst>
      <p:ext uri="{BB962C8B-B14F-4D97-AF65-F5344CB8AC3E}">
        <p14:creationId xmlns:p14="http://schemas.microsoft.com/office/powerpoint/2010/main" val="156486197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263" y="746125"/>
            <a:ext cx="6624637" cy="37274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F0A7174-0450-466D-84B3-66F729647D9B}" type="slidenum">
              <a:rPr lang="en-IN" smtClean="0"/>
              <a:pPr/>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909583" y="359898"/>
            <a:ext cx="9872948"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909583" y="1850064"/>
            <a:ext cx="9872948"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35CC3301-E303-4396-986E-2DEB80CBABDC}" type="datetime1">
              <a:rPr lang="en-IN" smtClean="0"/>
              <a:t>11-07-2025</a:t>
            </a:fld>
            <a:endParaRPr lang="en-IN"/>
          </a:p>
        </p:txBody>
      </p:sp>
      <p:sp>
        <p:nvSpPr>
          <p:cNvPr id="20" name="Footer Placeholder 19"/>
          <p:cNvSpPr>
            <a:spLocks noGrp="1"/>
          </p:cNvSpPr>
          <p:nvPr>
            <p:ph type="ftr" sz="quarter" idx="11"/>
          </p:nvPr>
        </p:nvSpPr>
        <p:spPr/>
        <p:txBody>
          <a:bodyPr/>
          <a:lstStyle/>
          <a:p>
            <a:r>
              <a:rPr lang="en-IN"/>
              <a:t>Department of Computer Engineering</a:t>
            </a:r>
          </a:p>
        </p:txBody>
      </p:sp>
      <p:sp>
        <p:nvSpPr>
          <p:cNvPr id="10" name="Slide Number Placeholder 9"/>
          <p:cNvSpPr>
            <a:spLocks noGrp="1"/>
          </p:cNvSpPr>
          <p:nvPr>
            <p:ph type="sldNum" sz="quarter" idx="12"/>
          </p:nvPr>
        </p:nvSpPr>
        <p:spPr/>
        <p:txBody>
          <a:bodyPr/>
          <a:lstStyle/>
          <a:p>
            <a:fld id="{56E39993-3455-456D-B76B-54420194FCFA}" type="slidenum">
              <a:rPr lang="en-IN" smtClean="0"/>
              <a:pPr/>
              <a:t>‹#›</a:t>
            </a:fld>
            <a:endParaRPr lang="en-IN"/>
          </a:p>
        </p:txBody>
      </p:sp>
      <p:sp>
        <p:nvSpPr>
          <p:cNvPr id="8" name="Oval 7"/>
          <p:cNvSpPr/>
          <p:nvPr/>
        </p:nvSpPr>
        <p:spPr>
          <a:xfrm>
            <a:off x="1228257" y="1413802"/>
            <a:ext cx="280343"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542499" y="1345016"/>
            <a:ext cx="85322"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999DE9C-E4AD-45FD-9BDF-D4C6112E4E34}" type="datetime1">
              <a:rPr lang="en-IN" smtClean="0"/>
              <a:t>11-07-2025</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sp>
        <p:nvSpPr>
          <p:cNvPr id="6" name="Slide Number Placeholder 5"/>
          <p:cNvSpPr>
            <a:spLocks noGrp="1"/>
          </p:cNvSpPr>
          <p:nvPr>
            <p:ph type="sldNum" sz="quarter" idx="12"/>
          </p:nvPr>
        </p:nvSpPr>
        <p:spPr/>
        <p:txBody>
          <a:bodyPr/>
          <a:lstStyle/>
          <a:p>
            <a:fld id="{56E39993-3455-456D-B76B-54420194FCFA}" type="slidenum">
              <a:rPr lang="en-IN" smtClean="0"/>
              <a:pPr/>
              <a:t>‹#›</a:t>
            </a:fld>
            <a:endParaRPr lang="en-I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043061" y="-54"/>
            <a:ext cx="9141619"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436960" y="2600325"/>
            <a:ext cx="8532178"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3436960" y="1066800"/>
            <a:ext cx="8532178"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70F252D3-1E65-4F1A-8DA3-1C81C031BFC0}" type="datetime1">
              <a:rPr lang="en-IN" smtClean="0"/>
              <a:t>11-07-2025</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sp>
        <p:nvSpPr>
          <p:cNvPr id="6" name="Slide Number Placeholder 5"/>
          <p:cNvSpPr>
            <a:spLocks noGrp="1"/>
          </p:cNvSpPr>
          <p:nvPr>
            <p:ph type="sldNum" sz="quarter" idx="12"/>
          </p:nvPr>
        </p:nvSpPr>
        <p:spPr/>
        <p:txBody>
          <a:bodyPr/>
          <a:lstStyle/>
          <a:p>
            <a:fld id="{56E39993-3455-456D-B76B-54420194FCFA}" type="slidenum">
              <a:rPr lang="en-IN" smtClean="0"/>
              <a:pPr/>
              <a:t>‹#›</a:t>
            </a:fld>
            <a:endParaRPr lang="en-IN"/>
          </a:p>
        </p:txBody>
      </p:sp>
      <p:sp>
        <p:nvSpPr>
          <p:cNvPr id="10" name="Rectangle 9"/>
          <p:cNvSpPr/>
          <p:nvPr/>
        </p:nvSpPr>
        <p:spPr bwMode="invGray">
          <a:xfrm>
            <a:off x="3047206" y="0"/>
            <a:ext cx="101574"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895674" y="2814656"/>
            <a:ext cx="280343"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3209916" y="2745870"/>
            <a:ext cx="85322"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13645" y="274320"/>
            <a:ext cx="9994837" cy="1143000"/>
          </a:xfrm>
        </p:spPr>
        <p:txBody>
          <a:bodyPr/>
          <a:lstStyle/>
          <a:p>
            <a:r>
              <a:rPr kumimoji="0" lang="en-US"/>
              <a:t>Click to edit Master title style</a:t>
            </a:r>
          </a:p>
        </p:txBody>
      </p:sp>
      <p:sp>
        <p:nvSpPr>
          <p:cNvPr id="3" name="Content Placeholder 2"/>
          <p:cNvSpPr>
            <a:spLocks noGrp="1"/>
          </p:cNvSpPr>
          <p:nvPr>
            <p:ph sz="half" idx="1"/>
          </p:nvPr>
        </p:nvSpPr>
        <p:spPr>
          <a:xfrm>
            <a:off x="1913646" y="1524000"/>
            <a:ext cx="487553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032952" y="1524000"/>
            <a:ext cx="487553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A143AB9-2C9C-4324-BCC7-68E59EF79DE2}" type="datetime1">
              <a:rPr lang="en-IN" smtClean="0"/>
              <a:t>11-07-2025</a:t>
            </a:fld>
            <a:endParaRPr lang="en-IN"/>
          </a:p>
        </p:txBody>
      </p:sp>
      <p:sp>
        <p:nvSpPr>
          <p:cNvPr id="6" name="Footer Placeholder 5"/>
          <p:cNvSpPr>
            <a:spLocks noGrp="1"/>
          </p:cNvSpPr>
          <p:nvPr>
            <p:ph type="ftr" sz="quarter" idx="11"/>
          </p:nvPr>
        </p:nvSpPr>
        <p:spPr/>
        <p:txBody>
          <a:bodyPr/>
          <a:lstStyle/>
          <a:p>
            <a:r>
              <a:rPr lang="en-IN"/>
              <a:t>Department of Computer Engineering</a:t>
            </a:r>
          </a:p>
        </p:txBody>
      </p:sp>
      <p:sp>
        <p:nvSpPr>
          <p:cNvPr id="7" name="Slide Number Placeholder 6"/>
          <p:cNvSpPr>
            <a:spLocks noGrp="1"/>
          </p:cNvSpPr>
          <p:nvPr>
            <p:ph type="sldNum" sz="quarter" idx="12"/>
          </p:nvPr>
        </p:nvSpPr>
        <p:spPr/>
        <p:txBody>
          <a:bodyPr/>
          <a:lstStyle/>
          <a:p>
            <a:fld id="{56E39993-3455-456D-B76B-54420194FCFA}" type="slidenum">
              <a:rPr lang="en-IN" smtClean="0"/>
              <a:pPr/>
              <a:t>‹#›</a:t>
            </a:fld>
            <a:endParaRPr lang="en-I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441" y="5160336"/>
            <a:ext cx="10969943"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609441" y="328278"/>
            <a:ext cx="5363083"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216301" y="328278"/>
            <a:ext cx="5363083"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441" y="969336"/>
            <a:ext cx="5363083"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216301" y="969336"/>
            <a:ext cx="5363083"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208A7CEB-1456-4B8A-A2B5-4154326EFBB0}" type="datetime1">
              <a:rPr lang="en-IN" smtClean="0"/>
              <a:t>11-07-2025</a:t>
            </a:fld>
            <a:endParaRPr lang="en-IN"/>
          </a:p>
        </p:txBody>
      </p:sp>
      <p:sp>
        <p:nvSpPr>
          <p:cNvPr id="8" name="Footer Placeholder 7"/>
          <p:cNvSpPr>
            <a:spLocks noGrp="1"/>
          </p:cNvSpPr>
          <p:nvPr>
            <p:ph type="ftr" sz="quarter" idx="11"/>
          </p:nvPr>
        </p:nvSpPr>
        <p:spPr/>
        <p:txBody>
          <a:bodyPr/>
          <a:lstStyle/>
          <a:p>
            <a:r>
              <a:rPr lang="en-IN"/>
              <a:t>Department of Computer Engineering</a:t>
            </a:r>
          </a:p>
        </p:txBody>
      </p:sp>
      <p:sp>
        <p:nvSpPr>
          <p:cNvPr id="9" name="Slide Number Placeholder 8"/>
          <p:cNvSpPr>
            <a:spLocks noGrp="1"/>
          </p:cNvSpPr>
          <p:nvPr>
            <p:ph type="sldNum" sz="quarter" idx="12"/>
          </p:nvPr>
        </p:nvSpPr>
        <p:spPr/>
        <p:txBody>
          <a:bodyPr/>
          <a:lstStyle/>
          <a:p>
            <a:fld id="{56E39993-3455-456D-B76B-54420194FCFA}" type="slidenum">
              <a:rPr lang="en-IN" smtClean="0"/>
              <a:pPr/>
              <a:t>‹#›</a:t>
            </a:fld>
            <a:endParaRPr lang="en-I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13645" y="274320"/>
            <a:ext cx="9994837"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521142FA-DF29-4AA8-AB59-FF0BE61D490D}" type="datetime1">
              <a:rPr lang="en-IN" smtClean="0"/>
              <a:t>11-07-2025</a:t>
            </a:fld>
            <a:endParaRPr lang="en-IN"/>
          </a:p>
        </p:txBody>
      </p:sp>
      <p:sp>
        <p:nvSpPr>
          <p:cNvPr id="4" name="Footer Placeholder 3"/>
          <p:cNvSpPr>
            <a:spLocks noGrp="1"/>
          </p:cNvSpPr>
          <p:nvPr>
            <p:ph type="ftr" sz="quarter" idx="11"/>
          </p:nvPr>
        </p:nvSpPr>
        <p:spPr/>
        <p:txBody>
          <a:bodyPr/>
          <a:lstStyle/>
          <a:p>
            <a:r>
              <a:rPr lang="en-IN"/>
              <a:t>Department of Computer Engineering</a:t>
            </a:r>
          </a:p>
        </p:txBody>
      </p:sp>
      <p:sp>
        <p:nvSpPr>
          <p:cNvPr id="5" name="Slide Number Placeholder 4"/>
          <p:cNvSpPr>
            <a:spLocks noGrp="1"/>
          </p:cNvSpPr>
          <p:nvPr>
            <p:ph type="sldNum" sz="quarter" idx="12"/>
          </p:nvPr>
        </p:nvSpPr>
        <p:spPr/>
        <p:txBody>
          <a:bodyPr/>
          <a:lstStyle/>
          <a:p>
            <a:fld id="{56E39993-3455-456D-B76B-54420194FCFA}" type="slidenum">
              <a:rPr lang="en-IN" smtClean="0"/>
              <a:pPr/>
              <a:t>‹#›</a:t>
            </a:fld>
            <a:endParaRPr lang="en-I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352960" y="0"/>
            <a:ext cx="1083586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99596845-2AF9-455E-BB14-BCF0DEE0F3BA}" type="datetime1">
              <a:rPr lang="en-IN" smtClean="0"/>
              <a:t>11-07-2025</a:t>
            </a:fld>
            <a:endParaRPr lang="en-IN"/>
          </a:p>
        </p:txBody>
      </p:sp>
      <p:sp>
        <p:nvSpPr>
          <p:cNvPr id="3" name="Footer Placeholder 2"/>
          <p:cNvSpPr>
            <a:spLocks noGrp="1"/>
          </p:cNvSpPr>
          <p:nvPr>
            <p:ph type="ftr" sz="quarter" idx="11"/>
          </p:nvPr>
        </p:nvSpPr>
        <p:spPr/>
        <p:txBody>
          <a:bodyPr/>
          <a:lstStyle/>
          <a:p>
            <a:r>
              <a:rPr lang="en-IN"/>
              <a:t>Department of Computer Engineering</a:t>
            </a:r>
          </a:p>
        </p:txBody>
      </p:sp>
      <p:sp>
        <p:nvSpPr>
          <p:cNvPr id="4" name="Slide Number Placeholder 3"/>
          <p:cNvSpPr>
            <a:spLocks noGrp="1"/>
          </p:cNvSpPr>
          <p:nvPr>
            <p:ph type="sldNum" sz="quarter" idx="12"/>
          </p:nvPr>
        </p:nvSpPr>
        <p:spPr/>
        <p:txBody>
          <a:bodyPr/>
          <a:lstStyle/>
          <a:p>
            <a:fld id="{56E39993-3455-456D-B76B-54420194FCFA}" type="slidenum">
              <a:rPr lang="en-IN" smtClean="0"/>
              <a:pPr/>
              <a:t>‹#›</a:t>
            </a:fld>
            <a:endParaRPr lang="en-IN"/>
          </a:p>
        </p:txBody>
      </p:sp>
      <p:sp>
        <p:nvSpPr>
          <p:cNvPr id="6" name="Rectangle 5"/>
          <p:cNvSpPr/>
          <p:nvPr/>
        </p:nvSpPr>
        <p:spPr bwMode="invGray">
          <a:xfrm>
            <a:off x="1352959" y="-54"/>
            <a:ext cx="97511"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216778"/>
            <a:ext cx="5078677"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609441" y="1406964"/>
            <a:ext cx="5078677"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609441" y="2133601"/>
            <a:ext cx="10868369"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DEEB4CF-1F6F-49AE-8FA6-3AD4452F59DF}" type="datetime1">
              <a:rPr lang="en-IN" smtClean="0"/>
              <a:t>11-07-2025</a:t>
            </a:fld>
            <a:endParaRPr lang="en-IN"/>
          </a:p>
        </p:txBody>
      </p:sp>
      <p:sp>
        <p:nvSpPr>
          <p:cNvPr id="6" name="Footer Placeholder 5"/>
          <p:cNvSpPr>
            <a:spLocks noGrp="1"/>
          </p:cNvSpPr>
          <p:nvPr>
            <p:ph type="ftr" sz="quarter" idx="11"/>
          </p:nvPr>
        </p:nvSpPr>
        <p:spPr/>
        <p:txBody>
          <a:bodyPr/>
          <a:lstStyle/>
          <a:p>
            <a:r>
              <a:rPr lang="en-IN"/>
              <a:t>Department of Computer Engineering</a:t>
            </a:r>
          </a:p>
        </p:txBody>
      </p:sp>
      <p:sp>
        <p:nvSpPr>
          <p:cNvPr id="7" name="Slide Number Placeholder 6"/>
          <p:cNvSpPr>
            <a:spLocks noGrp="1"/>
          </p:cNvSpPr>
          <p:nvPr>
            <p:ph type="sldNum" sz="quarter" idx="12"/>
          </p:nvPr>
        </p:nvSpPr>
        <p:spPr/>
        <p:txBody>
          <a:bodyPr/>
          <a:lstStyle/>
          <a:p>
            <a:fld id="{56E39993-3455-456D-B76B-54420194FCFA}" type="slidenum">
              <a:rPr lang="en-IN" smtClean="0"/>
              <a:pPr/>
              <a:t>‹#›</a:t>
            </a:fld>
            <a:endParaRPr lang="en-I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47150" y="1066800"/>
            <a:ext cx="3656648"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0D8E8CED-E8E0-4C1A-B92E-63EB2D542F94}" type="datetime1">
              <a:rPr lang="en-IN" smtClean="0"/>
              <a:t>11-07-2025</a:t>
            </a:fld>
            <a:endParaRPr lang="en-IN"/>
          </a:p>
        </p:txBody>
      </p:sp>
      <p:sp>
        <p:nvSpPr>
          <p:cNvPr id="6" name="Footer Placeholder 5"/>
          <p:cNvSpPr>
            <a:spLocks noGrp="1"/>
          </p:cNvSpPr>
          <p:nvPr>
            <p:ph type="ftr" sz="quarter" idx="11"/>
          </p:nvPr>
        </p:nvSpPr>
        <p:spPr/>
        <p:txBody>
          <a:bodyPr/>
          <a:lstStyle/>
          <a:p>
            <a:r>
              <a:rPr lang="en-IN"/>
              <a:t>Department of Computer Engineering</a:t>
            </a:r>
          </a:p>
        </p:txBody>
      </p:sp>
      <p:sp>
        <p:nvSpPr>
          <p:cNvPr id="7" name="Slide Number Placeholder 6"/>
          <p:cNvSpPr>
            <a:spLocks noGrp="1"/>
          </p:cNvSpPr>
          <p:nvPr>
            <p:ph type="sldNum" sz="quarter" idx="12"/>
          </p:nvPr>
        </p:nvSpPr>
        <p:spPr/>
        <p:txBody>
          <a:bodyPr/>
          <a:lstStyle/>
          <a:p>
            <a:fld id="{56E39993-3455-456D-B76B-54420194FCFA}" type="slidenum">
              <a:rPr lang="en-IN" smtClean="0"/>
              <a:pPr/>
              <a:t>‹#›</a:t>
            </a:fld>
            <a:endParaRPr lang="en-IN"/>
          </a:p>
        </p:txBody>
      </p:sp>
      <p:sp>
        <p:nvSpPr>
          <p:cNvPr id="8" name="Rectangle 7"/>
          <p:cNvSpPr/>
          <p:nvPr/>
        </p:nvSpPr>
        <p:spPr>
          <a:xfrm>
            <a:off x="1015735" y="1066800"/>
            <a:ext cx="6094413"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309" y="1143004"/>
            <a:ext cx="5891265"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528829" y="954341"/>
            <a:ext cx="91416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6669818" y="936786"/>
            <a:ext cx="865407"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1117309" y="4800600"/>
            <a:ext cx="5891265"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5ED0BF7-4719-4D51-98B8-11A967826253}" type="datetime1">
              <a:rPr lang="en-IN" smtClean="0"/>
              <a:t>11-07-2025</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sp>
        <p:nvSpPr>
          <p:cNvPr id="6" name="Slide Number Placeholder 5"/>
          <p:cNvSpPr>
            <a:spLocks noGrp="1"/>
          </p:cNvSpPr>
          <p:nvPr>
            <p:ph type="sldNum" sz="quarter" idx="12"/>
          </p:nvPr>
        </p:nvSpPr>
        <p:spPr/>
        <p:txBody>
          <a:bodyPr/>
          <a:lstStyle/>
          <a:p>
            <a:fld id="{56E39993-3455-456D-B76B-54420194FCFA}" type="slidenum">
              <a:rPr lang="en-IN" smtClean="0"/>
              <a:pPr/>
              <a:t>‹#›</a:t>
            </a:fld>
            <a:endParaRPr lang="en-I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619" y="274640"/>
            <a:ext cx="2437765"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523603" y="274641"/>
            <a:ext cx="7414869"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2147309-E755-44EF-8773-F3595F07C295}" type="datetime1">
              <a:rPr lang="en-IN" smtClean="0"/>
              <a:t>11-07-2025</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sp>
        <p:nvSpPr>
          <p:cNvPr id="6" name="Slide Number Placeholder 5"/>
          <p:cNvSpPr>
            <a:spLocks noGrp="1"/>
          </p:cNvSpPr>
          <p:nvPr>
            <p:ph type="sldNum" sz="quarter" idx="12"/>
          </p:nvPr>
        </p:nvSpPr>
        <p:spPr/>
        <p:txBody>
          <a:bodyPr/>
          <a:lstStyle/>
          <a:p>
            <a:fld id="{56E39993-3455-456D-B76B-54420194FCFA}" type="slidenum">
              <a:rPr lang="en-IN" smtClean="0"/>
              <a:pPr/>
              <a:t>‹#›</a:t>
            </a:fld>
            <a:endParaRPr lang="en-IN"/>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1087619" y="-815922"/>
            <a:ext cx="2184614"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25030" y="21103"/>
            <a:ext cx="2268997"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243779" y="1055077"/>
            <a:ext cx="1500565"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350146" y="-54"/>
            <a:ext cx="10838679"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913645" y="274638"/>
            <a:ext cx="9994837"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913645" y="1447800"/>
            <a:ext cx="9994837"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4773957" y="6305550"/>
            <a:ext cx="2844059"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95BC1F6-50F8-4325-A4F5-6FAFF4654454}" type="datetime1">
              <a:rPr lang="en-IN" smtClean="0"/>
              <a:t>11-07-2025</a:t>
            </a:fld>
            <a:endParaRPr lang="en-IN"/>
          </a:p>
        </p:txBody>
      </p:sp>
      <p:sp>
        <p:nvSpPr>
          <p:cNvPr id="10" name="Footer Placeholder 9"/>
          <p:cNvSpPr>
            <a:spLocks noGrp="1"/>
          </p:cNvSpPr>
          <p:nvPr>
            <p:ph type="ftr" sz="quarter" idx="3"/>
          </p:nvPr>
        </p:nvSpPr>
        <p:spPr>
          <a:xfrm>
            <a:off x="7618015" y="6305550"/>
            <a:ext cx="3859795"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r>
              <a:rPr lang="en-IN"/>
              <a:t>Department of Computer Engineering</a:t>
            </a:r>
          </a:p>
        </p:txBody>
      </p:sp>
      <p:sp>
        <p:nvSpPr>
          <p:cNvPr id="22" name="Slide Number Placeholder 21"/>
          <p:cNvSpPr>
            <a:spLocks noGrp="1"/>
          </p:cNvSpPr>
          <p:nvPr>
            <p:ph type="sldNum" sz="quarter" idx="4"/>
          </p:nvPr>
        </p:nvSpPr>
        <p:spPr>
          <a:xfrm>
            <a:off x="11481873" y="6305550"/>
            <a:ext cx="609441"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56E39993-3455-456D-B76B-54420194FCFA}" type="slidenum">
              <a:rPr lang="en-IN" smtClean="0"/>
              <a:pPr/>
              <a:t>‹#›</a:t>
            </a:fld>
            <a:endParaRPr lang="en-IN"/>
          </a:p>
        </p:txBody>
      </p:sp>
      <p:sp>
        <p:nvSpPr>
          <p:cNvPr id="15" name="Rectangle 14"/>
          <p:cNvSpPr/>
          <p:nvPr/>
        </p:nvSpPr>
        <p:spPr bwMode="invGray">
          <a:xfrm>
            <a:off x="1352959" y="-54"/>
            <a:ext cx="97511"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Lst>
  <p:transition/>
  <p:hf hd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8635"/>
        <p:cNvGrpSpPr/>
        <p:nvPr/>
      </p:nvGrpSpPr>
      <p:grpSpPr>
        <a:xfrm>
          <a:off x="0" y="0"/>
          <a:ext cx="0" cy="0"/>
          <a:chOff x="0" y="0"/>
          <a:chExt cx="0" cy="0"/>
        </a:xfrm>
      </p:grpSpPr>
      <p:graphicFrame>
        <p:nvGraphicFramePr>
          <p:cNvPr id="1048636" name="Google Shape;1048636;p1"/>
          <p:cNvGraphicFramePr/>
          <p:nvPr/>
        </p:nvGraphicFramePr>
        <p:xfrm>
          <a:off x="1485900" y="188640"/>
          <a:ext cx="10225125" cy="1800200"/>
        </p:xfrm>
        <a:graphic>
          <a:graphicData uri="http://schemas.openxmlformats.org/drawingml/2006/table">
            <a:tbl>
              <a:tblPr>
                <a:noFill/>
                <a:tableStyleId>{1CCE372E-ECD7-4A1C-B22A-9EB5CF0A707A}</a:tableStyleId>
              </a:tblPr>
              <a:tblGrid>
                <a:gridCol w="1656175">
                  <a:extLst>
                    <a:ext uri="{9D8B030D-6E8A-4147-A177-3AD203B41FA5}">
                      <a16:colId xmlns:a16="http://schemas.microsoft.com/office/drawing/2014/main" val="20000"/>
                    </a:ext>
                  </a:extLst>
                </a:gridCol>
                <a:gridCol w="6984775">
                  <a:extLst>
                    <a:ext uri="{9D8B030D-6E8A-4147-A177-3AD203B41FA5}">
                      <a16:colId xmlns:a16="http://schemas.microsoft.com/office/drawing/2014/main" val="20001"/>
                    </a:ext>
                  </a:extLst>
                </a:gridCol>
                <a:gridCol w="1584175">
                  <a:extLst>
                    <a:ext uri="{9D8B030D-6E8A-4147-A177-3AD203B41FA5}">
                      <a16:colId xmlns:a16="http://schemas.microsoft.com/office/drawing/2014/main" val="20002"/>
                    </a:ext>
                  </a:extLst>
                </a:gridCol>
              </a:tblGrid>
              <a:tr h="1800200">
                <a:tc>
                  <a:txBody>
                    <a:bodyPr/>
                    <a:lstStyle/>
                    <a:p>
                      <a:pPr marL="0" marR="0" lvl="0" indent="0" algn="ctr" rtl="0">
                        <a:lnSpc>
                          <a:spcPct val="115000"/>
                        </a:lnSpc>
                        <a:spcBef>
                          <a:spcPts val="0"/>
                        </a:spcBef>
                        <a:spcAft>
                          <a:spcPts val="0"/>
                        </a:spcAft>
                        <a:buNone/>
                        <a:defRPr sz="1400" b="0" i="0" u="none" strike="noStrike" cap="none">
                          <a:solidFill>
                            <a:srgbClr val="000000"/>
                          </a:solidFill>
                          <a:latin typeface="Arial"/>
                          <a:ea typeface="Arial"/>
                          <a:cs typeface="Arial"/>
                          <a:sym typeface="Arial"/>
                        </a:defRPr>
                      </a:pPr>
                      <a:endParaRPr sz="100" u="none" strike="noStrike" cap="none" dirty="0">
                        <a:latin typeface="Times New Roman"/>
                        <a:ea typeface="Times New Roman"/>
                        <a:cs typeface="Times New Roman"/>
                        <a:sym typeface="Times New Roman"/>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defRPr sz="1400" b="0" i="0" u="none" strike="noStrike" cap="none">
                          <a:solidFill>
                            <a:srgbClr val="000000"/>
                          </a:solidFill>
                          <a:latin typeface="Arial"/>
                          <a:ea typeface="Arial"/>
                          <a:cs typeface="Arial"/>
                          <a:sym typeface="Arial"/>
                        </a:defRPr>
                      </a:pPr>
                      <a:r>
                        <a:rPr lang="en-US" sz="2000" b="1" u="none" strike="noStrike" cap="none" dirty="0">
                          <a:latin typeface="Times New Roman"/>
                          <a:ea typeface="Times New Roman"/>
                          <a:cs typeface="Times New Roman"/>
                          <a:sym typeface="Times New Roman"/>
                        </a:rPr>
                        <a:t>ZEAL EDUCATION SOCIETY’S</a:t>
                      </a:r>
                      <a:endParaRPr sz="2000" u="none" strike="noStrike" cap="none" dirty="0">
                        <a:latin typeface="Times New Roman"/>
                        <a:ea typeface="Times New Roman"/>
                        <a:cs typeface="Times New Roman"/>
                        <a:sym typeface="Times New Roman"/>
                      </a:endParaRPr>
                    </a:p>
                    <a:p>
                      <a:pPr marL="0" marR="0" lvl="0" indent="0" algn="ctr" rtl="0">
                        <a:lnSpc>
                          <a:spcPct val="115000"/>
                        </a:lnSpc>
                        <a:spcBef>
                          <a:spcPts val="0"/>
                        </a:spcBef>
                        <a:spcAft>
                          <a:spcPts val="0"/>
                        </a:spcAft>
                        <a:buNone/>
                        <a:defRPr sz="1400" b="0" i="0" u="none" strike="noStrike" cap="none">
                          <a:solidFill>
                            <a:srgbClr val="000000"/>
                          </a:solidFill>
                          <a:latin typeface="Arial"/>
                          <a:ea typeface="Arial"/>
                          <a:cs typeface="Arial"/>
                          <a:sym typeface="Arial"/>
                        </a:defRPr>
                      </a:pPr>
                      <a:r>
                        <a:rPr lang="en-US" sz="2000" b="1" u="none" strike="noStrike" cap="none" dirty="0">
                          <a:latin typeface="Times New Roman"/>
                          <a:ea typeface="Times New Roman"/>
                          <a:cs typeface="Times New Roman"/>
                          <a:sym typeface="Times New Roman"/>
                        </a:rPr>
                        <a:t>ZEAL COLLEGE OF ENGINEERING AND RESEARCH</a:t>
                      </a:r>
                      <a:endParaRPr sz="2000" u="none" strike="noStrike" cap="none" dirty="0">
                        <a:latin typeface="Times New Roman"/>
                        <a:ea typeface="Times New Roman"/>
                        <a:cs typeface="Times New Roman"/>
                        <a:sym typeface="Times New Roman"/>
                      </a:endParaRPr>
                    </a:p>
                    <a:p>
                      <a:pPr marL="0" marR="0" lvl="0" indent="0" algn="ctr" rtl="0">
                        <a:lnSpc>
                          <a:spcPct val="115000"/>
                        </a:lnSpc>
                        <a:spcBef>
                          <a:spcPts val="0"/>
                        </a:spcBef>
                        <a:spcAft>
                          <a:spcPts val="0"/>
                        </a:spcAft>
                        <a:buNone/>
                        <a:defRPr sz="1400" b="0" i="0" u="none" strike="noStrike" cap="none">
                          <a:solidFill>
                            <a:srgbClr val="000000"/>
                          </a:solidFill>
                          <a:latin typeface="Arial"/>
                          <a:ea typeface="Arial"/>
                          <a:cs typeface="Arial"/>
                          <a:sym typeface="Arial"/>
                        </a:defRPr>
                      </a:pPr>
                      <a:r>
                        <a:rPr lang="en-US" sz="2000" b="1" u="none" strike="noStrike" cap="none" dirty="0">
                          <a:latin typeface="Times New Roman"/>
                          <a:ea typeface="Times New Roman"/>
                          <a:cs typeface="Times New Roman"/>
                          <a:sym typeface="Times New Roman"/>
                        </a:rPr>
                        <a:t>NARHE │PUNE -41 │ INDIA</a:t>
                      </a:r>
                      <a:endParaRPr sz="2000" b="1" u="none" strike="noStrike" cap="none" dirty="0">
                        <a:latin typeface="Times New Roman"/>
                        <a:ea typeface="Times New Roman"/>
                        <a:cs typeface="Times New Roman"/>
                        <a:sym typeface="Times New Roman"/>
                      </a:endParaRPr>
                    </a:p>
                    <a:p>
                      <a:pPr marL="0" marR="0" lvl="0" indent="0" algn="ctr" rtl="0">
                        <a:lnSpc>
                          <a:spcPct val="115000"/>
                        </a:lnSpc>
                        <a:spcBef>
                          <a:spcPts val="0"/>
                        </a:spcBef>
                        <a:spcAft>
                          <a:spcPts val="0"/>
                        </a:spcAft>
                        <a:buNone/>
                        <a:defRPr sz="1400" b="0" i="0" u="none" strike="noStrike" cap="none">
                          <a:solidFill>
                            <a:srgbClr val="000000"/>
                          </a:solidFill>
                          <a:latin typeface="Arial"/>
                          <a:ea typeface="Arial"/>
                          <a:cs typeface="Arial"/>
                          <a:sym typeface="Arial"/>
                        </a:defRPr>
                      </a:pPr>
                      <a:r>
                        <a:rPr lang="en-US" sz="2400" b="1" u="none" strike="noStrike" cap="none" dirty="0">
                          <a:latin typeface="Times New Roman"/>
                          <a:ea typeface="Times New Roman"/>
                          <a:cs typeface="Times New Roman"/>
                          <a:sym typeface="Times New Roman"/>
                        </a:rPr>
                        <a:t> DEPARTMENT OF COMPUTER ENGINEERING</a:t>
                      </a:r>
                      <a:endParaRPr sz="2400" b="1" u="none" strike="noStrike" cap="none" dirty="0">
                        <a:latin typeface="Times New Roman"/>
                        <a:ea typeface="Times New Roman"/>
                        <a:cs typeface="Times New Roman"/>
                        <a:sym typeface="Times New Roman"/>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defRPr sz="1400" b="0" i="0" u="none" strike="noStrike" cap="none">
                          <a:solidFill>
                            <a:srgbClr val="000000"/>
                          </a:solidFill>
                          <a:latin typeface="Arial"/>
                          <a:ea typeface="Arial"/>
                          <a:cs typeface="Arial"/>
                          <a:sym typeface="Arial"/>
                        </a:defRPr>
                      </a:pPr>
                      <a:endParaRPr sz="1200" u="none" strike="noStrike" cap="none">
                        <a:latin typeface="Times New Roman"/>
                        <a:ea typeface="Times New Roman"/>
                        <a:cs typeface="Times New Roman"/>
                        <a:sym typeface="Times New Roman"/>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048637" name="Google Shape;1048637;p1" descr="Image result for ZCOER"/>
          <p:cNvPicPr preferRelativeResize="0"/>
          <p:nvPr/>
        </p:nvPicPr>
        <p:blipFill rotWithShape="1">
          <a:blip r:embed="rId3">
            <a:alphaModFix/>
          </a:blip>
          <a:srcRect/>
          <a:stretch/>
        </p:blipFill>
        <p:spPr>
          <a:xfrm>
            <a:off x="1629918" y="476672"/>
            <a:ext cx="1512167" cy="1512168"/>
          </a:xfrm>
          <a:prstGeom prst="rect">
            <a:avLst/>
          </a:prstGeom>
          <a:noFill/>
          <a:ln>
            <a:noFill/>
          </a:ln>
        </p:spPr>
      </p:pic>
      <p:pic>
        <p:nvPicPr>
          <p:cNvPr id="1048638" name="Google Shape;1048638;p1" descr="Zeal 25 Years Logo"/>
          <p:cNvPicPr preferRelativeResize="0"/>
          <p:nvPr/>
        </p:nvPicPr>
        <p:blipFill rotWithShape="1">
          <a:blip r:embed="rId4">
            <a:alphaModFix/>
          </a:blip>
          <a:srcRect/>
          <a:stretch/>
        </p:blipFill>
        <p:spPr>
          <a:xfrm>
            <a:off x="10270877" y="548680"/>
            <a:ext cx="1152128" cy="1368152"/>
          </a:xfrm>
          <a:prstGeom prst="rect">
            <a:avLst/>
          </a:prstGeom>
          <a:noFill/>
          <a:ln>
            <a:noFill/>
          </a:ln>
        </p:spPr>
      </p:pic>
      <p:sp>
        <p:nvSpPr>
          <p:cNvPr id="1048639" name="Google Shape;1048639;p1"/>
          <p:cNvSpPr txBox="1"/>
          <p:nvPr/>
        </p:nvSpPr>
        <p:spPr>
          <a:xfrm>
            <a:off x="1557908" y="1988840"/>
            <a:ext cx="101532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dirty="0">
                <a:solidFill>
                  <a:schemeClr val="dk1"/>
                </a:solidFill>
                <a:latin typeface="Times New Roman"/>
                <a:ea typeface="Times New Roman"/>
                <a:cs typeface="Times New Roman"/>
                <a:sym typeface="Times New Roman"/>
              </a:rPr>
              <a:t>             Academic Year: 2025-2026       		                                   Semester: I</a:t>
            </a:r>
            <a:endParaRPr sz="2000" b="1" dirty="0">
              <a:solidFill>
                <a:schemeClr val="dk1"/>
              </a:solidFill>
              <a:latin typeface="Times New Roman"/>
              <a:ea typeface="Times New Roman"/>
              <a:cs typeface="Times New Roman"/>
              <a:sym typeface="Times New Roman"/>
            </a:endParaRPr>
          </a:p>
        </p:txBody>
      </p:sp>
      <p:sp>
        <p:nvSpPr>
          <p:cNvPr id="1048640" name="Google Shape;1048640;p1"/>
          <p:cNvSpPr txBox="1"/>
          <p:nvPr/>
        </p:nvSpPr>
        <p:spPr>
          <a:xfrm>
            <a:off x="1521862" y="2408278"/>
            <a:ext cx="10153200" cy="347783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dirty="0">
                <a:solidFill>
                  <a:schemeClr val="dk1"/>
                </a:solidFill>
                <a:latin typeface="Times New Roman"/>
                <a:ea typeface="Times New Roman"/>
                <a:cs typeface="Times New Roman"/>
                <a:sym typeface="Times New Roman"/>
              </a:rPr>
              <a:t>Project Stage-0 </a:t>
            </a:r>
            <a:endParaRPr lang="en-IN" sz="2000"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lang="en-IN" sz="2000"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000" dirty="0">
                <a:solidFill>
                  <a:schemeClr val="dk1"/>
                </a:solidFill>
                <a:latin typeface="Times New Roman"/>
                <a:ea typeface="Times New Roman"/>
                <a:cs typeface="Times New Roman"/>
                <a:sym typeface="Times New Roman"/>
              </a:rPr>
              <a:t>Presented By:</a:t>
            </a:r>
          </a:p>
          <a:p>
            <a:pPr marL="0" marR="0" lvl="0" indent="0" algn="ctr" rtl="0">
              <a:spcBef>
                <a:spcPts val="0"/>
              </a:spcBef>
              <a:spcAft>
                <a:spcPts val="0"/>
              </a:spcAft>
              <a:buNone/>
            </a:pPr>
            <a:r>
              <a:rPr lang="en-US" sz="2000" dirty="0">
                <a:solidFill>
                  <a:schemeClr val="dk1"/>
                </a:solidFill>
                <a:latin typeface="Times New Roman"/>
                <a:ea typeface="Times New Roman"/>
                <a:cs typeface="Times New Roman"/>
                <a:sym typeface="Times New Roman"/>
              </a:rPr>
              <a:t> </a:t>
            </a:r>
            <a:endParaRPr dirty="0"/>
          </a:p>
          <a:p>
            <a:pPr marL="0" marR="0" lvl="0" indent="0" algn="ctr"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000" b="1" dirty="0">
                <a:solidFill>
                  <a:schemeClr val="dk1"/>
                </a:solidFill>
                <a:latin typeface="Times New Roman"/>
                <a:ea typeface="Times New Roman"/>
                <a:cs typeface="Times New Roman"/>
                <a:sym typeface="Times New Roman"/>
              </a:rPr>
              <a:t>GROUP NO. - 16 </a:t>
            </a:r>
            <a:endParaRPr sz="2000" b="1" dirty="0">
              <a:solidFill>
                <a:schemeClr val="dk1"/>
              </a:solidFill>
              <a:latin typeface="Times New Roman"/>
              <a:ea typeface="Times New Roman"/>
              <a:cs typeface="Times New Roman"/>
              <a:sym typeface="Times New Roman"/>
            </a:endParaRPr>
          </a:p>
        </p:txBody>
      </p:sp>
      <p:sp>
        <p:nvSpPr>
          <p:cNvPr id="1048641" name="Google Shape;1048641;p1"/>
          <p:cNvSpPr txBox="1">
            <a:spLocks noGrp="1"/>
          </p:cNvSpPr>
          <p:nvPr>
            <p:ph type="ftr" idx="11"/>
          </p:nvPr>
        </p:nvSpPr>
        <p:spPr>
          <a:xfrm>
            <a:off x="1485900" y="6381328"/>
            <a:ext cx="3859800" cy="291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1400">
                <a:solidFill>
                  <a:schemeClr val="dk1"/>
                </a:solidFill>
                <a:latin typeface="Times New Roman"/>
                <a:ea typeface="Times New Roman"/>
                <a:cs typeface="Times New Roman"/>
                <a:sym typeface="Times New Roman"/>
              </a:rPr>
              <a:t>Department of Computer Engineering</a:t>
            </a:r>
            <a:endParaRPr/>
          </a:p>
        </p:txBody>
      </p:sp>
      <p:sp>
        <p:nvSpPr>
          <p:cNvPr id="1048642" name="Google Shape;1048642;p1"/>
          <p:cNvSpPr txBox="1">
            <a:spLocks noGrp="1"/>
          </p:cNvSpPr>
          <p:nvPr>
            <p:ph type="sldNum" idx="12"/>
          </p:nvPr>
        </p:nvSpPr>
        <p:spPr>
          <a:xfrm>
            <a:off x="11481873" y="6305550"/>
            <a:ext cx="609300" cy="4764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a:t>
            </a:fld>
            <a:endParaRPr/>
          </a:p>
        </p:txBody>
      </p:sp>
      <p:graphicFrame>
        <p:nvGraphicFramePr>
          <p:cNvPr id="1048643" name="Google Shape;1048643;p1"/>
          <p:cNvGraphicFramePr/>
          <p:nvPr>
            <p:extLst>
              <p:ext uri="{D42A27DB-BD31-4B8C-83A1-F6EECF244321}">
                <p14:modId xmlns:p14="http://schemas.microsoft.com/office/powerpoint/2010/main" val="16165207"/>
              </p:ext>
            </p:extLst>
          </p:nvPr>
        </p:nvGraphicFramePr>
        <p:xfrm>
          <a:off x="3358150" y="3429000"/>
          <a:ext cx="6408700" cy="1944250"/>
        </p:xfrm>
        <a:graphic>
          <a:graphicData uri="http://schemas.openxmlformats.org/drawingml/2006/table">
            <a:tbl>
              <a:tblPr firstRow="1" bandRow="1">
                <a:noFill/>
                <a:tableStyleId>{51153E5F-1116-4281-9A61-3A002BC911FA}</a:tableStyleId>
              </a:tblPr>
              <a:tblGrid>
                <a:gridCol w="624700">
                  <a:extLst>
                    <a:ext uri="{9D8B030D-6E8A-4147-A177-3AD203B41FA5}">
                      <a16:colId xmlns:a16="http://schemas.microsoft.com/office/drawing/2014/main" val="20000"/>
                    </a:ext>
                  </a:extLst>
                </a:gridCol>
                <a:gridCol w="3695775">
                  <a:extLst>
                    <a:ext uri="{9D8B030D-6E8A-4147-A177-3AD203B41FA5}">
                      <a16:colId xmlns:a16="http://schemas.microsoft.com/office/drawing/2014/main" val="20001"/>
                    </a:ext>
                  </a:extLst>
                </a:gridCol>
                <a:gridCol w="2088225">
                  <a:extLst>
                    <a:ext uri="{9D8B030D-6E8A-4147-A177-3AD203B41FA5}">
                      <a16:colId xmlns:a16="http://schemas.microsoft.com/office/drawing/2014/main" val="20002"/>
                    </a:ext>
                  </a:extLst>
                </a:gridCol>
              </a:tblGrid>
              <a:tr h="388850">
                <a:tc>
                  <a:txBody>
                    <a:bodyPr/>
                    <a:lstStyle/>
                    <a:p>
                      <a:pPr marL="0" marR="0" lvl="0" indent="0" algn="ctr" rtl="0">
                        <a:lnSpc>
                          <a:spcPct val="100000"/>
                        </a:lnSpc>
                        <a:spcBef>
                          <a:spcPts val="0"/>
                        </a:spcBef>
                        <a:spcAft>
                          <a:spcPts val="0"/>
                        </a:spcAft>
                        <a:buNone/>
                        <a:defRPr sz="1400" u="none" strike="noStrike" cap="none"/>
                      </a:pPr>
                      <a:r>
                        <a:rPr lang="en-US" sz="1600" u="none" strike="noStrike" cap="none">
                          <a:solidFill>
                            <a:schemeClr val="dk1"/>
                          </a:solidFill>
                          <a:latin typeface="Times New Roman"/>
                          <a:ea typeface="Times New Roman"/>
                          <a:cs typeface="Times New Roman"/>
                          <a:sym typeface="Times New Roman"/>
                        </a:rPr>
                        <a:t>S.N.</a:t>
                      </a:r>
                      <a:endParaRPr sz="160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0CD"/>
                    </a:solidFill>
                  </a:tcPr>
                </a:tc>
                <a:tc>
                  <a:txBody>
                    <a:bodyPr/>
                    <a:lstStyle/>
                    <a:p>
                      <a:pPr marL="0" marR="0" lvl="0" indent="0" algn="ctr" rtl="0">
                        <a:lnSpc>
                          <a:spcPct val="100000"/>
                        </a:lnSpc>
                        <a:spcBef>
                          <a:spcPts val="0"/>
                        </a:spcBef>
                        <a:spcAft>
                          <a:spcPts val="0"/>
                        </a:spcAft>
                        <a:buNone/>
                        <a:defRPr sz="1400" u="none" strike="noStrike" cap="none"/>
                      </a:pPr>
                      <a:r>
                        <a:rPr lang="en-US" sz="1600" u="none" strike="noStrike" cap="none" dirty="0">
                          <a:solidFill>
                            <a:schemeClr val="dk1"/>
                          </a:solidFill>
                          <a:latin typeface="Times New Roman"/>
                          <a:ea typeface="Times New Roman"/>
                          <a:cs typeface="Times New Roman"/>
                          <a:sym typeface="Times New Roman"/>
                        </a:rPr>
                        <a:t>Name of the student</a:t>
                      </a:r>
                      <a:endParaRPr sz="1600" u="none" strike="noStrike" cap="none" dirty="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0CD"/>
                    </a:solidFill>
                  </a:tcPr>
                </a:tc>
                <a:tc>
                  <a:txBody>
                    <a:bodyPr/>
                    <a:lstStyle/>
                    <a:p>
                      <a:pPr marL="0" marR="0" lvl="0" indent="0" algn="ctr" rtl="0">
                        <a:lnSpc>
                          <a:spcPct val="100000"/>
                        </a:lnSpc>
                        <a:spcBef>
                          <a:spcPts val="0"/>
                        </a:spcBef>
                        <a:spcAft>
                          <a:spcPts val="0"/>
                        </a:spcAft>
                        <a:buNone/>
                        <a:defRPr sz="1400" u="none" strike="noStrike" cap="none"/>
                      </a:pPr>
                      <a:r>
                        <a:rPr lang="en-US" sz="1600" u="none" strike="noStrike" cap="none">
                          <a:solidFill>
                            <a:schemeClr val="dk1"/>
                          </a:solidFill>
                          <a:latin typeface="Times New Roman"/>
                          <a:ea typeface="Times New Roman"/>
                          <a:cs typeface="Times New Roman"/>
                          <a:sym typeface="Times New Roman"/>
                        </a:rPr>
                        <a:t>Roll No</a:t>
                      </a:r>
                      <a:endParaRPr sz="160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0CD"/>
                    </a:solidFill>
                  </a:tcPr>
                </a:tc>
                <a:extLst>
                  <a:ext uri="{0D108BD9-81ED-4DB2-BD59-A6C34878D82A}">
                    <a16:rowId xmlns:a16="http://schemas.microsoft.com/office/drawing/2014/main" val="10000"/>
                  </a:ext>
                </a:extLst>
              </a:tr>
              <a:tr h="388850">
                <a:tc>
                  <a:txBody>
                    <a:bodyPr/>
                    <a:lstStyle/>
                    <a:p>
                      <a:pPr marL="0" marR="0" lvl="0" indent="0" algn="ctr" rtl="0">
                        <a:lnSpc>
                          <a:spcPct val="100000"/>
                        </a:lnSpc>
                        <a:spcBef>
                          <a:spcPts val="0"/>
                        </a:spcBef>
                        <a:spcAft>
                          <a:spcPts val="0"/>
                        </a:spcAft>
                        <a:buNone/>
                        <a:defRPr sz="1400" u="none" strike="noStrike" cap="none"/>
                      </a:pPr>
                      <a:r>
                        <a:rPr lang="en-US" sz="1600" u="none" strike="noStrike" cap="none">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imes New Roman"/>
                        <a:buNone/>
                        <a:defRPr sz="1400" u="none" strike="noStrike" cap="none"/>
                      </a:pPr>
                      <a:r>
                        <a:rPr lang="en-US" sz="1600" u="none" strike="noStrike" cap="none" dirty="0">
                          <a:latin typeface="Times New Roman"/>
                          <a:ea typeface="Times New Roman"/>
                          <a:cs typeface="Times New Roman"/>
                          <a:sym typeface="Times New Roman"/>
                        </a:rPr>
                        <a:t>Mr. Jenil Girish Rathod</a:t>
                      </a:r>
                      <a:endParaRPr sz="1600" u="none" strike="noStrike" cap="none" dirty="0">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defRPr sz="1400" u="none" strike="noStrike" cap="none"/>
                      </a:pPr>
                      <a:r>
                        <a:rPr lang="en-US" sz="1600" u="none" strike="noStrike" cap="none" dirty="0">
                          <a:latin typeface="Times New Roman"/>
                          <a:ea typeface="Times New Roman"/>
                          <a:cs typeface="Times New Roman"/>
                          <a:sym typeface="Times New Roman"/>
                        </a:rPr>
                        <a:t>B22009</a:t>
                      </a:r>
                      <a:endParaRPr sz="1600" u="none" strike="noStrike" cap="none" dirty="0">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88850">
                <a:tc>
                  <a:txBody>
                    <a:bodyPr/>
                    <a:lstStyle/>
                    <a:p>
                      <a:pPr marL="0" marR="0" lvl="0" indent="0" algn="ctr" rtl="0">
                        <a:lnSpc>
                          <a:spcPct val="100000"/>
                        </a:lnSpc>
                        <a:spcBef>
                          <a:spcPts val="0"/>
                        </a:spcBef>
                        <a:spcAft>
                          <a:spcPts val="0"/>
                        </a:spcAft>
                        <a:buClr>
                          <a:schemeClr val="dk1"/>
                        </a:buClr>
                        <a:buSzPts val="1600"/>
                        <a:buFont typeface="Times New Roman"/>
                        <a:buNone/>
                        <a:defRPr sz="1400" u="none" strike="noStrike" cap="none"/>
                      </a:pPr>
                      <a:r>
                        <a:rPr lang="en-US" sz="1600" u="none" strike="noStrike" cap="none">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imes New Roman"/>
                        <a:buNone/>
                        <a:defRPr sz="1400" u="none" strike="noStrike" cap="none"/>
                      </a:pPr>
                      <a:r>
                        <a:rPr lang="en-US" sz="1600" u="none" strike="noStrike" cap="none" dirty="0">
                          <a:latin typeface="Times New Roman"/>
                          <a:ea typeface="Times New Roman"/>
                          <a:cs typeface="Times New Roman"/>
                          <a:sym typeface="Times New Roman"/>
                        </a:rPr>
                        <a:t>Mr. Manas Ballal Joshi</a:t>
                      </a:r>
                      <a:endParaRPr sz="1600" u="none" strike="noStrike" cap="none" dirty="0">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defRPr sz="1400" u="none" strike="noStrike" cap="none"/>
                      </a:pPr>
                      <a:r>
                        <a:rPr lang="en-US" sz="1600" u="none" strike="noStrike" cap="none" dirty="0">
                          <a:latin typeface="Times New Roman"/>
                          <a:ea typeface="Times New Roman"/>
                          <a:cs typeface="Times New Roman"/>
                          <a:sym typeface="Times New Roman"/>
                        </a:rPr>
                        <a:t>B22011</a:t>
                      </a:r>
                      <a:endParaRPr sz="1600" u="none" strike="noStrike" cap="none" dirty="0">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88850">
                <a:tc>
                  <a:txBody>
                    <a:bodyPr/>
                    <a:lstStyle/>
                    <a:p>
                      <a:pPr marL="0" marR="0" lvl="0" indent="0" algn="ctr" rtl="0">
                        <a:lnSpc>
                          <a:spcPct val="100000"/>
                        </a:lnSpc>
                        <a:spcBef>
                          <a:spcPts val="0"/>
                        </a:spcBef>
                        <a:spcAft>
                          <a:spcPts val="0"/>
                        </a:spcAft>
                        <a:buClr>
                          <a:schemeClr val="dk1"/>
                        </a:buClr>
                        <a:buSzPts val="1600"/>
                        <a:buFont typeface="Times New Roman"/>
                        <a:buNone/>
                        <a:defRPr sz="1400" u="none" strike="noStrike" cap="none"/>
                      </a:pPr>
                      <a:r>
                        <a:rPr lang="en-US" sz="1600" u="none" strike="noStrike" cap="none" dirty="0">
                          <a:latin typeface="Times New Roman"/>
                          <a:ea typeface="Times New Roman"/>
                          <a:cs typeface="Times New Roman"/>
                          <a:sym typeface="Times New Roman"/>
                        </a:rPr>
                        <a:t>3.</a:t>
                      </a:r>
                      <a:endParaRPr sz="1600" u="none" strike="noStrike" cap="none" dirty="0">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imes New Roman"/>
                        <a:buNone/>
                        <a:defRPr sz="1400" u="none" strike="noStrike" cap="none"/>
                      </a:pPr>
                      <a:r>
                        <a:rPr lang="en-US" sz="1600" u="none" strike="noStrike" cap="none" dirty="0">
                          <a:latin typeface="Times New Roman"/>
                          <a:ea typeface="Times New Roman"/>
                          <a:cs typeface="Times New Roman"/>
                          <a:sym typeface="Times New Roman"/>
                        </a:rPr>
                        <a:t>Ms. Saloni Mahesh Naik</a:t>
                      </a:r>
                      <a:endParaRPr sz="1600" u="none" strike="noStrike" cap="none" dirty="0">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defRPr sz="1400" u="none" strike="noStrike" cap="none"/>
                      </a:pPr>
                      <a:r>
                        <a:rPr lang="en-US" sz="1600" u="none" strike="noStrike" cap="none" dirty="0">
                          <a:latin typeface="Times New Roman"/>
                          <a:ea typeface="Times New Roman"/>
                          <a:cs typeface="Times New Roman"/>
                          <a:sym typeface="Times New Roman"/>
                        </a:rPr>
                        <a:t>B22051</a:t>
                      </a:r>
                      <a:endParaRPr sz="1600" u="none" strike="noStrike" cap="none" dirty="0">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88850">
                <a:tc>
                  <a:txBody>
                    <a:bodyPr/>
                    <a:lstStyle/>
                    <a:p>
                      <a:pPr marL="0" marR="0" lvl="0" indent="0" algn="ctr" rtl="0">
                        <a:lnSpc>
                          <a:spcPct val="100000"/>
                        </a:lnSpc>
                        <a:spcBef>
                          <a:spcPts val="0"/>
                        </a:spcBef>
                        <a:spcAft>
                          <a:spcPts val="0"/>
                        </a:spcAft>
                        <a:buClr>
                          <a:schemeClr val="dk1"/>
                        </a:buClr>
                        <a:buSzPts val="1600"/>
                        <a:buFont typeface="Times New Roman"/>
                        <a:buNone/>
                        <a:defRPr sz="1400" u="none" strike="noStrike" cap="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imes New Roman"/>
                        <a:buNone/>
                        <a:defRPr sz="1400" u="none" strike="noStrike" cap="none"/>
                      </a:pPr>
                      <a:r>
                        <a:rPr lang="en-US" sz="1600" u="none" strike="noStrike" cap="none" dirty="0">
                          <a:latin typeface="Times New Roman"/>
                          <a:ea typeface="Times New Roman"/>
                          <a:cs typeface="Times New Roman"/>
                          <a:sym typeface="Times New Roman"/>
                        </a:rPr>
                        <a:t>Mr. Aditya Sunil Nalla</a:t>
                      </a:r>
                      <a:endParaRPr sz="1600" u="none" strike="noStrike" cap="none" dirty="0">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defRPr sz="1400" u="none" strike="noStrike" cap="none"/>
                      </a:pPr>
                      <a:r>
                        <a:rPr lang="en-US" sz="1600" u="none" strike="noStrike" cap="none" dirty="0">
                          <a:latin typeface="Times New Roman"/>
                          <a:ea typeface="Times New Roman"/>
                          <a:cs typeface="Times New Roman"/>
                          <a:sym typeface="Times New Roman"/>
                        </a:rPr>
                        <a:t>B22053</a:t>
                      </a:r>
                      <a:endParaRPr sz="1600" u="none" strike="noStrike" cap="none" dirty="0">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413892" y="260648"/>
            <a:ext cx="9759198" cy="70609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IN" sz="6000" b="1" dirty="0">
                <a:solidFill>
                  <a:schemeClr val="bg2">
                    <a:lumMod val="10000"/>
                  </a:schemeClr>
                </a:solidFill>
                <a:latin typeface="Times New Roman" pitchFamily="18" charset="0"/>
                <a:cs typeface="Times New Roman" pitchFamily="18" charset="0"/>
              </a:rPr>
              <a:t>  </a:t>
            </a:r>
            <a:r>
              <a:rPr lang="en-US" sz="4000" b="1" dirty="0">
                <a:solidFill>
                  <a:schemeClr val="tx1"/>
                </a:solidFill>
                <a:latin typeface="Times New Roman" pitchFamily="18" charset="0"/>
                <a:cs typeface="Times New Roman" pitchFamily="18" charset="0"/>
              </a:rPr>
              <a:t>Abstract-1</a:t>
            </a:r>
            <a:endParaRPr lang="en-IN" sz="4000" b="1" dirty="0">
              <a:solidFill>
                <a:schemeClr val="tx1"/>
              </a:solidFill>
              <a:latin typeface="Times New Roman" pitchFamily="18" charset="0"/>
              <a:cs typeface="Times New Roman" pitchFamily="18" charset="0"/>
            </a:endParaRPr>
          </a:p>
        </p:txBody>
      </p:sp>
      <p:sp>
        <p:nvSpPr>
          <p:cNvPr id="8" name="Footer Placeholder 7"/>
          <p:cNvSpPr>
            <a:spLocks noGrp="1"/>
          </p:cNvSpPr>
          <p:nvPr>
            <p:ph type="ftr" sz="quarter" idx="11"/>
          </p:nvPr>
        </p:nvSpPr>
        <p:spPr>
          <a:xfrm>
            <a:off x="1275209" y="6305550"/>
            <a:ext cx="3859795" cy="476250"/>
          </a:xfrm>
        </p:spPr>
        <p:txBody>
          <a:bodyPr/>
          <a:lstStyle/>
          <a:p>
            <a:r>
              <a:rPr lang="en-IN" sz="1400" dirty="0">
                <a:solidFill>
                  <a:schemeClr val="tx1"/>
                </a:solidFill>
                <a:latin typeface="Times New Roman" pitchFamily="18" charset="0"/>
                <a:cs typeface="Times New Roman" pitchFamily="18" charset="0"/>
              </a:rPr>
              <a:t>Department of Computer Engineering</a:t>
            </a:r>
          </a:p>
        </p:txBody>
      </p:sp>
      <p:sp>
        <p:nvSpPr>
          <p:cNvPr id="9" name="Slide Number Placeholder 8"/>
          <p:cNvSpPr>
            <a:spLocks noGrp="1"/>
          </p:cNvSpPr>
          <p:nvPr>
            <p:ph type="sldNum" sz="quarter" idx="12"/>
          </p:nvPr>
        </p:nvSpPr>
        <p:spPr/>
        <p:txBody>
          <a:bodyPr/>
          <a:lstStyle/>
          <a:p>
            <a:fld id="{56E39993-3455-456D-B76B-54420194FCFA}" type="slidenum">
              <a:rPr lang="en-IN" smtClean="0"/>
              <a:pPr/>
              <a:t>2</a:t>
            </a:fld>
            <a:endParaRPr lang="en-IN"/>
          </a:p>
        </p:txBody>
      </p:sp>
      <p:sp>
        <p:nvSpPr>
          <p:cNvPr id="3" name="Content Placeholder 2">
            <a:extLst>
              <a:ext uri="{FF2B5EF4-FFF2-40B4-BE49-F238E27FC236}">
                <a16:creationId xmlns:a16="http://schemas.microsoft.com/office/drawing/2014/main" id="{CCF4D2BC-DD15-09F3-C4C3-9A13A11EFDE1}"/>
              </a:ext>
            </a:extLst>
          </p:cNvPr>
          <p:cNvSpPr>
            <a:spLocks noGrp="1" noChangeArrowheads="1"/>
          </p:cNvSpPr>
          <p:nvPr>
            <p:ph idx="1"/>
          </p:nvPr>
        </p:nvSpPr>
        <p:spPr bwMode="auto">
          <a:xfrm>
            <a:off x="1413892" y="1374542"/>
            <a:ext cx="10677422" cy="4739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ClrTx/>
              <a:buSzTx/>
            </a:pPr>
            <a:r>
              <a:rPr kumimoji="0" lang="en-US" altLang="en-US" sz="1900" b="1" i="0" u="none" strike="noStrike" cap="none" normalizeH="0" baseline="0" dirty="0">
                <a:ln>
                  <a:noFill/>
                </a:ln>
                <a:solidFill>
                  <a:schemeClr val="tx1"/>
                </a:solidFill>
                <a:effectLst/>
                <a:latin typeface="Arial" panose="020B0604020202020204" pitchFamily="34" charset="0"/>
              </a:rPr>
              <a:t>Project Title</a:t>
            </a:r>
            <a:r>
              <a:rPr kumimoji="0" lang="en-US" altLang="en-US" sz="1900" b="0" i="0" u="none" strike="noStrike" cap="none" normalizeH="0" baseline="0" dirty="0">
                <a:ln>
                  <a:noFill/>
                </a:ln>
                <a:solidFill>
                  <a:schemeClr val="tx1"/>
                </a:solidFill>
                <a:effectLst/>
                <a:latin typeface="Arial" panose="020B0604020202020204" pitchFamily="34" charset="0"/>
              </a:rPr>
              <a:t>: </a:t>
            </a:r>
            <a:r>
              <a:rPr kumimoji="0" lang="en-US" altLang="en-US" sz="1500" b="0" i="0" u="none" strike="noStrike" cap="none" normalizeH="0" baseline="0" dirty="0" err="1">
                <a:ln>
                  <a:noFill/>
                </a:ln>
                <a:solidFill>
                  <a:schemeClr val="tx1"/>
                </a:solidFill>
                <a:effectLst/>
                <a:latin typeface="Arial" panose="020B0604020202020204" pitchFamily="34" charset="0"/>
              </a:rPr>
              <a:t>GradSync</a:t>
            </a:r>
            <a:r>
              <a:rPr kumimoji="0" lang="en-US" altLang="en-US" sz="1500" b="0" i="0" u="none" strike="noStrike" cap="none" normalizeH="0" baseline="0" dirty="0">
                <a:ln>
                  <a:noFill/>
                </a:ln>
                <a:solidFill>
                  <a:schemeClr val="tx1"/>
                </a:solidFill>
                <a:effectLst/>
                <a:latin typeface="Arial" panose="020B0604020202020204" pitchFamily="34" charset="0"/>
              </a:rPr>
              <a:t> – An AI &amp; ML-Based Academic Project Management System</a:t>
            </a:r>
          </a:p>
          <a:p>
            <a:pPr marL="0" indent="0" eaLnBrk="0" fontAlgn="base" hangingPunct="0">
              <a:spcBef>
                <a:spcPct val="0"/>
              </a:spcBef>
              <a:spcAft>
                <a:spcPct val="0"/>
              </a:spcAft>
              <a:buClrTx/>
              <a:buSzTx/>
              <a:buNone/>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285750" indent="-285750" eaLnBrk="0" fontAlgn="base" hangingPunct="0">
              <a:spcBef>
                <a:spcPct val="0"/>
              </a:spcBef>
              <a:spcAft>
                <a:spcPct val="0"/>
              </a:spcAft>
              <a:buClrTx/>
              <a:buSzTx/>
            </a:pPr>
            <a:r>
              <a:rPr kumimoji="0" lang="en-US" altLang="en-US" sz="1900" b="1" i="0" u="none" strike="noStrike" cap="none" normalizeH="0" baseline="0" dirty="0">
                <a:ln>
                  <a:noFill/>
                </a:ln>
                <a:solidFill>
                  <a:schemeClr val="tx1"/>
                </a:solidFill>
                <a:effectLst/>
                <a:latin typeface="Arial" panose="020B0604020202020204" pitchFamily="34" charset="0"/>
              </a:rPr>
              <a:t>Motivation</a:t>
            </a:r>
            <a:r>
              <a:rPr kumimoji="0" lang="en-US" altLang="en-US" sz="1900" b="0" i="0" u="none" strike="noStrike" cap="none" normalizeH="0" baseline="0" dirty="0">
                <a:ln>
                  <a:noFill/>
                </a:ln>
                <a:solidFill>
                  <a:schemeClr val="tx1"/>
                </a:solidFill>
                <a:effectLst/>
                <a:latin typeface="Arial" panose="020B0604020202020204" pitchFamily="34" charset="0"/>
              </a:rPr>
              <a:t>:  	</a:t>
            </a:r>
            <a:r>
              <a:rPr kumimoji="0" lang="en-US" altLang="en-US" sz="1500" b="0" i="0" u="none" strike="noStrike" cap="none" normalizeH="0" baseline="0" dirty="0">
                <a:ln>
                  <a:noFill/>
                </a:ln>
                <a:solidFill>
                  <a:schemeClr val="tx1"/>
                </a:solidFill>
                <a:effectLst/>
                <a:latin typeface="Arial" panose="020B0604020202020204" pitchFamily="34" charset="0"/>
              </a:rPr>
              <a:t>1. Many students unintentionally choose project ideas already completed in past years.</a:t>
            </a:r>
          </a:p>
          <a:p>
            <a:pPr marL="0" marR="0" lvl="0" indent="0" algn="l" defTabSz="914400" rtl="0" eaLnBrk="0" fontAlgn="base" latinLnBrk="0" hangingPunct="0">
              <a:lnSpc>
                <a:spcPct val="100000"/>
              </a:lnSpc>
              <a:spcBef>
                <a:spcPct val="0"/>
              </a:spcBef>
              <a:spcAft>
                <a:spcPct val="0"/>
              </a:spcAft>
              <a:buClrTx/>
              <a:buSzTx/>
              <a:buNone/>
              <a:tabLst/>
            </a:pPr>
            <a:r>
              <a:rPr lang="en-US" altLang="en-US" sz="1500" dirty="0">
                <a:latin typeface="Arial" panose="020B0604020202020204" pitchFamily="34" charset="0"/>
              </a:rPr>
              <a:t>		</a:t>
            </a:r>
            <a:r>
              <a:rPr kumimoji="0" lang="en-US" altLang="en-US" sz="1500" b="0" i="0" u="none" strike="noStrike" cap="none" normalizeH="0" baseline="0" dirty="0">
                <a:ln>
                  <a:noFill/>
                </a:ln>
                <a:solidFill>
                  <a:schemeClr val="tx1"/>
                </a:solidFill>
                <a:effectLst/>
                <a:latin typeface="Arial" panose="020B0604020202020204" pitchFamily="34" charset="0"/>
              </a:rPr>
              <a:t>2. Faculty assignment and progress tracking are manual, time-consuming, and inconsistent.</a:t>
            </a:r>
          </a:p>
          <a:p>
            <a:pPr marL="0" marR="0" lvl="0" indent="0" algn="l" defTabSz="914400" rtl="0" eaLnBrk="0" fontAlgn="base" latinLnBrk="0" hangingPunct="0">
              <a:lnSpc>
                <a:spcPct val="100000"/>
              </a:lnSpc>
              <a:spcBef>
                <a:spcPct val="0"/>
              </a:spcBef>
              <a:spcAft>
                <a:spcPct val="0"/>
              </a:spcAft>
              <a:buClrTx/>
              <a:buSzTx/>
              <a:buNone/>
              <a:tabLst/>
            </a:pPr>
            <a:r>
              <a:rPr lang="en-US" altLang="en-US" sz="1500" dirty="0">
                <a:latin typeface="Arial" panose="020B0604020202020204" pitchFamily="34" charset="0"/>
              </a:rPr>
              <a:t>		3. </a:t>
            </a:r>
            <a:r>
              <a:rPr kumimoji="0" lang="en-US" altLang="en-US" sz="1500" b="0" i="0" u="none" strike="noStrike" cap="none" normalizeH="0" baseline="0" dirty="0">
                <a:ln>
                  <a:noFill/>
                </a:ln>
                <a:solidFill>
                  <a:schemeClr val="tx1"/>
                </a:solidFill>
                <a:effectLst/>
                <a:latin typeface="Arial" panose="020B0604020202020204" pitchFamily="34" charset="0"/>
              </a:rPr>
              <a:t>Academic institutions lack intelligent tools to promote innovation and ensure project originality.</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285750" indent="-285750" eaLnBrk="0" fontAlgn="base" hangingPunct="0">
              <a:spcBef>
                <a:spcPct val="0"/>
              </a:spcBef>
              <a:spcAft>
                <a:spcPct val="0"/>
              </a:spcAft>
              <a:buClrTx/>
              <a:buSzTx/>
            </a:pPr>
            <a:r>
              <a:rPr kumimoji="0" lang="en-US" altLang="en-US" sz="1900" b="1" i="0" u="none" strike="noStrike" cap="none" normalizeH="0" baseline="0" dirty="0">
                <a:ln>
                  <a:noFill/>
                </a:ln>
                <a:solidFill>
                  <a:schemeClr val="tx1"/>
                </a:solidFill>
                <a:effectLst/>
                <a:latin typeface="Arial" panose="020B0604020202020204" pitchFamily="34" charset="0"/>
              </a:rPr>
              <a:t>Innovation</a:t>
            </a:r>
            <a:r>
              <a:rPr kumimoji="0" lang="en-US" altLang="en-US" sz="1900" b="0" i="0" u="none" strike="noStrike" cap="none" normalizeH="0" baseline="0" dirty="0">
                <a:ln>
                  <a:noFill/>
                </a:ln>
                <a:solidFill>
                  <a:schemeClr val="tx1"/>
                </a:solidFill>
                <a:effectLst/>
                <a:latin typeface="Arial" panose="020B0604020202020204" pitchFamily="34" charset="0"/>
              </a:rPr>
              <a:t>: </a:t>
            </a:r>
            <a:r>
              <a:rPr kumimoji="0" lang="en-US" altLang="en-US" sz="1500" b="0" i="0" u="none" strike="noStrike" cap="none" normalizeH="0" baseline="0" dirty="0" err="1">
                <a:ln>
                  <a:noFill/>
                </a:ln>
                <a:solidFill>
                  <a:schemeClr val="tx1"/>
                </a:solidFill>
                <a:effectLst/>
                <a:latin typeface="Arial" panose="020B0604020202020204" pitchFamily="34" charset="0"/>
              </a:rPr>
              <a:t>GradSync</a:t>
            </a:r>
            <a:r>
              <a:rPr kumimoji="0" lang="en-US" altLang="en-US" sz="1500" b="0" i="0" u="none" strike="noStrike" cap="none" normalizeH="0" baseline="0" dirty="0">
                <a:ln>
                  <a:noFill/>
                </a:ln>
                <a:solidFill>
                  <a:schemeClr val="tx1"/>
                </a:solidFill>
                <a:effectLst/>
                <a:latin typeface="Arial" panose="020B0604020202020204" pitchFamily="34" charset="0"/>
              </a:rPr>
              <a:t> uses </a:t>
            </a:r>
            <a:r>
              <a:rPr kumimoji="0" lang="en-US" altLang="en-US" sz="1500" b="1" i="0" u="none" strike="noStrike" cap="none" normalizeH="0" baseline="0" dirty="0">
                <a:ln>
                  <a:noFill/>
                </a:ln>
                <a:solidFill>
                  <a:schemeClr val="tx1"/>
                </a:solidFill>
                <a:effectLst/>
                <a:latin typeface="Arial" panose="020B0604020202020204" pitchFamily="34" charset="0"/>
              </a:rPr>
              <a:t>Machine Learning and Natural Language Processing (NLP)</a:t>
            </a:r>
            <a:r>
              <a:rPr kumimoji="0" lang="en-US" altLang="en-US" sz="1500" b="0" i="0" u="none" strike="noStrike" cap="none" normalizeH="0" baseline="0" dirty="0">
                <a:ln>
                  <a:noFill/>
                </a:ln>
                <a:solidFill>
                  <a:schemeClr val="tx1"/>
                </a:solidFill>
                <a:effectLst/>
                <a:latin typeface="Arial" panose="020B0604020202020204" pitchFamily="34" charset="0"/>
              </a:rPr>
              <a:t> to automate idea validation, guide matching, and progress monitoring. It enables structured communication between students and faculty while generating real-time summaries and evaluation reports.</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285750" indent="-285750" eaLnBrk="0" fontAlgn="base" hangingPunct="0">
              <a:spcBef>
                <a:spcPct val="0"/>
              </a:spcBef>
              <a:spcAft>
                <a:spcPct val="0"/>
              </a:spcAft>
              <a:buClrTx/>
              <a:buSzTx/>
            </a:pPr>
            <a:r>
              <a:rPr kumimoji="0" lang="en-US" altLang="en-US" sz="1900" b="1" i="0" u="none" strike="noStrike" cap="none" normalizeH="0" baseline="0" dirty="0">
                <a:ln>
                  <a:noFill/>
                </a:ln>
                <a:solidFill>
                  <a:schemeClr val="tx1"/>
                </a:solidFill>
                <a:effectLst/>
                <a:latin typeface="Arial" panose="020B0604020202020204" pitchFamily="34" charset="0"/>
              </a:rPr>
              <a:t>Technologies Used</a:t>
            </a:r>
            <a:r>
              <a:rPr kumimoji="0" lang="en-US" altLang="en-US" sz="1900" b="0" i="0" u="none" strike="noStrike" cap="none" normalizeH="0" baseline="0" dirty="0">
                <a:ln>
                  <a:noFill/>
                </a:ln>
                <a:solidFill>
                  <a:schemeClr val="tx1"/>
                </a:solidFill>
                <a:effectLst/>
                <a:latin typeface="Arial" panose="020B0604020202020204" pitchFamily="34" charset="0"/>
              </a:rPr>
              <a:t>:</a:t>
            </a:r>
          </a:p>
          <a:p>
            <a:pPr marL="560070" lvl="1" indent="-285750" eaLnBrk="0" fontAlgn="base" hangingPunct="0">
              <a:spcBef>
                <a:spcPct val="0"/>
              </a:spcBef>
              <a:spcAft>
                <a:spcPct val="0"/>
              </a:spcAft>
              <a:buClrTx/>
            </a:pPr>
            <a:r>
              <a:rPr kumimoji="0" lang="en-US" altLang="en-US" sz="1500" b="1" i="0" u="none" strike="noStrike" cap="none" normalizeH="0" baseline="0" dirty="0">
                <a:ln>
                  <a:noFill/>
                </a:ln>
                <a:solidFill>
                  <a:schemeClr val="tx1"/>
                </a:solidFill>
                <a:effectLst/>
                <a:latin typeface="Arial" panose="020B0604020202020204" pitchFamily="34" charset="0"/>
              </a:rPr>
              <a:t>Frontend</a:t>
            </a:r>
            <a:r>
              <a:rPr kumimoji="0" lang="en-US" altLang="en-US" sz="1500" b="0" i="0" u="none" strike="noStrike" cap="none" normalizeH="0" baseline="0" dirty="0">
                <a:ln>
                  <a:noFill/>
                </a:ln>
                <a:solidFill>
                  <a:schemeClr val="tx1"/>
                </a:solidFill>
                <a:effectLst/>
                <a:latin typeface="Arial" panose="020B0604020202020204" pitchFamily="34" charset="0"/>
              </a:rPr>
              <a:t>: Flutter (Web, Android, iOS)</a:t>
            </a:r>
          </a:p>
          <a:p>
            <a:pPr marL="560070" lvl="1" indent="-285750" eaLnBrk="0" fontAlgn="base" hangingPunct="0">
              <a:spcBef>
                <a:spcPct val="0"/>
              </a:spcBef>
              <a:spcAft>
                <a:spcPct val="0"/>
              </a:spcAft>
              <a:buClrTx/>
            </a:pPr>
            <a:r>
              <a:rPr kumimoji="0" lang="en-US" altLang="en-US" sz="1500" b="1" i="0" u="none" strike="noStrike" cap="none" normalizeH="0" baseline="0" dirty="0">
                <a:ln>
                  <a:noFill/>
                </a:ln>
                <a:solidFill>
                  <a:schemeClr val="tx1"/>
                </a:solidFill>
                <a:effectLst/>
                <a:latin typeface="Arial" panose="020B0604020202020204" pitchFamily="34" charset="0"/>
              </a:rPr>
              <a:t>Backend</a:t>
            </a:r>
            <a:r>
              <a:rPr kumimoji="0" lang="en-US" altLang="en-US" sz="1500" b="0" i="0" u="none" strike="noStrike" cap="none" normalizeH="0" baseline="0" dirty="0">
                <a:ln>
                  <a:noFill/>
                </a:ln>
                <a:solidFill>
                  <a:schemeClr val="tx1"/>
                </a:solidFill>
                <a:effectLst/>
                <a:latin typeface="Arial" panose="020B0604020202020204" pitchFamily="34" charset="0"/>
              </a:rPr>
              <a:t>: Flask (Python REST API)</a:t>
            </a:r>
          </a:p>
          <a:p>
            <a:pPr marL="560070" lvl="1" indent="-285750" eaLnBrk="0" fontAlgn="base" hangingPunct="0">
              <a:spcBef>
                <a:spcPct val="0"/>
              </a:spcBef>
              <a:spcAft>
                <a:spcPct val="0"/>
              </a:spcAft>
              <a:buClrTx/>
            </a:pPr>
            <a:r>
              <a:rPr kumimoji="0" lang="en-US" altLang="en-US" sz="1500" b="1" i="0" u="none" strike="noStrike" cap="none" normalizeH="0" baseline="0" dirty="0">
                <a:ln>
                  <a:noFill/>
                </a:ln>
                <a:solidFill>
                  <a:schemeClr val="tx1"/>
                </a:solidFill>
                <a:effectLst/>
                <a:latin typeface="Arial" panose="020B0604020202020204" pitchFamily="34" charset="0"/>
              </a:rPr>
              <a:t>Database</a:t>
            </a:r>
            <a:r>
              <a:rPr kumimoji="0" lang="en-US" altLang="en-US" sz="1500" b="0" i="0" u="none" strike="noStrike" cap="none" normalizeH="0" baseline="0" dirty="0">
                <a:ln>
                  <a:noFill/>
                </a:ln>
                <a:solidFill>
                  <a:schemeClr val="tx1"/>
                </a:solidFill>
                <a:effectLst/>
                <a:latin typeface="Arial" panose="020B0604020202020204" pitchFamily="34" charset="0"/>
              </a:rPr>
              <a:t>: PostgreSQL / Firebase</a:t>
            </a:r>
          </a:p>
          <a:p>
            <a:pPr marL="560070" lvl="1" indent="-285750" eaLnBrk="0" fontAlgn="base" hangingPunct="0">
              <a:spcBef>
                <a:spcPct val="0"/>
              </a:spcBef>
              <a:spcAft>
                <a:spcPct val="0"/>
              </a:spcAft>
              <a:buClrTx/>
            </a:pPr>
            <a:r>
              <a:rPr lang="en-US" altLang="en-US" sz="1500" b="1" dirty="0">
                <a:latin typeface="Arial" panose="020B0604020202020204" pitchFamily="34" charset="0"/>
              </a:rPr>
              <a:t>Reporting</a:t>
            </a:r>
            <a:r>
              <a:rPr lang="en-US" altLang="en-US" sz="1500" dirty="0">
                <a:latin typeface="Arial" panose="020B0604020202020204" pitchFamily="34" charset="0"/>
              </a:rPr>
              <a:t>: </a:t>
            </a:r>
            <a:r>
              <a:rPr lang="en-US" altLang="en-US" sz="1500" dirty="0" err="1">
                <a:latin typeface="Arial" panose="020B0604020202020204" pitchFamily="34" charset="0"/>
              </a:rPr>
              <a:t>ReportLab</a:t>
            </a:r>
            <a:r>
              <a:rPr lang="en-US" altLang="en-US" sz="1500" dirty="0">
                <a:latin typeface="Arial" panose="020B0604020202020204" pitchFamily="34" charset="0"/>
              </a:rPr>
              <a:t> or </a:t>
            </a:r>
            <a:r>
              <a:rPr lang="en-US" altLang="en-US" sz="1500" dirty="0" err="1">
                <a:latin typeface="Arial" panose="020B0604020202020204" pitchFamily="34" charset="0"/>
              </a:rPr>
              <a:t>WeasyPrint</a:t>
            </a:r>
            <a:r>
              <a:rPr lang="en-US" altLang="en-US" sz="1500" dirty="0">
                <a:latin typeface="Arial" panose="020B0604020202020204" pitchFamily="34" charset="0"/>
              </a:rPr>
              <a:t> (PDF generation)</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560070" lvl="1" indent="-285750" eaLnBrk="0" fontAlgn="base" hangingPunct="0">
              <a:spcBef>
                <a:spcPct val="0"/>
              </a:spcBef>
              <a:spcAft>
                <a:spcPct val="0"/>
              </a:spcAft>
              <a:buClrTx/>
            </a:pPr>
            <a:r>
              <a:rPr kumimoji="0" lang="en-US" altLang="en-US" sz="1500" b="1" i="0" u="none" strike="noStrike" cap="none" normalizeH="0" baseline="0" dirty="0">
                <a:ln>
                  <a:noFill/>
                </a:ln>
                <a:solidFill>
                  <a:schemeClr val="tx1"/>
                </a:solidFill>
                <a:effectLst/>
                <a:latin typeface="Arial" panose="020B0604020202020204" pitchFamily="34" charset="0"/>
              </a:rPr>
              <a:t>AI/ML</a:t>
            </a:r>
            <a:r>
              <a:rPr kumimoji="0" lang="en-US" altLang="en-US" sz="1500" b="0" i="0" u="none" strike="noStrike" cap="none" normalizeH="0" baseline="0" dirty="0">
                <a:ln>
                  <a:noFill/>
                </a:ln>
                <a:solidFill>
                  <a:schemeClr val="tx1"/>
                </a:solidFill>
                <a:effectLst/>
                <a:latin typeface="Arial" panose="020B0604020202020204" pitchFamily="34" charset="0"/>
              </a:rPr>
              <a:t>:  	1. Sentence-BERT (Semantic similarity using embeddings)</a:t>
            </a:r>
          </a:p>
          <a:p>
            <a:pPr marL="274320" lvl="1" indent="0" eaLnBrk="0" fontAlgn="base" hangingPunct="0">
              <a:spcBef>
                <a:spcPct val="0"/>
              </a:spcBef>
              <a:spcAft>
                <a:spcPct val="0"/>
              </a:spcAft>
              <a:buClrTx/>
              <a:buNone/>
            </a:pPr>
            <a:r>
              <a:rPr kumimoji="0" lang="en-US" altLang="en-US" sz="1500" b="0" i="0" u="none" strike="noStrike" cap="none" normalizeH="0" baseline="0" dirty="0">
                <a:ln>
                  <a:noFill/>
                </a:ln>
                <a:solidFill>
                  <a:schemeClr val="tx1"/>
                </a:solidFill>
                <a:effectLst/>
                <a:latin typeface="Arial" panose="020B0604020202020204" pitchFamily="34" charset="0"/>
              </a:rPr>
              <a:t>		2. GPT-3.5 or Hugging Face LLMs (Idea enhancement &amp; summarization)</a:t>
            </a:r>
          </a:p>
          <a:p>
            <a:pPr marL="0" marR="0" lvl="0" indent="0" algn="l" defTabSz="914400" rtl="0" eaLnBrk="0" fontAlgn="base" latinLnBrk="0" hangingPunct="0">
              <a:lnSpc>
                <a:spcPct val="100000"/>
              </a:lnSpc>
              <a:spcBef>
                <a:spcPct val="0"/>
              </a:spcBef>
              <a:spcAft>
                <a:spcPct val="0"/>
              </a:spcAft>
              <a:buClrTx/>
              <a:buSzTx/>
              <a:buNone/>
              <a:tabLst/>
            </a:pPr>
            <a:r>
              <a:rPr lang="en-US" altLang="en-US" sz="1500" dirty="0">
                <a:latin typeface="Arial" panose="020B0604020202020204" pitchFamily="34" charset="0"/>
              </a:rPr>
              <a:t>		3. </a:t>
            </a:r>
            <a:r>
              <a:rPr kumimoji="0" lang="en-US" altLang="en-US" sz="1500" b="0" i="0" u="none" strike="noStrike" cap="none" normalizeH="0" baseline="0" dirty="0">
                <a:ln>
                  <a:noFill/>
                </a:ln>
                <a:solidFill>
                  <a:schemeClr val="tx1"/>
                </a:solidFill>
                <a:effectLst/>
                <a:latin typeface="Arial" panose="020B0604020202020204" pitchFamily="34" charset="0"/>
              </a:rPr>
              <a:t>Decision Trees or Rule-Based Models (Guide assignment)</a:t>
            </a: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900" b="1" i="0" u="none" strike="noStrike" cap="none" normalizeH="0" baseline="0" dirty="0">
                <a:ln>
                  <a:noFill/>
                </a:ln>
                <a:solidFill>
                  <a:schemeClr val="tx1"/>
                </a:solidFill>
                <a:effectLst/>
                <a:latin typeface="Arial" panose="020B0604020202020204" pitchFamily="34" charset="0"/>
              </a:rPr>
              <a:t>Contribution</a:t>
            </a:r>
            <a:r>
              <a:rPr kumimoji="0" lang="en-US" altLang="en-US" sz="1900" b="0" i="0" u="none" strike="noStrike" cap="none" normalizeH="0" baseline="0" dirty="0">
                <a:ln>
                  <a:noFill/>
                </a:ln>
                <a:solidFill>
                  <a:schemeClr val="tx1"/>
                </a:solidFill>
                <a:effectLst/>
                <a:latin typeface="Arial" panose="020B0604020202020204" pitchFamily="34" charset="0"/>
              </a:rPr>
              <a:t>:</a:t>
            </a:r>
            <a:r>
              <a:rPr kumimoji="0" lang="en-IN"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IN" altLang="en-US" sz="1400"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	</a:t>
            </a:r>
            <a:endParaRPr lang="en-US" sz="1400" dirty="0">
              <a:latin typeface="Arial" panose="020B0604020202020204" pitchFamily="34" charset="0"/>
              <a:cs typeface="Arial" panose="020B0604020202020204" pitchFamily="34" charset="0"/>
            </a:endParaRPr>
          </a:p>
          <a:p>
            <a:pPr marL="0" indent="0" eaLnBrk="0" fontAlgn="base" hangingPunct="0">
              <a:spcBef>
                <a:spcPct val="0"/>
              </a:spcBef>
              <a:spcAft>
                <a:spcPct val="0"/>
              </a:spcAft>
              <a:buClrTx/>
              <a:buSzTx/>
              <a:buNone/>
            </a:pPr>
            <a:r>
              <a:rPr lang="en-US" sz="1400" dirty="0">
                <a:latin typeface="Arial" panose="020B0604020202020204" pitchFamily="34" charset="0"/>
                <a:cs typeface="Arial" panose="020B0604020202020204" pitchFamily="34" charset="0"/>
              </a:rPr>
              <a:t>	</a:t>
            </a:r>
            <a:endParaRPr lang="en-IN" sz="1400"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695024DB-67A7-858C-84F8-550C4B7B8393}"/>
              </a:ext>
            </a:extLst>
          </p:cNvPr>
          <p:cNvGraphicFramePr>
            <a:graphicFrameLocks noGrp="1"/>
          </p:cNvGraphicFramePr>
          <p:nvPr>
            <p:extLst>
              <p:ext uri="{D42A27DB-BD31-4B8C-83A1-F6EECF244321}">
                <p14:modId xmlns:p14="http://schemas.microsoft.com/office/powerpoint/2010/main" val="350878976"/>
              </p:ext>
            </p:extLst>
          </p:nvPr>
        </p:nvGraphicFramePr>
        <p:xfrm>
          <a:off x="3568574" y="5483458"/>
          <a:ext cx="6368058" cy="1036320"/>
        </p:xfrm>
        <a:graphic>
          <a:graphicData uri="http://schemas.openxmlformats.org/drawingml/2006/table">
            <a:tbl>
              <a:tblPr firstRow="1" bandRow="1">
                <a:tableStyleId>{1CCE372E-ECD7-4A1C-B22A-9EB5CF0A707A}</a:tableStyleId>
              </a:tblPr>
              <a:tblGrid>
                <a:gridCol w="3137026">
                  <a:extLst>
                    <a:ext uri="{9D8B030D-6E8A-4147-A177-3AD203B41FA5}">
                      <a16:colId xmlns:a16="http://schemas.microsoft.com/office/drawing/2014/main" val="1076932379"/>
                    </a:ext>
                  </a:extLst>
                </a:gridCol>
                <a:gridCol w="3231032">
                  <a:extLst>
                    <a:ext uri="{9D8B030D-6E8A-4147-A177-3AD203B41FA5}">
                      <a16:colId xmlns:a16="http://schemas.microsoft.com/office/drawing/2014/main" val="3159077111"/>
                    </a:ext>
                  </a:extLst>
                </a:gridCol>
              </a:tblGrid>
              <a:tr h="208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t>Role 1:</a:t>
                      </a:r>
                      <a:r>
                        <a:rPr lang="en-IN" sz="1400" dirty="0">
                          <a:latin typeface="Arial" panose="020B0604020202020204" pitchFamily="34" charset="0"/>
                          <a:cs typeface="Arial" panose="020B0604020202020204" pitchFamily="34" charset="0"/>
                        </a:rPr>
                        <a:t>Flutter Developer (UI/UX &amp; Frontend Integration)</a:t>
                      </a:r>
                    </a:p>
                  </a:txBody>
                  <a:tcPr/>
                </a:tc>
                <a:tc>
                  <a:txBody>
                    <a:bodyPr/>
                    <a:lstStyle/>
                    <a:p>
                      <a:r>
                        <a:rPr lang="en-IN"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Role 3:</a:t>
                      </a:r>
                      <a:r>
                        <a:rPr lang="en-US" sz="1400" dirty="0">
                          <a:latin typeface="Arial" panose="020B0604020202020204" pitchFamily="34" charset="0"/>
                          <a:cs typeface="Arial" panose="020B0604020202020204" pitchFamily="34" charset="0"/>
                        </a:rPr>
                        <a:t> ML/NLP Engineer – Semantic Matching &amp; Recommendation</a:t>
                      </a:r>
                      <a:endParaRPr lang="en-IN" sz="1400" dirty="0"/>
                    </a:p>
                  </a:txBody>
                  <a:tcPr/>
                </a:tc>
                <a:extLst>
                  <a:ext uri="{0D108BD9-81ED-4DB2-BD59-A6C34878D82A}">
                    <a16:rowId xmlns:a16="http://schemas.microsoft.com/office/drawing/2014/main" val="2092902491"/>
                  </a:ext>
                </a:extLst>
              </a:tr>
              <a:tr h="208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latin typeface="Arial" panose="020B0604020202020204" pitchFamily="34" charset="0"/>
                          <a:cs typeface="Arial" panose="020B0604020202020204" pitchFamily="34" charset="0"/>
                        </a:rPr>
                        <a:t>Role 2: </a:t>
                      </a:r>
                      <a:r>
                        <a:rPr lang="en-IN" sz="1400" dirty="0">
                          <a:latin typeface="Arial" panose="020B0604020202020204" pitchFamily="34" charset="0"/>
                          <a:cs typeface="Arial" panose="020B0604020202020204" pitchFamily="34" charset="0"/>
                        </a:rPr>
                        <a:t>Flask Backend Developer (API + Database)</a:t>
                      </a:r>
                    </a:p>
                  </a:txBody>
                  <a:tcPr/>
                </a:tc>
                <a:tc>
                  <a:txBody>
                    <a:bodyPr/>
                    <a:lstStyle/>
                    <a:p>
                      <a:r>
                        <a:rPr lang="en-US" sz="1400" b="1" dirty="0">
                          <a:latin typeface="Arial" panose="020B0604020202020204" pitchFamily="34" charset="0"/>
                          <a:cs typeface="Arial" panose="020B0604020202020204" pitchFamily="34" charset="0"/>
                        </a:rPr>
                        <a:t>Role 4:</a:t>
                      </a:r>
                      <a:r>
                        <a:rPr lang="en-US" sz="1400" dirty="0">
                          <a:latin typeface="Arial" panose="020B0604020202020204" pitchFamily="34" charset="0"/>
                          <a:cs typeface="Arial" panose="020B0604020202020204" pitchFamily="34" charset="0"/>
                        </a:rPr>
                        <a:t> LLM &amp; Summarization Engineer (AI Language Features)</a:t>
                      </a:r>
                      <a:endParaRPr lang="en-IN" sz="1400" dirty="0"/>
                    </a:p>
                  </a:txBody>
                  <a:tcPr/>
                </a:tc>
                <a:extLst>
                  <a:ext uri="{0D108BD9-81ED-4DB2-BD59-A6C34878D82A}">
                    <a16:rowId xmlns:a16="http://schemas.microsoft.com/office/drawing/2014/main" val="2956182017"/>
                  </a:ext>
                </a:extLst>
              </a:tr>
            </a:tbl>
          </a:graphicData>
        </a:graphic>
      </p:graphicFrame>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413892" y="260648"/>
            <a:ext cx="9759198" cy="70609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IN" sz="6000" b="1" dirty="0">
                <a:solidFill>
                  <a:schemeClr val="bg2">
                    <a:lumMod val="10000"/>
                  </a:schemeClr>
                </a:solidFill>
                <a:latin typeface="Times New Roman" pitchFamily="18" charset="0"/>
                <a:cs typeface="Times New Roman" pitchFamily="18" charset="0"/>
              </a:rPr>
              <a:t> </a:t>
            </a:r>
            <a:r>
              <a:rPr lang="en-IN" sz="4000" b="1" dirty="0">
                <a:solidFill>
                  <a:schemeClr val="bg2">
                    <a:lumMod val="10000"/>
                  </a:schemeClr>
                </a:solidFill>
                <a:latin typeface="Times New Roman" pitchFamily="18" charset="0"/>
                <a:cs typeface="Times New Roman" pitchFamily="18" charset="0"/>
              </a:rPr>
              <a:t>Introduction-1</a:t>
            </a:r>
            <a:endParaRPr lang="en-IN" sz="4000" b="1" dirty="0">
              <a:solidFill>
                <a:schemeClr val="tx1"/>
              </a:solidFill>
              <a:latin typeface="Times New Roman" pitchFamily="18" charset="0"/>
              <a:cs typeface="Times New Roman" pitchFamily="18" charset="0"/>
            </a:endParaRPr>
          </a:p>
        </p:txBody>
      </p:sp>
      <p:sp>
        <p:nvSpPr>
          <p:cNvPr id="7" name="Content Placeholder 6"/>
          <p:cNvSpPr>
            <a:spLocks noGrp="1"/>
          </p:cNvSpPr>
          <p:nvPr>
            <p:ph idx="1"/>
          </p:nvPr>
        </p:nvSpPr>
        <p:spPr>
          <a:xfrm>
            <a:off x="1413892" y="823867"/>
            <a:ext cx="10677422" cy="5579562"/>
          </a:xfrm>
        </p:spPr>
        <p:txBody>
          <a:bodyPr>
            <a:normAutofit fontScale="85000" lnSpcReduction="20000"/>
          </a:bodyPr>
          <a:lstStyle/>
          <a:p>
            <a:pPr marL="82296" indent="0">
              <a:buNone/>
            </a:pPr>
            <a:endParaRPr lang="en-US" sz="1800" dirty="0">
              <a:latin typeface="Arial" panose="020B0604020202020204" pitchFamily="34" charset="0"/>
              <a:cs typeface="Arial" panose="020B0604020202020204" pitchFamily="34" charset="0"/>
            </a:endParaRPr>
          </a:p>
          <a:p>
            <a:pPr>
              <a:buClr>
                <a:schemeClr val="tx1"/>
              </a:buClr>
            </a:pPr>
            <a:r>
              <a:rPr lang="en-US" sz="2200" b="1" dirty="0">
                <a:latin typeface="Arial" panose="020B0604020202020204" pitchFamily="34" charset="0"/>
                <a:cs typeface="Arial" panose="020B0604020202020204" pitchFamily="34" charset="0"/>
              </a:rPr>
              <a:t>Context</a:t>
            </a:r>
            <a:r>
              <a:rPr lang="en-US" sz="2200" dirty="0">
                <a:latin typeface="Arial" panose="020B0604020202020204" pitchFamily="34" charset="0"/>
                <a:cs typeface="Arial" panose="020B0604020202020204" pitchFamily="34" charset="0"/>
              </a:rPr>
              <a:t>:</a:t>
            </a:r>
          </a:p>
          <a:p>
            <a:pPr marL="356616" lvl="1" indent="0">
              <a:buNone/>
            </a:pPr>
            <a:r>
              <a:rPr lang="en-US" sz="150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Final-year project work is a vital academic component in most technical and engineering colleges, requiring 	originality, proper mentorship, and continuous evaluation. </a:t>
            </a:r>
          </a:p>
          <a:p>
            <a:pPr>
              <a:buClrTx/>
              <a:buFont typeface="Arial" panose="020B0604020202020204" pitchFamily="34" charset="0"/>
              <a:buChar char="•"/>
            </a:pPr>
            <a:r>
              <a:rPr lang="en-US" sz="2200" b="1" dirty="0">
                <a:latin typeface="Arial" panose="020B0604020202020204" pitchFamily="34" charset="0"/>
                <a:cs typeface="Arial" panose="020B0604020202020204" pitchFamily="34" charset="0"/>
              </a:rPr>
              <a:t>Identified Loopholes in Existing Systems</a:t>
            </a:r>
            <a:r>
              <a:rPr lang="en-US" sz="2200" dirty="0">
                <a:latin typeface="Arial" panose="020B0604020202020204" pitchFamily="34" charset="0"/>
                <a:cs typeface="Arial" panose="020B0604020202020204" pitchFamily="34" charset="0"/>
              </a:rPr>
              <a:t>:</a:t>
            </a:r>
          </a:p>
          <a:p>
            <a:pPr lvl="1">
              <a:buClrTx/>
              <a:buFont typeface="Arial" panose="020B0604020202020204" pitchFamily="34" charset="0"/>
              <a:buChar char="•"/>
            </a:pPr>
            <a:r>
              <a:rPr lang="en-US" sz="1800" dirty="0">
                <a:latin typeface="Arial" panose="020B0604020202020204" pitchFamily="34" charset="0"/>
                <a:cs typeface="Arial" panose="020B0604020202020204" pitchFamily="34" charset="0"/>
              </a:rPr>
              <a:t>Lack of a centralized system to check whether a project idea has already been implemented in past academic years.</a:t>
            </a:r>
          </a:p>
          <a:p>
            <a:pPr lvl="1">
              <a:buClrTx/>
              <a:buFont typeface="Arial" panose="020B0604020202020204" pitchFamily="34" charset="0"/>
              <a:buChar char="•"/>
            </a:pPr>
            <a:r>
              <a:rPr lang="en-US" sz="1800" dirty="0">
                <a:latin typeface="Arial" panose="020B0604020202020204" pitchFamily="34" charset="0"/>
                <a:cs typeface="Arial" panose="020B0604020202020204" pitchFamily="34" charset="0"/>
              </a:rPr>
              <a:t>Manual and biased guide allocation not based on subject/domain expertise.</a:t>
            </a:r>
          </a:p>
          <a:p>
            <a:pPr lvl="1">
              <a:buClrTx/>
              <a:buFont typeface="Arial" panose="020B0604020202020204" pitchFamily="34" charset="0"/>
              <a:buChar char="•"/>
            </a:pPr>
            <a:r>
              <a:rPr lang="en-US" sz="1800" dirty="0">
                <a:latin typeface="Arial" panose="020B0604020202020204" pitchFamily="34" charset="0"/>
                <a:cs typeface="Arial" panose="020B0604020202020204" pitchFamily="34" charset="0"/>
              </a:rPr>
              <a:t>No intelligent way to enhance or refine existing ideas flagged as similar.</a:t>
            </a:r>
          </a:p>
          <a:p>
            <a:pPr lvl="1">
              <a:buClrTx/>
              <a:buFont typeface="Arial" panose="020B0604020202020204" pitchFamily="34" charset="0"/>
              <a:buChar char="•"/>
            </a:pPr>
            <a:r>
              <a:rPr lang="en-US" sz="1800" dirty="0">
                <a:latin typeface="Arial" panose="020B0604020202020204" pitchFamily="34" charset="0"/>
                <a:cs typeface="Arial" panose="020B0604020202020204" pitchFamily="34" charset="0"/>
              </a:rPr>
              <a:t>Informal student-faculty communication that is untracked and unaccountable.</a:t>
            </a:r>
          </a:p>
          <a:p>
            <a:pPr lvl="1">
              <a:buClrTx/>
              <a:buFont typeface="Arial" panose="020B0604020202020204" pitchFamily="34" charset="0"/>
              <a:buChar char="•"/>
            </a:pPr>
            <a:r>
              <a:rPr lang="en-US" sz="1800" dirty="0">
                <a:latin typeface="Arial" panose="020B0604020202020204" pitchFamily="34" charset="0"/>
                <a:cs typeface="Arial" panose="020B0604020202020204" pitchFamily="34" charset="0"/>
              </a:rPr>
              <a:t>Difficulty for HODs and coordinators to monitor real-time progress and document evaluations transparently.</a:t>
            </a:r>
          </a:p>
          <a:p>
            <a:pPr>
              <a:buClr>
                <a:schemeClr val="tx1"/>
              </a:buClr>
              <a:buFont typeface="Arial" panose="020B0604020202020204" pitchFamily="34" charset="0"/>
              <a:buChar char="•"/>
            </a:pPr>
            <a:r>
              <a:rPr lang="en-US" sz="2200" b="1" dirty="0">
                <a:latin typeface="Arial" panose="020B0604020202020204" pitchFamily="34" charset="0"/>
                <a:cs typeface="Arial" panose="020B0604020202020204" pitchFamily="34" charset="0"/>
              </a:rPr>
              <a:t>References &amp; Real-Life Inspiration</a:t>
            </a:r>
            <a:r>
              <a:rPr lang="en-US" sz="2200" dirty="0">
                <a:latin typeface="Arial" panose="020B0604020202020204" pitchFamily="34" charset="0"/>
                <a:cs typeface="Arial" panose="020B0604020202020204" pitchFamily="34" charset="0"/>
              </a:rPr>
              <a:t>: </a:t>
            </a:r>
          </a:p>
          <a:p>
            <a:pPr lvl="1">
              <a:buClr>
                <a:schemeClr val="tx1"/>
              </a:buClr>
              <a:buFont typeface="Arial" panose="020B0604020202020204" pitchFamily="34" charset="0"/>
              <a:buChar char="•"/>
            </a:pPr>
            <a:r>
              <a:rPr lang="en-US" sz="1800" dirty="0">
                <a:latin typeface="Arial" panose="020B0604020202020204" pitchFamily="34" charset="0"/>
                <a:cs typeface="Arial" panose="020B0604020202020204" pitchFamily="34" charset="0"/>
              </a:rPr>
              <a:t>Based on commonly observed challenges in Indian colleges where repetitive project ideas are still accepted.</a:t>
            </a:r>
          </a:p>
          <a:p>
            <a:pPr lvl="1">
              <a:buClr>
                <a:schemeClr val="tx1"/>
              </a:buClr>
              <a:buFont typeface="Arial" panose="020B0604020202020204" pitchFamily="34" charset="0"/>
              <a:buChar char="•"/>
            </a:pPr>
            <a:r>
              <a:rPr lang="en-US" sz="1800" dirty="0">
                <a:latin typeface="Arial" panose="020B0604020202020204" pitchFamily="34" charset="0"/>
                <a:cs typeface="Arial" panose="020B0604020202020204" pitchFamily="34" charset="0"/>
              </a:rPr>
              <a:t>Referenced project evaluation rubrics from </a:t>
            </a:r>
            <a:r>
              <a:rPr lang="en-US" sz="1800" b="1" dirty="0">
                <a:latin typeface="Arial" panose="020B0604020202020204" pitchFamily="34" charset="0"/>
                <a:cs typeface="Arial" panose="020B0604020202020204" pitchFamily="34" charset="0"/>
              </a:rPr>
              <a:t>Savitribai Phule Pune University (SPPU)</a:t>
            </a:r>
            <a:r>
              <a:rPr lang="en-US" sz="1800" dirty="0">
                <a:latin typeface="Arial" panose="020B0604020202020204" pitchFamily="34" charset="0"/>
                <a:cs typeface="Arial" panose="020B0604020202020204" pitchFamily="34" charset="0"/>
              </a:rPr>
              <a:t> indicating the importance of innovation, mentorship quality, and documentation.</a:t>
            </a:r>
          </a:p>
          <a:p>
            <a:pPr lvl="1">
              <a:buClr>
                <a:schemeClr val="tx1"/>
              </a:buClr>
              <a:buFont typeface="Arial" panose="020B0604020202020204" pitchFamily="34" charset="0"/>
              <a:buChar char="•"/>
            </a:pPr>
            <a:r>
              <a:rPr lang="en-US" sz="1800" dirty="0">
                <a:latin typeface="Arial" panose="020B0604020202020204" pitchFamily="34" charset="0"/>
                <a:cs typeface="Arial" panose="020B0604020202020204" pitchFamily="34" charset="0"/>
              </a:rPr>
              <a:t>Discussions with faculty highlighted the need for balanced project distribution and data-driven progress tracking.</a:t>
            </a:r>
          </a:p>
          <a:p>
            <a:pPr>
              <a:buClrTx/>
              <a:buFont typeface="Arial" panose="020B0604020202020204" pitchFamily="34" charset="0"/>
              <a:buChar char="•"/>
            </a:pPr>
            <a:r>
              <a:rPr lang="en-US" sz="2200" b="1" dirty="0">
                <a:latin typeface="Arial" panose="020B0604020202020204" pitchFamily="34" charset="0"/>
                <a:cs typeface="Arial" panose="020B0604020202020204" pitchFamily="34" charset="0"/>
              </a:rPr>
              <a:t>Impact of </a:t>
            </a:r>
            <a:r>
              <a:rPr lang="en-US" sz="2200" b="1" dirty="0" err="1">
                <a:latin typeface="Arial" panose="020B0604020202020204" pitchFamily="34" charset="0"/>
                <a:cs typeface="Arial" panose="020B0604020202020204" pitchFamily="34" charset="0"/>
              </a:rPr>
              <a:t>GradSync</a:t>
            </a:r>
            <a:r>
              <a:rPr lang="en-US" sz="2200" dirty="0">
                <a:latin typeface="Arial" panose="020B0604020202020204" pitchFamily="34" charset="0"/>
                <a:cs typeface="Arial" panose="020B0604020202020204" pitchFamily="34" charset="0"/>
              </a:rPr>
              <a:t>:</a:t>
            </a:r>
          </a:p>
          <a:p>
            <a:pPr lvl="1">
              <a:buClrTx/>
              <a:buFont typeface="Arial" panose="020B0604020202020204" pitchFamily="34" charset="0"/>
              <a:buChar char="•"/>
            </a:pPr>
            <a:r>
              <a:rPr lang="en-US" sz="1800" dirty="0">
                <a:latin typeface="Arial" panose="020B0604020202020204" pitchFamily="34" charset="0"/>
                <a:cs typeface="Arial" panose="020B0604020202020204" pitchFamily="34" charset="0"/>
              </a:rPr>
              <a:t>Promotes innovation by discouraging repeated ideas and suggesting meaningful improvements.</a:t>
            </a:r>
          </a:p>
          <a:p>
            <a:pPr lvl="1">
              <a:buClrTx/>
              <a:buFont typeface="Arial" panose="020B0604020202020204" pitchFamily="34" charset="0"/>
              <a:buChar char="•"/>
            </a:pPr>
            <a:r>
              <a:rPr lang="en-US" sz="1800" dirty="0">
                <a:latin typeface="Arial" panose="020B0604020202020204" pitchFamily="34" charset="0"/>
                <a:cs typeface="Arial" panose="020B0604020202020204" pitchFamily="34" charset="0"/>
              </a:rPr>
              <a:t>Encourages academic integrity and originality through intelligent ML tools.</a:t>
            </a:r>
          </a:p>
          <a:p>
            <a:pPr lvl="1">
              <a:buClrTx/>
              <a:buFont typeface="Arial" panose="020B0604020202020204" pitchFamily="34" charset="0"/>
              <a:buChar char="•"/>
            </a:pPr>
            <a:r>
              <a:rPr lang="en-US" sz="1800" dirty="0">
                <a:latin typeface="Arial" panose="020B0604020202020204" pitchFamily="34" charset="0"/>
                <a:cs typeface="Arial" panose="020B0604020202020204" pitchFamily="34" charset="0"/>
              </a:rPr>
              <a:t>Reduces workload and bias in guide assignment by aligning projects with faculty expertise.</a:t>
            </a:r>
          </a:p>
          <a:p>
            <a:pPr lvl="1">
              <a:buClrTx/>
              <a:buFont typeface="Arial" panose="020B0604020202020204" pitchFamily="34" charset="0"/>
              <a:buChar char="•"/>
            </a:pPr>
            <a:r>
              <a:rPr lang="en-US" sz="1800" dirty="0">
                <a:latin typeface="Arial" panose="020B0604020202020204" pitchFamily="34" charset="0"/>
                <a:cs typeface="Arial" panose="020B0604020202020204" pitchFamily="34" charset="0"/>
              </a:rPr>
              <a:t>Improves transparency and evaluation with AI-generated progress summaries and structured logs.</a:t>
            </a:r>
          </a:p>
          <a:p>
            <a:pPr lvl="1">
              <a:buClrTx/>
              <a:buFont typeface="Arial" panose="020B0604020202020204" pitchFamily="34" charset="0"/>
              <a:buChar char="•"/>
            </a:pPr>
            <a:r>
              <a:rPr lang="en-US" sz="1800" dirty="0">
                <a:latin typeface="Arial" panose="020B0604020202020204" pitchFamily="34" charset="0"/>
                <a:cs typeface="Arial" panose="020B0604020202020204" pitchFamily="34" charset="0"/>
              </a:rPr>
              <a:t>Helps HODs and coordinators ensure smooth, fair, and scalable project tracking and reporting.</a:t>
            </a:r>
          </a:p>
          <a:p>
            <a:pPr marL="82296" indent="0">
              <a:buNone/>
            </a:pPr>
            <a:endParaRPr lang="en-US" sz="18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a:xfrm>
            <a:off x="1341884" y="6165304"/>
            <a:ext cx="3859795" cy="476250"/>
          </a:xfrm>
        </p:spPr>
        <p:txBody>
          <a:bodyPr/>
          <a:lstStyle/>
          <a:p>
            <a:r>
              <a:rPr lang="en-IN" sz="1400" dirty="0">
                <a:solidFill>
                  <a:schemeClr val="tx1"/>
                </a:solidFill>
                <a:latin typeface="Times New Roman" pitchFamily="18" charset="0"/>
                <a:cs typeface="Times New Roman" pitchFamily="18" charset="0"/>
              </a:rPr>
              <a:t>Department of Computer Engineering</a:t>
            </a:r>
          </a:p>
        </p:txBody>
      </p:sp>
      <p:sp>
        <p:nvSpPr>
          <p:cNvPr id="9" name="Slide Number Placeholder 8"/>
          <p:cNvSpPr>
            <a:spLocks noGrp="1"/>
          </p:cNvSpPr>
          <p:nvPr>
            <p:ph type="sldNum" sz="quarter" idx="12"/>
          </p:nvPr>
        </p:nvSpPr>
        <p:spPr/>
        <p:txBody>
          <a:bodyPr/>
          <a:lstStyle/>
          <a:p>
            <a:fld id="{56E39993-3455-456D-B76B-54420194FCFA}" type="slidenum">
              <a:rPr lang="en-IN" smtClean="0"/>
              <a:pPr/>
              <a:t>3</a:t>
            </a:fld>
            <a:endParaRPr lang="en-IN"/>
          </a:p>
        </p:txBody>
      </p:sp>
    </p:spTree>
    <p:extLst>
      <p:ext uri="{BB962C8B-B14F-4D97-AF65-F5344CB8AC3E}">
        <p14:creationId xmlns:p14="http://schemas.microsoft.com/office/powerpoint/2010/main" val="158541816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413892" y="260648"/>
            <a:ext cx="9759198" cy="70609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IN" sz="6000" b="1" dirty="0">
                <a:solidFill>
                  <a:schemeClr val="bg2">
                    <a:lumMod val="10000"/>
                  </a:schemeClr>
                </a:solidFill>
                <a:latin typeface="Times New Roman" pitchFamily="18" charset="0"/>
                <a:cs typeface="Times New Roman" pitchFamily="18" charset="0"/>
              </a:rPr>
              <a:t>  </a:t>
            </a:r>
            <a:r>
              <a:rPr lang="en-US" sz="4000" b="1" dirty="0">
                <a:solidFill>
                  <a:schemeClr val="tx1"/>
                </a:solidFill>
                <a:latin typeface="Times New Roman" pitchFamily="18" charset="0"/>
                <a:cs typeface="Times New Roman" pitchFamily="18" charset="0"/>
              </a:rPr>
              <a:t>Abstract-2</a:t>
            </a:r>
            <a:endParaRPr lang="en-IN" sz="4000" b="1" dirty="0">
              <a:solidFill>
                <a:schemeClr val="tx1"/>
              </a:solidFill>
              <a:latin typeface="Times New Roman" pitchFamily="18" charset="0"/>
              <a:cs typeface="Times New Roman" pitchFamily="18" charset="0"/>
            </a:endParaRPr>
          </a:p>
        </p:txBody>
      </p:sp>
      <p:sp>
        <p:nvSpPr>
          <p:cNvPr id="7" name="Content Placeholder 6"/>
          <p:cNvSpPr>
            <a:spLocks noGrp="1"/>
          </p:cNvSpPr>
          <p:nvPr>
            <p:ph idx="1"/>
          </p:nvPr>
        </p:nvSpPr>
        <p:spPr>
          <a:xfrm>
            <a:off x="1485900" y="1340768"/>
            <a:ext cx="9558486" cy="4964782"/>
          </a:xfrm>
        </p:spPr>
        <p:txBody>
          <a:bodyPr>
            <a:normAutofit/>
          </a:bodyPr>
          <a:lstStyle/>
          <a:p>
            <a:pPr algn="just">
              <a:buClrTx/>
            </a:pPr>
            <a:r>
              <a:rPr lang="en-US" altLang="en-US" sz="2000" b="1" dirty="0">
                <a:latin typeface="Arial" panose="020B0604020202020204" pitchFamily="34" charset="0"/>
              </a:rPr>
              <a:t>Project Title</a:t>
            </a:r>
            <a:r>
              <a:rPr lang="en-US" altLang="en-US" sz="2000" dirty="0">
                <a:latin typeface="Arial" panose="020B0604020202020204" pitchFamily="34" charset="0"/>
              </a:rPr>
              <a:t>: </a:t>
            </a:r>
            <a:r>
              <a:rPr lang="en-US" sz="1500" dirty="0" err="1">
                <a:latin typeface="Arial" panose="020B0604020202020204" pitchFamily="34" charset="0"/>
                <a:cs typeface="Arial" panose="020B0604020202020204" pitchFamily="34" charset="0"/>
              </a:rPr>
              <a:t>CivicEye</a:t>
            </a:r>
            <a:r>
              <a:rPr lang="en-US" sz="1500" dirty="0">
                <a:latin typeface="Arial" panose="020B0604020202020204" pitchFamily="34" charset="0"/>
                <a:cs typeface="Arial" panose="020B0604020202020204" pitchFamily="34" charset="0"/>
              </a:rPr>
              <a:t>: AI-Powered Civic Complaint Platform</a:t>
            </a:r>
          </a:p>
          <a:p>
            <a:pPr marL="82296" indent="0" algn="just">
              <a:buClrTx/>
              <a:buNone/>
            </a:pPr>
            <a:endParaRPr lang="en-US" sz="1500" dirty="0">
              <a:latin typeface="Arial" panose="020B0604020202020204" pitchFamily="34" charset="0"/>
              <a:cs typeface="Arial" panose="020B0604020202020204" pitchFamily="34" charset="0"/>
            </a:endParaRPr>
          </a:p>
          <a:p>
            <a:pPr algn="just">
              <a:buClrTx/>
            </a:pPr>
            <a:r>
              <a:rPr lang="en-US" altLang="en-US" sz="1900" b="1" dirty="0">
                <a:latin typeface="Arial" panose="020B0604020202020204" pitchFamily="34" charset="0"/>
              </a:rPr>
              <a:t>Motivation</a:t>
            </a:r>
            <a:r>
              <a:rPr lang="en-US" altLang="en-US" sz="1900" dirty="0">
                <a:latin typeface="Arial" panose="020B0604020202020204" pitchFamily="34" charset="0"/>
              </a:rPr>
              <a:t>:</a:t>
            </a:r>
            <a:r>
              <a:rPr lang="en-US" altLang="en-US" sz="1600" dirty="0">
                <a:latin typeface="Arial" panose="020B0604020202020204" pitchFamily="34" charset="0"/>
              </a:rPr>
              <a:t> </a:t>
            </a:r>
            <a:r>
              <a:rPr lang="en-US" altLang="en-US" sz="1500" dirty="0">
                <a:latin typeface="Arial" panose="020B0604020202020204" pitchFamily="34" charset="0"/>
              </a:rPr>
              <a:t>Filing civic complaints in India is often ineffective due to bureaucratic delays, lack of urgency, and non-intelligent systems.</a:t>
            </a:r>
          </a:p>
          <a:p>
            <a:pPr algn="just">
              <a:buClrTx/>
            </a:pPr>
            <a:r>
              <a:rPr lang="en-US" altLang="en-US" sz="1900" b="1" dirty="0">
                <a:latin typeface="Arial" panose="020B0604020202020204" pitchFamily="34" charset="0"/>
              </a:rPr>
              <a:t>Innovation:</a:t>
            </a:r>
            <a:r>
              <a:rPr lang="en-US" altLang="en-US" sz="1600" dirty="0">
                <a:latin typeface="Arial" panose="020B0604020202020204" pitchFamily="34" charset="0"/>
              </a:rPr>
              <a:t> A unified platform that allows citizens to submit complaints with text and images, analyzed automatically using AI to detect severity and threat level.</a:t>
            </a:r>
          </a:p>
          <a:p>
            <a:pPr algn="just">
              <a:buClrTx/>
            </a:pPr>
            <a:r>
              <a:rPr lang="en-US" altLang="en-US" sz="1900" b="1" dirty="0">
                <a:latin typeface="Arial" panose="020B0604020202020204" pitchFamily="34" charset="0"/>
              </a:rPr>
              <a:t>Technologies Used</a:t>
            </a:r>
            <a:r>
              <a:rPr lang="en-US" altLang="en-US" sz="1900" dirty="0">
                <a:latin typeface="Arial" panose="020B0604020202020204" pitchFamily="34" charset="0"/>
              </a:rPr>
              <a:t>:</a:t>
            </a:r>
          </a:p>
          <a:p>
            <a:pPr lvl="1" algn="just">
              <a:buClrTx/>
            </a:pPr>
            <a:r>
              <a:rPr lang="en-US" altLang="en-US" sz="1500" b="1" dirty="0">
                <a:latin typeface="Arial" panose="020B0604020202020204" pitchFamily="34" charset="0"/>
              </a:rPr>
              <a:t>Text</a:t>
            </a:r>
            <a:r>
              <a:rPr lang="en-US" altLang="en-US" sz="1500" dirty="0">
                <a:latin typeface="Arial" panose="020B0604020202020204" pitchFamily="34" charset="0"/>
              </a:rPr>
              <a:t>: LLMs (for semantic threat assessment, sentiment analysis)</a:t>
            </a:r>
          </a:p>
          <a:p>
            <a:pPr lvl="1" algn="just">
              <a:buClrTx/>
            </a:pPr>
            <a:r>
              <a:rPr lang="en-US" altLang="en-US" sz="1500" b="1" dirty="0">
                <a:latin typeface="Arial" panose="020B0604020202020204" pitchFamily="34" charset="0"/>
              </a:rPr>
              <a:t>Images</a:t>
            </a:r>
            <a:r>
              <a:rPr lang="en-US" altLang="en-US" sz="1500" dirty="0">
                <a:latin typeface="Arial" panose="020B0604020202020204" pitchFamily="34" charset="0"/>
              </a:rPr>
              <a:t>: YOLOv8 / </a:t>
            </a:r>
            <a:r>
              <a:rPr lang="en-US" altLang="en-US" sz="1500" dirty="0" err="1">
                <a:latin typeface="Arial" panose="020B0604020202020204" pitchFamily="34" charset="0"/>
              </a:rPr>
              <a:t>ViT</a:t>
            </a:r>
            <a:r>
              <a:rPr lang="en-US" altLang="en-US" sz="1500" dirty="0">
                <a:latin typeface="Arial" panose="020B0604020202020204" pitchFamily="34" charset="0"/>
              </a:rPr>
              <a:t> (for object detection and visual threat detection)</a:t>
            </a:r>
          </a:p>
          <a:p>
            <a:pPr lvl="1" algn="just">
              <a:buClrTx/>
            </a:pPr>
            <a:r>
              <a:rPr lang="en-US" altLang="en-US" sz="1500" b="1" dirty="0">
                <a:latin typeface="Arial" panose="020B0604020202020204" pitchFamily="34" charset="0"/>
              </a:rPr>
              <a:t>Backend</a:t>
            </a:r>
            <a:r>
              <a:rPr lang="en-US" altLang="en-US" sz="1500" dirty="0">
                <a:latin typeface="Arial" panose="020B0604020202020204" pitchFamily="34" charset="0"/>
              </a:rPr>
              <a:t>: Python (Flask), PostgreSQL, Twilio/MSG91</a:t>
            </a:r>
          </a:p>
          <a:p>
            <a:pPr lvl="1" algn="just">
              <a:buClrTx/>
            </a:pPr>
            <a:r>
              <a:rPr lang="en-US" altLang="en-US" sz="1500" b="1" dirty="0">
                <a:latin typeface="Arial" panose="020B0604020202020204" pitchFamily="34" charset="0"/>
              </a:rPr>
              <a:t>Frontend</a:t>
            </a:r>
            <a:r>
              <a:rPr lang="en-US" altLang="en-US" sz="1500" dirty="0">
                <a:latin typeface="Arial" panose="020B0604020202020204" pitchFamily="34" charset="0"/>
              </a:rPr>
              <a:t>: Flutter (cross-platform web + mobile)</a:t>
            </a:r>
          </a:p>
          <a:p>
            <a:pPr lvl="1" algn="just">
              <a:buClrTx/>
            </a:pPr>
            <a:endParaRPr lang="en-US" altLang="en-US" sz="1500" dirty="0">
              <a:latin typeface="Arial" panose="020B0604020202020204" pitchFamily="34" charset="0"/>
            </a:endParaRPr>
          </a:p>
          <a:p>
            <a:pPr algn="just">
              <a:buClrTx/>
            </a:pPr>
            <a:r>
              <a:rPr lang="en-US" altLang="en-US" sz="1900" b="1" dirty="0">
                <a:latin typeface="Arial" panose="020B0604020202020204" pitchFamily="34" charset="0"/>
              </a:rPr>
              <a:t>Contributions: </a:t>
            </a:r>
          </a:p>
          <a:p>
            <a:pPr marL="82296" indent="0" algn="just">
              <a:buNone/>
            </a:pPr>
            <a:endParaRPr lang="en-US" altLang="en-US" sz="15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a:xfrm>
            <a:off x="1341884" y="6165304"/>
            <a:ext cx="3859795" cy="476250"/>
          </a:xfrm>
        </p:spPr>
        <p:txBody>
          <a:bodyPr/>
          <a:lstStyle/>
          <a:p>
            <a:r>
              <a:rPr lang="en-IN" sz="1400" dirty="0">
                <a:solidFill>
                  <a:schemeClr val="tx1"/>
                </a:solidFill>
                <a:latin typeface="Times New Roman" pitchFamily="18" charset="0"/>
                <a:cs typeface="Times New Roman" pitchFamily="18" charset="0"/>
              </a:rPr>
              <a:t>Department of Computer Engineering</a:t>
            </a:r>
          </a:p>
        </p:txBody>
      </p:sp>
      <p:sp>
        <p:nvSpPr>
          <p:cNvPr id="9" name="Slide Number Placeholder 8"/>
          <p:cNvSpPr>
            <a:spLocks noGrp="1"/>
          </p:cNvSpPr>
          <p:nvPr>
            <p:ph type="sldNum" sz="quarter" idx="12"/>
          </p:nvPr>
        </p:nvSpPr>
        <p:spPr/>
        <p:txBody>
          <a:bodyPr/>
          <a:lstStyle/>
          <a:p>
            <a:fld id="{56E39993-3455-456D-B76B-54420194FCFA}" type="slidenum">
              <a:rPr lang="en-IN" smtClean="0"/>
              <a:pPr/>
              <a:t>4</a:t>
            </a:fld>
            <a:endParaRPr lang="en-IN"/>
          </a:p>
        </p:txBody>
      </p:sp>
      <p:graphicFrame>
        <p:nvGraphicFramePr>
          <p:cNvPr id="3" name="Table 2">
            <a:extLst>
              <a:ext uri="{FF2B5EF4-FFF2-40B4-BE49-F238E27FC236}">
                <a16:creationId xmlns:a16="http://schemas.microsoft.com/office/drawing/2014/main" id="{C65187BC-440F-5C57-7608-1DF68F20A319}"/>
              </a:ext>
            </a:extLst>
          </p:cNvPr>
          <p:cNvGraphicFramePr>
            <a:graphicFrameLocks noGrp="1"/>
          </p:cNvGraphicFramePr>
          <p:nvPr>
            <p:extLst>
              <p:ext uri="{D42A27DB-BD31-4B8C-83A1-F6EECF244321}">
                <p14:modId xmlns:p14="http://schemas.microsoft.com/office/powerpoint/2010/main" val="2038913744"/>
              </p:ext>
            </p:extLst>
          </p:nvPr>
        </p:nvGraphicFramePr>
        <p:xfrm>
          <a:off x="3696951" y="5238750"/>
          <a:ext cx="6845551" cy="1066800"/>
        </p:xfrm>
        <a:graphic>
          <a:graphicData uri="http://schemas.openxmlformats.org/drawingml/2006/table">
            <a:tbl>
              <a:tblPr firstRow="1" bandRow="1"/>
              <a:tblGrid>
                <a:gridCol w="2960522">
                  <a:extLst>
                    <a:ext uri="{9D8B030D-6E8A-4147-A177-3AD203B41FA5}">
                      <a16:colId xmlns:a16="http://schemas.microsoft.com/office/drawing/2014/main" val="448372251"/>
                    </a:ext>
                  </a:extLst>
                </a:gridCol>
                <a:gridCol w="3885029">
                  <a:extLst>
                    <a:ext uri="{9D8B030D-6E8A-4147-A177-3AD203B41FA5}">
                      <a16:colId xmlns:a16="http://schemas.microsoft.com/office/drawing/2014/main" val="4185876677"/>
                    </a:ext>
                  </a:extLst>
                </a:gridCol>
              </a:tblGrid>
              <a:tr h="387551">
                <a:tc>
                  <a:txBody>
                    <a:bodyPr/>
                    <a:lstStyle/>
                    <a:p>
                      <a:pPr marL="0" marR="0" indent="0" algn="l" rtl="0" eaLnBrk="1" fontAlgn="auto" latinLnBrk="0" hangingPunct="1">
                        <a:buNone/>
                      </a:pPr>
                      <a:r>
                        <a:rPr lang="en-IN" sz="1400" b="1" i="0" u="none" strike="noStrike" kern="1200">
                          <a:solidFill>
                            <a:srgbClr val="000000"/>
                          </a:solidFill>
                          <a:effectLst/>
                          <a:latin typeface="Arial" panose="020B0604020202020204" pitchFamily="34" charset="0"/>
                          <a:ea typeface="Arial" panose="020B0604020202020204" pitchFamily="34" charset="0"/>
                          <a:cs typeface="Arial" panose="020B0604020202020204" pitchFamily="34" charset="0"/>
                        </a:rPr>
                        <a:t>Role 1:</a:t>
                      </a:r>
                      <a:r>
                        <a:rPr lang="en-IN" sz="1400" b="0" i="0" u="none" strike="noStrike" kern="1200">
                          <a:solidFill>
                            <a:srgbClr val="000000"/>
                          </a:solidFill>
                          <a:effectLst/>
                          <a:latin typeface="Arial" panose="020B0604020202020204" pitchFamily="34" charset="0"/>
                          <a:ea typeface="Arial" panose="020B0604020202020204" pitchFamily="34" charset="0"/>
                          <a:cs typeface="Arial" panose="020B0604020202020204" pitchFamily="34" charset="0"/>
                        </a:rPr>
                        <a:t>Flutter Developer (UI/UX &amp; Frontend Integration)</a:t>
                      </a:r>
                      <a:endParaRPr lang="en-IN"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rtl="0" eaLnBrk="1" fontAlgn="t" latinLnBrk="0" hangingPunct="1">
                        <a:buNone/>
                      </a:pPr>
                      <a:r>
                        <a:rPr lang="en-US" sz="1400" b="0" i="0" u="none" strike="noStrike" kern="1200"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1400" b="1" i="0" u="none" strike="noStrike" kern="1200" dirty="0">
                          <a:solidFill>
                            <a:srgbClr val="000000"/>
                          </a:solidFill>
                          <a:effectLst/>
                          <a:latin typeface="Arial" panose="020B0604020202020204" pitchFamily="34" charset="0"/>
                          <a:ea typeface="Arial" panose="020B0604020202020204" pitchFamily="34" charset="0"/>
                          <a:cs typeface="Arial" panose="020B0604020202020204" pitchFamily="34" charset="0"/>
                        </a:rPr>
                        <a:t>Role 3:</a:t>
                      </a:r>
                      <a:r>
                        <a:rPr lang="en-US" sz="1400" b="0" i="0" u="none" strike="noStrike" kern="1200"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IN" sz="1500" dirty="0">
                          <a:latin typeface="Arial" panose="020B0604020202020204" pitchFamily="34" charset="0"/>
                          <a:cs typeface="Arial" panose="020B0604020202020204" pitchFamily="34" charset="0"/>
                        </a:rPr>
                        <a:t>Deep Learning Engineer(image-based threat detection system)</a:t>
                      </a:r>
                      <a:endParaRPr lang="en-US" sz="1500" b="0" i="0" u="none" strike="noStrike" dirty="0">
                        <a:effectLst/>
                        <a:latin typeface="Arial" panose="020B0604020202020204" pitchFamily="34" charset="0"/>
                        <a:cs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2475666"/>
                  </a:ext>
                </a:extLst>
              </a:tr>
              <a:tr h="208280">
                <a:tc>
                  <a:txBody>
                    <a:bodyPr/>
                    <a:lstStyle/>
                    <a:p>
                      <a:pPr marL="0" marR="0" indent="0" algn="l" rtl="0" eaLnBrk="1" fontAlgn="auto" latinLnBrk="0" hangingPunct="1">
                        <a:buNone/>
                      </a:pPr>
                      <a:r>
                        <a:rPr lang="en-IN" sz="1400" b="1" i="0" u="none" strike="noStrike" kern="1200">
                          <a:solidFill>
                            <a:srgbClr val="000000"/>
                          </a:solidFill>
                          <a:effectLst/>
                          <a:latin typeface="Arial" panose="020B0604020202020204" pitchFamily="34" charset="0"/>
                          <a:ea typeface="Arial" panose="020B0604020202020204" pitchFamily="34" charset="0"/>
                          <a:cs typeface="Arial" panose="020B0604020202020204" pitchFamily="34" charset="0"/>
                        </a:rPr>
                        <a:t>Role 2: </a:t>
                      </a:r>
                      <a:r>
                        <a:rPr lang="en-IN" sz="1400" b="0" i="0" u="none" strike="noStrike" kern="1200">
                          <a:solidFill>
                            <a:srgbClr val="000000"/>
                          </a:solidFill>
                          <a:effectLst/>
                          <a:latin typeface="Arial" panose="020B0604020202020204" pitchFamily="34" charset="0"/>
                          <a:ea typeface="Arial" panose="020B0604020202020204" pitchFamily="34" charset="0"/>
                          <a:cs typeface="Arial" panose="020B0604020202020204" pitchFamily="34" charset="0"/>
                        </a:rPr>
                        <a:t>Flask Backend Developer (API + Database)</a:t>
                      </a:r>
                      <a:endParaRPr lang="en-IN" sz="1800" b="0" i="0" u="none" strike="noStrike">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l" rtl="0" eaLnBrk="1" fontAlgn="t" latinLnBrk="0" hangingPunct="1">
                        <a:buNone/>
                      </a:pPr>
                      <a:r>
                        <a:rPr lang="en-US" sz="1400" b="1" i="0" u="none" strike="noStrike" kern="1200" dirty="0">
                          <a:solidFill>
                            <a:srgbClr val="000000"/>
                          </a:solidFill>
                          <a:effectLst/>
                          <a:latin typeface="Arial" panose="020B0604020202020204" pitchFamily="34" charset="0"/>
                          <a:ea typeface="Arial" panose="020B0604020202020204" pitchFamily="34" charset="0"/>
                          <a:cs typeface="Arial" panose="020B0604020202020204" pitchFamily="34" charset="0"/>
                        </a:rPr>
                        <a:t>Role 4:</a:t>
                      </a:r>
                      <a:r>
                        <a:rPr lang="en-US" sz="1400" b="0" i="0" u="none" strike="noStrike" kern="1200" dirty="0">
                          <a:solidFill>
                            <a:srgbClr val="000000"/>
                          </a:solidFill>
                          <a:effectLst/>
                          <a:latin typeface="Arial" panose="020B0604020202020204" pitchFamily="34" charset="0"/>
                          <a:ea typeface="Arial" panose="020B0604020202020204" pitchFamily="34" charset="0"/>
                          <a:cs typeface="Arial" panose="020B0604020202020204" pitchFamily="34" charset="0"/>
                        </a:rPr>
                        <a:t> LLM &amp; ML Engineer  Summarization Engineer (AI Language Features)</a:t>
                      </a:r>
                      <a:endParaRPr lang="en-US" sz="1800" b="0" i="0" u="none" strike="noStrike" dirty="0">
                        <a:effectLst/>
                        <a:latin typeface="Arial" panose="020B060402020202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26714525"/>
                  </a:ext>
                </a:extLst>
              </a:tr>
            </a:tbl>
          </a:graphicData>
        </a:graphic>
      </p:graphicFrame>
    </p:spTree>
    <p:extLst>
      <p:ext uri="{BB962C8B-B14F-4D97-AF65-F5344CB8AC3E}">
        <p14:creationId xmlns:p14="http://schemas.microsoft.com/office/powerpoint/2010/main" val="287536548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413892" y="260648"/>
            <a:ext cx="9759198" cy="70609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IN" sz="6000" b="1" dirty="0">
                <a:solidFill>
                  <a:schemeClr val="bg2">
                    <a:lumMod val="10000"/>
                  </a:schemeClr>
                </a:solidFill>
                <a:latin typeface="Times New Roman" pitchFamily="18" charset="0"/>
                <a:cs typeface="Times New Roman" pitchFamily="18" charset="0"/>
              </a:rPr>
              <a:t> </a:t>
            </a:r>
            <a:r>
              <a:rPr lang="en-IN" sz="4000" b="1" dirty="0">
                <a:solidFill>
                  <a:schemeClr val="bg2">
                    <a:lumMod val="10000"/>
                  </a:schemeClr>
                </a:solidFill>
                <a:latin typeface="Times New Roman" pitchFamily="18" charset="0"/>
                <a:cs typeface="Times New Roman" pitchFamily="18" charset="0"/>
              </a:rPr>
              <a:t>Introduction-2</a:t>
            </a:r>
            <a:endParaRPr lang="en-IN" sz="4000" b="1" dirty="0">
              <a:solidFill>
                <a:schemeClr val="tx1"/>
              </a:solidFill>
              <a:latin typeface="Times New Roman" pitchFamily="18" charset="0"/>
              <a:cs typeface="Times New Roman" pitchFamily="18" charset="0"/>
            </a:endParaRPr>
          </a:p>
        </p:txBody>
      </p:sp>
      <p:sp>
        <p:nvSpPr>
          <p:cNvPr id="7" name="Content Placeholder 6"/>
          <p:cNvSpPr>
            <a:spLocks noGrp="1"/>
          </p:cNvSpPr>
          <p:nvPr>
            <p:ph idx="1"/>
          </p:nvPr>
        </p:nvSpPr>
        <p:spPr>
          <a:xfrm>
            <a:off x="1485899" y="1340768"/>
            <a:ext cx="10702925" cy="4964782"/>
          </a:xfrm>
        </p:spPr>
        <p:txBody>
          <a:bodyPr>
            <a:normAutofit fontScale="55000" lnSpcReduction="20000"/>
          </a:bodyPr>
          <a:lstStyle/>
          <a:p>
            <a:pPr>
              <a:buClrTx/>
            </a:pPr>
            <a:r>
              <a:rPr lang="en-US" sz="2500" b="1" dirty="0">
                <a:latin typeface="Arial" panose="020B0604020202020204" pitchFamily="34" charset="0"/>
                <a:cs typeface="Arial" panose="020B0604020202020204" pitchFamily="34" charset="0"/>
              </a:rPr>
              <a:t>Context</a:t>
            </a:r>
            <a:r>
              <a:rPr lang="en-US" sz="1900" b="1" dirty="0">
                <a:latin typeface="Arial" panose="020B0604020202020204" pitchFamily="34" charset="0"/>
                <a:cs typeface="Arial" panose="020B0604020202020204" pitchFamily="34" charset="0"/>
              </a:rPr>
              <a:t>:</a:t>
            </a:r>
          </a:p>
          <a:p>
            <a:pPr marL="356616" lvl="1" indent="0">
              <a:buClrTx/>
              <a:buNone/>
            </a:pPr>
            <a:r>
              <a:rPr lang="en-US" altLang="en-US" sz="2500" dirty="0">
                <a:latin typeface="Arial" panose="020B0604020202020204" pitchFamily="34" charset="0"/>
              </a:rPr>
              <a:t>An AI-powered complaint management system that uses text and image analysis to detect threat levels and prioritize urgent civic issues. Verified users can submit complaints via a cross-platform app, receiving real-time updates through SMS or email.</a:t>
            </a:r>
          </a:p>
          <a:p>
            <a:pPr marL="356616" lvl="1" indent="0">
              <a:buClrTx/>
              <a:buNone/>
            </a:pPr>
            <a:endParaRPr lang="en-US" sz="2700" b="1" dirty="0">
              <a:latin typeface="Arial" panose="020B0604020202020204" pitchFamily="34" charset="0"/>
              <a:cs typeface="Arial" panose="020B0604020202020204" pitchFamily="34" charset="0"/>
            </a:endParaRPr>
          </a:p>
          <a:p>
            <a:pPr>
              <a:buClrTx/>
            </a:pPr>
            <a:r>
              <a:rPr lang="en-US" sz="2700" b="1" dirty="0">
                <a:latin typeface="Arial" panose="020B0604020202020204" pitchFamily="34" charset="0"/>
                <a:cs typeface="Arial" panose="020B0604020202020204" pitchFamily="34" charset="0"/>
              </a:rPr>
              <a:t>Identified Loopholes in Existing Systems:</a:t>
            </a:r>
          </a:p>
          <a:p>
            <a:pPr lvl="1">
              <a:buClrTx/>
            </a:pPr>
            <a:r>
              <a:rPr lang="en-US" sz="2000" dirty="0">
                <a:latin typeface="Arial" panose="020B0604020202020204" pitchFamily="34" charset="0"/>
                <a:cs typeface="Arial" panose="020B0604020202020204" pitchFamily="34" charset="0"/>
              </a:rPr>
              <a:t>Lack of Threat Prioritization and no Image or Visual Analysis</a:t>
            </a:r>
          </a:p>
          <a:p>
            <a:pPr lvl="1">
              <a:buClrTx/>
            </a:pPr>
            <a:r>
              <a:rPr lang="en-US" sz="2000" dirty="0">
                <a:latin typeface="Arial" panose="020B0604020202020204" pitchFamily="34" charset="0"/>
                <a:cs typeface="Arial" panose="020B0604020202020204" pitchFamily="34" charset="0"/>
              </a:rPr>
              <a:t>Manual Complaint Sorting</a:t>
            </a:r>
          </a:p>
          <a:p>
            <a:pPr lvl="1">
              <a:buClrTx/>
            </a:pPr>
            <a:r>
              <a:rPr lang="en-US" sz="2000" dirty="0">
                <a:latin typeface="Arial" panose="020B0604020202020204" pitchFamily="34" charset="0"/>
                <a:cs typeface="Arial" panose="020B0604020202020204" pitchFamily="34" charset="0"/>
              </a:rPr>
              <a:t>No AI-Based Automation</a:t>
            </a:r>
          </a:p>
          <a:p>
            <a:pPr lvl="1">
              <a:buClrTx/>
            </a:pPr>
            <a:r>
              <a:rPr lang="en-US" sz="2000" dirty="0">
                <a:latin typeface="Arial" panose="020B0604020202020204" pitchFamily="34" charset="0"/>
                <a:cs typeface="Arial" panose="020B0604020202020204" pitchFamily="34" charset="0"/>
              </a:rPr>
              <a:t>Inaccessible or Fragmented Platforms</a:t>
            </a:r>
          </a:p>
          <a:p>
            <a:pPr lvl="1">
              <a:buClrTx/>
            </a:pPr>
            <a:r>
              <a:rPr lang="en-US" sz="2000" dirty="0">
                <a:latin typeface="Arial" panose="020B0604020202020204" pitchFamily="34" charset="0"/>
                <a:cs typeface="Arial" panose="020B0604020202020204" pitchFamily="34" charset="0"/>
              </a:rPr>
              <a:t>Minimal Transparency or Feedback Loop</a:t>
            </a:r>
          </a:p>
          <a:p>
            <a:pPr marL="0" lvl="0" indent="0" eaLnBrk="0" fontAlgn="base" hangingPunct="0">
              <a:spcBef>
                <a:spcPct val="0"/>
              </a:spcBef>
              <a:spcAft>
                <a:spcPct val="0"/>
              </a:spcAft>
              <a:buClrTx/>
              <a:buSzTx/>
              <a:buNone/>
            </a:pPr>
            <a:endParaRPr lang="en-US" altLang="en-US" sz="2700" b="1" dirty="0">
              <a:latin typeface="Arial" panose="020B0604020202020204" pitchFamily="34" charset="0"/>
            </a:endParaRPr>
          </a:p>
          <a:p>
            <a:pPr marL="171450" indent="-171450" eaLnBrk="0" fontAlgn="base" hangingPunct="0">
              <a:spcBef>
                <a:spcPct val="0"/>
              </a:spcBef>
              <a:spcAft>
                <a:spcPct val="0"/>
              </a:spcAft>
              <a:buClrTx/>
              <a:buSzTx/>
            </a:pPr>
            <a:r>
              <a:rPr lang="en-US" altLang="en-US" sz="2700" b="1" dirty="0">
                <a:latin typeface="Arial" panose="020B0604020202020204" pitchFamily="34" charset="0"/>
              </a:rPr>
              <a:t>References &amp; Real-Life Inspiration:</a:t>
            </a:r>
          </a:p>
          <a:p>
            <a:pPr marL="445770" lvl="1" indent="-171450" eaLnBrk="0" fontAlgn="base" hangingPunct="0">
              <a:spcBef>
                <a:spcPct val="0"/>
              </a:spcBef>
              <a:spcAft>
                <a:spcPct val="0"/>
              </a:spcAft>
              <a:buClrTx/>
            </a:pPr>
            <a:r>
              <a:rPr lang="en-US" altLang="en-US" sz="2200" b="1" dirty="0">
                <a:latin typeface="Arial" panose="020B0604020202020204" pitchFamily="34" charset="0"/>
              </a:rPr>
              <a:t>CPGRAMS</a:t>
            </a:r>
            <a:r>
              <a:rPr lang="en-US" altLang="en-US" sz="2200" dirty="0">
                <a:latin typeface="Arial" panose="020B0604020202020204" pitchFamily="34" charset="0"/>
              </a:rPr>
              <a:t>: National complaint portal, but lacks AI, image analysis, and real-time updates.</a:t>
            </a:r>
          </a:p>
          <a:p>
            <a:pPr marL="445770" lvl="1" indent="-171450" eaLnBrk="0" fontAlgn="base" hangingPunct="0">
              <a:spcBef>
                <a:spcPct val="0"/>
              </a:spcBef>
              <a:spcAft>
                <a:spcPct val="0"/>
              </a:spcAft>
              <a:buClrTx/>
            </a:pPr>
            <a:r>
              <a:rPr lang="en-US" altLang="en-US" sz="2200" b="1" dirty="0" err="1">
                <a:latin typeface="Arial" panose="020B0604020202020204" pitchFamily="34" charset="0"/>
              </a:rPr>
              <a:t>mSeva</a:t>
            </a:r>
            <a:r>
              <a:rPr lang="en-US" altLang="en-US" sz="2200" b="1" dirty="0">
                <a:latin typeface="Arial" panose="020B0604020202020204" pitchFamily="34" charset="0"/>
              </a:rPr>
              <a:t> &amp; Swachh Bharat Apps</a:t>
            </a:r>
            <a:r>
              <a:rPr lang="en-US" altLang="en-US" sz="2200" dirty="0">
                <a:latin typeface="Arial" panose="020B0604020202020204" pitchFamily="34" charset="0"/>
              </a:rPr>
              <a:t>: Allow complaints with photos, but no smart threat detection or user verification.</a:t>
            </a:r>
          </a:p>
          <a:p>
            <a:pPr marL="445770" lvl="1" indent="-171450" eaLnBrk="0" fontAlgn="base" hangingPunct="0">
              <a:spcBef>
                <a:spcPct val="0"/>
              </a:spcBef>
              <a:spcAft>
                <a:spcPct val="0"/>
              </a:spcAft>
              <a:buClrTx/>
            </a:pPr>
            <a:r>
              <a:rPr lang="en-US" altLang="en-US" sz="2200" b="1" dirty="0">
                <a:latin typeface="Arial" panose="020B0604020202020204" pitchFamily="34" charset="0"/>
              </a:rPr>
              <a:t>Municipal Apps</a:t>
            </a:r>
            <a:r>
              <a:rPr lang="en-US" altLang="en-US" sz="2200" dirty="0">
                <a:latin typeface="Arial" panose="020B0604020202020204" pitchFamily="34" charset="0"/>
              </a:rPr>
              <a:t>: City-specific apps (like BBMP, MCGM) have limited features and no automation.</a:t>
            </a:r>
          </a:p>
          <a:p>
            <a:pPr marL="445770" lvl="1" indent="-171450" eaLnBrk="0" fontAlgn="base" hangingPunct="0">
              <a:spcBef>
                <a:spcPct val="0"/>
              </a:spcBef>
              <a:spcAft>
                <a:spcPct val="0"/>
              </a:spcAft>
              <a:buClrTx/>
            </a:pPr>
            <a:r>
              <a:rPr lang="en-US" altLang="en-US" sz="2200" b="1" dirty="0">
                <a:latin typeface="Arial" panose="020B0604020202020204" pitchFamily="34" charset="0"/>
              </a:rPr>
              <a:t>311 NYC &amp; </a:t>
            </a:r>
            <a:r>
              <a:rPr lang="en-US" altLang="en-US" sz="2200" b="1" dirty="0" err="1">
                <a:latin typeface="Arial" panose="020B0604020202020204" pitchFamily="34" charset="0"/>
              </a:rPr>
              <a:t>SeeClickFix</a:t>
            </a:r>
            <a:r>
              <a:rPr lang="en-US" altLang="en-US" sz="2200" b="1" dirty="0">
                <a:latin typeface="Arial" panose="020B0604020202020204" pitchFamily="34" charset="0"/>
              </a:rPr>
              <a:t> (USA)</a:t>
            </a:r>
            <a:r>
              <a:rPr lang="en-US" altLang="en-US" sz="2200" dirty="0">
                <a:latin typeface="Arial" panose="020B0604020202020204" pitchFamily="34" charset="0"/>
              </a:rPr>
              <a:t>: International apps that inspired the use of photos, location, and mobile-friendly complaint logging.</a:t>
            </a:r>
          </a:p>
          <a:p>
            <a:pPr marL="445770" lvl="1" indent="-171450" eaLnBrk="0" fontAlgn="base" hangingPunct="0">
              <a:spcBef>
                <a:spcPct val="0"/>
              </a:spcBef>
              <a:spcAft>
                <a:spcPct val="0"/>
              </a:spcAft>
              <a:buClrTx/>
            </a:pPr>
            <a:r>
              <a:rPr lang="en-US" altLang="en-US" sz="2200" b="1" dirty="0">
                <a:latin typeface="Arial" panose="020B0604020202020204" pitchFamily="34" charset="0"/>
              </a:rPr>
              <a:t>AI in Indian Governance</a:t>
            </a:r>
            <a:r>
              <a:rPr lang="en-US" altLang="en-US" sz="2200" dirty="0">
                <a:latin typeface="Arial" panose="020B0604020202020204" pitchFamily="34" charset="0"/>
              </a:rPr>
              <a:t>: Examples like Delhi Police using AI show the potential for intelligent civic tech in India.</a:t>
            </a:r>
          </a:p>
          <a:p>
            <a:pPr marL="274320" lvl="1" indent="0" eaLnBrk="0" fontAlgn="base" hangingPunct="0">
              <a:spcBef>
                <a:spcPct val="0"/>
              </a:spcBef>
              <a:spcAft>
                <a:spcPct val="0"/>
              </a:spcAft>
              <a:buClrTx/>
              <a:buNone/>
            </a:pPr>
            <a:endParaRPr lang="en-US" altLang="en-US" sz="1500" dirty="0">
              <a:latin typeface="Arial" panose="020B0604020202020204" pitchFamily="34" charset="0"/>
            </a:endParaRPr>
          </a:p>
          <a:p>
            <a:pPr marL="171450" indent="-171450" eaLnBrk="0" fontAlgn="base" hangingPunct="0">
              <a:spcBef>
                <a:spcPct val="0"/>
              </a:spcBef>
              <a:spcAft>
                <a:spcPct val="0"/>
              </a:spcAft>
              <a:buClrTx/>
            </a:pPr>
            <a:r>
              <a:rPr lang="en-US" sz="3500" b="1" dirty="0">
                <a:latin typeface="Arial" panose="020B0604020202020204" pitchFamily="34" charset="0"/>
                <a:cs typeface="Arial" panose="020B0604020202020204" pitchFamily="34" charset="0"/>
              </a:rPr>
              <a:t>Impact of </a:t>
            </a:r>
            <a:r>
              <a:rPr lang="en-US" sz="3500" b="1" dirty="0" err="1">
                <a:latin typeface="Arial" panose="020B0604020202020204" pitchFamily="34" charset="0"/>
                <a:cs typeface="Arial" panose="020B0604020202020204" pitchFamily="34" charset="0"/>
              </a:rPr>
              <a:t>CivicEye</a:t>
            </a:r>
            <a:r>
              <a:rPr lang="en-US" sz="3500" b="1" dirty="0">
                <a:latin typeface="Arial" panose="020B0604020202020204" pitchFamily="34" charset="0"/>
                <a:cs typeface="Arial" panose="020B0604020202020204" pitchFamily="34" charset="0"/>
              </a:rPr>
              <a:t>:</a:t>
            </a:r>
          </a:p>
          <a:p>
            <a:pPr marL="445770" lvl="1" indent="-171450" eaLnBrk="0" fontAlgn="base" hangingPunct="0">
              <a:spcBef>
                <a:spcPct val="0"/>
              </a:spcBef>
              <a:spcAft>
                <a:spcPct val="0"/>
              </a:spcAft>
              <a:buClrTx/>
            </a:pPr>
            <a:r>
              <a:rPr lang="en-US" altLang="en-US" sz="2500" dirty="0">
                <a:latin typeface="Arial" panose="020B0604020202020204" pitchFamily="34" charset="0"/>
              </a:rPr>
              <a:t>Faster resolution through AI-based threat detection.</a:t>
            </a:r>
          </a:p>
          <a:p>
            <a:pPr marL="445770" lvl="1" indent="-171450" eaLnBrk="0" fontAlgn="base" hangingPunct="0">
              <a:spcBef>
                <a:spcPct val="0"/>
              </a:spcBef>
              <a:spcAft>
                <a:spcPct val="0"/>
              </a:spcAft>
              <a:buClrTx/>
            </a:pPr>
            <a:r>
              <a:rPr lang="en-US" altLang="en-US" sz="2500" dirty="0">
                <a:latin typeface="Arial" panose="020B0604020202020204" pitchFamily="34" charset="0"/>
              </a:rPr>
              <a:t>Safer communities via smart visual/text analysis.</a:t>
            </a:r>
          </a:p>
          <a:p>
            <a:pPr marL="445770" lvl="1" indent="-171450" eaLnBrk="0" fontAlgn="base" hangingPunct="0">
              <a:spcBef>
                <a:spcPct val="0"/>
              </a:spcBef>
              <a:spcAft>
                <a:spcPct val="0"/>
              </a:spcAft>
              <a:buClrTx/>
            </a:pPr>
            <a:r>
              <a:rPr lang="en-US" altLang="en-US" sz="2500" dirty="0">
                <a:latin typeface="Arial" panose="020B0604020202020204" pitchFamily="34" charset="0"/>
              </a:rPr>
              <a:t>Spam reduced with Aadhaar/PAN verification.</a:t>
            </a:r>
          </a:p>
          <a:p>
            <a:pPr marL="445770" lvl="1" indent="-171450" eaLnBrk="0" fontAlgn="base" hangingPunct="0">
              <a:spcBef>
                <a:spcPct val="0"/>
              </a:spcBef>
              <a:spcAft>
                <a:spcPct val="0"/>
              </a:spcAft>
              <a:buClrTx/>
            </a:pPr>
            <a:r>
              <a:rPr lang="en-US" altLang="en-US" sz="2500" dirty="0">
                <a:latin typeface="Arial" panose="020B0604020202020204" pitchFamily="34" charset="0"/>
              </a:rPr>
              <a:t>Real-time updates build public trust.</a:t>
            </a:r>
          </a:p>
          <a:p>
            <a:pPr marL="445770" lvl="1" indent="-171450" eaLnBrk="0" fontAlgn="base" hangingPunct="0">
              <a:spcBef>
                <a:spcPct val="0"/>
              </a:spcBef>
              <a:spcAft>
                <a:spcPct val="0"/>
              </a:spcAft>
              <a:buClrTx/>
            </a:pPr>
            <a:r>
              <a:rPr lang="en-US" altLang="en-US" sz="2500" dirty="0">
                <a:latin typeface="Arial" panose="020B0604020202020204" pitchFamily="34" charset="0"/>
              </a:rPr>
              <a:t>Easy access via mobile and web.</a:t>
            </a:r>
          </a:p>
          <a:p>
            <a:pPr marL="445770" lvl="1" indent="-171450" eaLnBrk="0" fontAlgn="base" hangingPunct="0">
              <a:spcBef>
                <a:spcPct val="0"/>
              </a:spcBef>
              <a:spcAft>
                <a:spcPct val="0"/>
              </a:spcAft>
              <a:buClrTx/>
            </a:pPr>
            <a:r>
              <a:rPr lang="en-US" altLang="en-US" sz="2500" dirty="0">
                <a:latin typeface="Arial" panose="020B0604020202020204" pitchFamily="34" charset="0"/>
              </a:rPr>
              <a:t>Supports smarter, tech-driven governance</a:t>
            </a:r>
            <a:endParaRPr lang="en-US" sz="2500" b="1" dirty="0">
              <a:latin typeface="Arial" panose="020B0604020202020204" pitchFamily="34" charset="0"/>
              <a:cs typeface="Arial" panose="020B0604020202020204" pitchFamily="34" charset="0"/>
            </a:endParaRPr>
          </a:p>
          <a:p>
            <a:pPr marL="445770" lvl="1" indent="-171450" eaLnBrk="0" fontAlgn="base" hangingPunct="0">
              <a:spcBef>
                <a:spcPct val="0"/>
              </a:spcBef>
              <a:spcAft>
                <a:spcPct val="0"/>
              </a:spcAft>
              <a:buClrTx/>
            </a:pPr>
            <a:endParaRPr lang="en-US" altLang="en-US" sz="1500" dirty="0">
              <a:latin typeface="Arial" panose="020B0604020202020204" pitchFamily="34" charset="0"/>
            </a:endParaRPr>
          </a:p>
          <a:p>
            <a:pPr marL="0" lvl="0" indent="0" eaLnBrk="0" fontAlgn="base" hangingPunct="0">
              <a:spcBef>
                <a:spcPct val="0"/>
              </a:spcBef>
              <a:spcAft>
                <a:spcPct val="0"/>
              </a:spcAft>
              <a:buClrTx/>
              <a:buSzTx/>
              <a:buNone/>
            </a:pPr>
            <a:endParaRPr lang="en-US" altLang="en-US" sz="1800" dirty="0">
              <a:latin typeface="Arial" panose="020B0604020202020204" pitchFamily="34" charset="0"/>
            </a:endParaRPr>
          </a:p>
          <a:p>
            <a:pPr lvl="1">
              <a:buClrTx/>
            </a:pPr>
            <a:endParaRPr lang="en-US" sz="1500" b="1" dirty="0">
              <a:latin typeface="Arial" panose="020B0604020202020204" pitchFamily="34" charset="0"/>
              <a:cs typeface="Arial" panose="020B0604020202020204" pitchFamily="34" charset="0"/>
            </a:endParaRPr>
          </a:p>
          <a:p>
            <a:pPr marL="402336" lvl="1" indent="0">
              <a:buClrTx/>
              <a:buNone/>
            </a:pPr>
            <a:endParaRPr lang="en-US" sz="1800" dirty="0">
              <a:latin typeface="Arial" panose="020B0604020202020204" pitchFamily="34" charset="0"/>
              <a:cs typeface="Arial" panose="020B0604020202020204" pitchFamily="34" charset="0"/>
            </a:endParaRPr>
          </a:p>
          <a:p>
            <a:pPr lvl="1">
              <a:buClrTx/>
            </a:pPr>
            <a:endParaRPr lang="en-US" sz="1800" dirty="0">
              <a:latin typeface="Arial" panose="020B0604020202020204" pitchFamily="34" charset="0"/>
              <a:cs typeface="Arial" panose="020B0604020202020204" pitchFamily="34" charset="0"/>
            </a:endParaRPr>
          </a:p>
          <a:p>
            <a:pPr marL="82296" indent="0" algn="just">
              <a:buNone/>
            </a:pPr>
            <a:endParaRPr lang="en-US" sz="2000" dirty="0">
              <a:latin typeface="Times New Roman" panose="02020603050405020304" pitchFamily="18" charset="0"/>
              <a:cs typeface="Times New Roman" panose="02020603050405020304" pitchFamily="18" charset="0"/>
            </a:endParaRPr>
          </a:p>
        </p:txBody>
      </p:sp>
      <p:sp>
        <p:nvSpPr>
          <p:cNvPr id="8" name="Footer Placeholder 7"/>
          <p:cNvSpPr>
            <a:spLocks noGrp="1"/>
          </p:cNvSpPr>
          <p:nvPr>
            <p:ph type="ftr" sz="quarter" idx="11"/>
          </p:nvPr>
        </p:nvSpPr>
        <p:spPr>
          <a:xfrm>
            <a:off x="1341884" y="6165304"/>
            <a:ext cx="3859795" cy="476250"/>
          </a:xfrm>
        </p:spPr>
        <p:txBody>
          <a:bodyPr/>
          <a:lstStyle/>
          <a:p>
            <a:r>
              <a:rPr lang="en-IN" sz="1400" dirty="0">
                <a:solidFill>
                  <a:schemeClr val="tx1"/>
                </a:solidFill>
                <a:latin typeface="Times New Roman" pitchFamily="18" charset="0"/>
                <a:cs typeface="Times New Roman" pitchFamily="18" charset="0"/>
              </a:rPr>
              <a:t>Department of Computer Engineering</a:t>
            </a:r>
          </a:p>
        </p:txBody>
      </p:sp>
      <p:sp>
        <p:nvSpPr>
          <p:cNvPr id="9" name="Slide Number Placeholder 8"/>
          <p:cNvSpPr>
            <a:spLocks noGrp="1"/>
          </p:cNvSpPr>
          <p:nvPr>
            <p:ph type="sldNum" sz="quarter" idx="12"/>
          </p:nvPr>
        </p:nvSpPr>
        <p:spPr/>
        <p:txBody>
          <a:bodyPr/>
          <a:lstStyle/>
          <a:p>
            <a:fld id="{56E39993-3455-456D-B76B-54420194FCFA}" type="slidenum">
              <a:rPr lang="en-IN" smtClean="0"/>
              <a:pPr/>
              <a:t>5</a:t>
            </a:fld>
            <a:endParaRPr lang="en-IN"/>
          </a:p>
        </p:txBody>
      </p:sp>
      <p:sp>
        <p:nvSpPr>
          <p:cNvPr id="16" name="Rectangle 11">
            <a:extLst>
              <a:ext uri="{FF2B5EF4-FFF2-40B4-BE49-F238E27FC236}">
                <a16:creationId xmlns:a16="http://schemas.microsoft.com/office/drawing/2014/main" id="{E77F6903-9C2C-ED4C-CC14-4D674BBCB08F}"/>
              </a:ext>
            </a:extLst>
          </p:cNvPr>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32980629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413892" y="260648"/>
            <a:ext cx="9759198" cy="70609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IN" sz="6000" b="1" dirty="0">
                <a:solidFill>
                  <a:schemeClr val="bg2">
                    <a:lumMod val="10000"/>
                  </a:schemeClr>
                </a:solidFill>
                <a:latin typeface="Times New Roman" pitchFamily="18" charset="0"/>
                <a:cs typeface="Times New Roman" pitchFamily="18" charset="0"/>
              </a:rPr>
              <a:t>  </a:t>
            </a:r>
            <a:r>
              <a:rPr lang="en-US" sz="4000" b="1" dirty="0">
                <a:solidFill>
                  <a:schemeClr val="tx1"/>
                </a:solidFill>
                <a:latin typeface="Times New Roman" pitchFamily="18" charset="0"/>
                <a:cs typeface="Times New Roman" pitchFamily="18" charset="0"/>
              </a:rPr>
              <a:t>Abstract-3</a:t>
            </a:r>
            <a:endParaRPr lang="en-IN" sz="4000" b="1" dirty="0">
              <a:solidFill>
                <a:schemeClr val="tx1"/>
              </a:solidFill>
              <a:latin typeface="Times New Roman" pitchFamily="18" charset="0"/>
              <a:cs typeface="Times New Roman" pitchFamily="18" charset="0"/>
            </a:endParaRPr>
          </a:p>
        </p:txBody>
      </p:sp>
      <p:sp>
        <p:nvSpPr>
          <p:cNvPr id="7" name="Content Placeholder 6"/>
          <p:cNvSpPr>
            <a:spLocks noGrp="1"/>
          </p:cNvSpPr>
          <p:nvPr>
            <p:ph idx="1"/>
          </p:nvPr>
        </p:nvSpPr>
        <p:spPr>
          <a:xfrm>
            <a:off x="1485900" y="1340768"/>
            <a:ext cx="9558486" cy="4964782"/>
          </a:xfrm>
        </p:spPr>
        <p:txBody>
          <a:bodyPr>
            <a:normAutofit/>
          </a:bodyPr>
          <a:lstStyle/>
          <a:p>
            <a:pPr marL="82296" indent="0" algn="just">
              <a:buNone/>
            </a:pPr>
            <a:r>
              <a:rPr lang="en-US" sz="2000" dirty="0">
                <a:latin typeface="Times New Roman" panose="02020603050405020304" pitchFamily="18" charset="0"/>
                <a:cs typeface="Times New Roman" panose="02020603050405020304" pitchFamily="18" charset="0"/>
              </a:rPr>
              <a:t>The project “</a:t>
            </a:r>
            <a:r>
              <a:rPr lang="en-US" sz="2000" dirty="0" err="1">
                <a:latin typeface="Times New Roman" panose="02020603050405020304" pitchFamily="18" charset="0"/>
                <a:cs typeface="Times New Roman" panose="02020603050405020304" pitchFamily="18" charset="0"/>
              </a:rPr>
              <a:t>FarmMitra</a:t>
            </a:r>
            <a:r>
              <a:rPr lang="en-US" sz="2000" dirty="0">
                <a:latin typeface="Times New Roman" panose="02020603050405020304" pitchFamily="18" charset="0"/>
                <a:cs typeface="Times New Roman" panose="02020603050405020304" pitchFamily="18" charset="0"/>
              </a:rPr>
              <a:t>” is a farmer-centric </a:t>
            </a:r>
            <a:r>
              <a:rPr lang="en-US" sz="2000" dirty="0" err="1">
                <a:latin typeface="Times New Roman" panose="02020603050405020304" pitchFamily="18" charset="0"/>
                <a:cs typeface="Times New Roman" panose="02020603050405020304" pitchFamily="18" charset="0"/>
              </a:rPr>
              <a:t>agro</a:t>
            </a:r>
            <a:r>
              <a:rPr lang="en-US" sz="2000" dirty="0">
                <a:latin typeface="Times New Roman" panose="02020603050405020304" pitchFamily="18" charset="0"/>
                <a:cs typeface="Times New Roman" panose="02020603050405020304" pitchFamily="18" charset="0"/>
              </a:rPr>
              <a:t>-tech mobile application designed to tackle the dual challenges of agricultural instability and mental health issues among farmers. It offers features like crop failure prediction using weather data, crop recommendations based on soil type, and yield estimation via image uploads. The app connects farmers directly with consumers, eliminating third-party middlemen and improving profit margins. Additionally, “</a:t>
            </a:r>
            <a:r>
              <a:rPr lang="en-US" sz="2000" dirty="0" err="1">
                <a:latin typeface="Times New Roman" panose="02020603050405020304" pitchFamily="18" charset="0"/>
                <a:cs typeface="Times New Roman" panose="02020603050405020304" pitchFamily="18" charset="0"/>
              </a:rPr>
              <a:t>FarmMitra</a:t>
            </a:r>
            <a:r>
              <a:rPr lang="en-US" sz="2000" dirty="0">
                <a:latin typeface="Times New Roman" panose="02020603050405020304" pitchFamily="18" charset="0"/>
                <a:cs typeface="Times New Roman" panose="02020603050405020304" pitchFamily="18" charset="0"/>
              </a:rPr>
              <a:t>” provides access to mental health support through therapy and self-assessment tools. By integrating technology with empathy, the app empowers farmers to make better decisions, earn more, and live healthier lives.</a:t>
            </a:r>
          </a:p>
        </p:txBody>
      </p:sp>
      <p:sp>
        <p:nvSpPr>
          <p:cNvPr id="8" name="Footer Placeholder 7"/>
          <p:cNvSpPr>
            <a:spLocks noGrp="1"/>
          </p:cNvSpPr>
          <p:nvPr>
            <p:ph type="ftr" sz="quarter" idx="11"/>
          </p:nvPr>
        </p:nvSpPr>
        <p:spPr>
          <a:xfrm>
            <a:off x="1341884" y="6165304"/>
            <a:ext cx="3859795" cy="476250"/>
          </a:xfrm>
        </p:spPr>
        <p:txBody>
          <a:bodyPr/>
          <a:lstStyle/>
          <a:p>
            <a:r>
              <a:rPr lang="en-IN" sz="1400" dirty="0">
                <a:solidFill>
                  <a:schemeClr val="tx1"/>
                </a:solidFill>
                <a:latin typeface="Times New Roman" pitchFamily="18" charset="0"/>
                <a:cs typeface="Times New Roman" pitchFamily="18" charset="0"/>
              </a:rPr>
              <a:t>Department of Computer Engineering</a:t>
            </a:r>
          </a:p>
        </p:txBody>
      </p:sp>
      <p:sp>
        <p:nvSpPr>
          <p:cNvPr id="9" name="Slide Number Placeholder 8"/>
          <p:cNvSpPr>
            <a:spLocks noGrp="1"/>
          </p:cNvSpPr>
          <p:nvPr>
            <p:ph type="sldNum" sz="quarter" idx="12"/>
          </p:nvPr>
        </p:nvSpPr>
        <p:spPr/>
        <p:txBody>
          <a:bodyPr/>
          <a:lstStyle/>
          <a:p>
            <a:fld id="{56E39993-3455-456D-B76B-54420194FCFA}" type="slidenum">
              <a:rPr lang="en-IN" smtClean="0"/>
              <a:pPr/>
              <a:t>6</a:t>
            </a:fld>
            <a:endParaRPr lang="en-IN"/>
          </a:p>
        </p:txBody>
      </p:sp>
    </p:spTree>
    <p:extLst>
      <p:ext uri="{BB962C8B-B14F-4D97-AF65-F5344CB8AC3E}">
        <p14:creationId xmlns:p14="http://schemas.microsoft.com/office/powerpoint/2010/main" val="419139817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413892" y="260648"/>
            <a:ext cx="9759198" cy="70609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IN" sz="6000" b="1" dirty="0">
                <a:solidFill>
                  <a:schemeClr val="bg2">
                    <a:lumMod val="10000"/>
                  </a:schemeClr>
                </a:solidFill>
                <a:latin typeface="Times New Roman" pitchFamily="18" charset="0"/>
                <a:cs typeface="Times New Roman" pitchFamily="18" charset="0"/>
              </a:rPr>
              <a:t> </a:t>
            </a:r>
            <a:r>
              <a:rPr lang="en-IN" sz="4000" b="1" dirty="0">
                <a:solidFill>
                  <a:schemeClr val="bg2">
                    <a:lumMod val="10000"/>
                  </a:schemeClr>
                </a:solidFill>
                <a:latin typeface="Times New Roman" pitchFamily="18" charset="0"/>
                <a:cs typeface="Times New Roman" pitchFamily="18" charset="0"/>
              </a:rPr>
              <a:t>Introduction-3</a:t>
            </a:r>
            <a:endParaRPr lang="en-IN" sz="4000" b="1" dirty="0">
              <a:solidFill>
                <a:schemeClr val="tx1"/>
              </a:solidFill>
              <a:latin typeface="Times New Roman" pitchFamily="18" charset="0"/>
              <a:cs typeface="Times New Roman" pitchFamily="18" charset="0"/>
            </a:endParaRPr>
          </a:p>
        </p:txBody>
      </p:sp>
      <p:sp>
        <p:nvSpPr>
          <p:cNvPr id="7" name="Content Placeholder 6"/>
          <p:cNvSpPr>
            <a:spLocks noGrp="1"/>
          </p:cNvSpPr>
          <p:nvPr>
            <p:ph idx="1"/>
          </p:nvPr>
        </p:nvSpPr>
        <p:spPr>
          <a:xfrm>
            <a:off x="1485900" y="1340768"/>
            <a:ext cx="9558486" cy="4964782"/>
          </a:xfrm>
        </p:spPr>
        <p:txBody>
          <a:bodyPr>
            <a:normAutofit/>
          </a:bodyPr>
          <a:lstStyle/>
          <a:p>
            <a:pPr marL="82296" indent="0" algn="just">
              <a:buNone/>
            </a:pPr>
            <a:r>
              <a:rPr lang="en-US" sz="2000" dirty="0">
                <a:latin typeface="Times New Roman" panose="02020603050405020304" pitchFamily="18" charset="0"/>
                <a:cs typeface="Times New Roman" panose="02020603050405020304" pitchFamily="18" charset="0"/>
              </a:rPr>
              <a:t>Farmers across many regions continue to face hardships due to unpredictable weather, mounting debts, and lack of mental health support, leading to increasing suicide rates. “</a:t>
            </a:r>
            <a:r>
              <a:rPr lang="en-US" sz="2000" dirty="0" err="1">
                <a:latin typeface="Times New Roman" panose="02020603050405020304" pitchFamily="18" charset="0"/>
                <a:cs typeface="Times New Roman" panose="02020603050405020304" pitchFamily="18" charset="0"/>
              </a:rPr>
              <a:t>FarmMitra</a:t>
            </a:r>
            <a:r>
              <a:rPr lang="en-US" sz="2000" dirty="0">
                <a:latin typeface="Times New Roman" panose="02020603050405020304" pitchFamily="18" charset="0"/>
                <a:cs typeface="Times New Roman" panose="02020603050405020304" pitchFamily="18" charset="0"/>
              </a:rPr>
              <a:t>” aims to address these critical issues through a smart, holistic solution. The app helps farmers predict crop risks, select optimal crops based on soil conditions, and estimate yields using AI tools. Beyond agriculture, it enables direct selling to consumers for better income and offers access to counseling to detect and manage mental health challenges. With a focus on both economic and emotional well-being, “</a:t>
            </a:r>
            <a:r>
              <a:rPr lang="en-US" sz="2000" dirty="0" err="1">
                <a:latin typeface="Times New Roman" panose="02020603050405020304" pitchFamily="18" charset="0"/>
                <a:cs typeface="Times New Roman" panose="02020603050405020304" pitchFamily="18" charset="0"/>
              </a:rPr>
              <a:t>FarmMitra</a:t>
            </a:r>
            <a:r>
              <a:rPr lang="en-US" sz="2000" dirty="0">
                <a:latin typeface="Times New Roman" panose="02020603050405020304" pitchFamily="18" charset="0"/>
                <a:cs typeface="Times New Roman" panose="02020603050405020304" pitchFamily="18" charset="0"/>
              </a:rPr>
              <a:t>” strives to create a safer, more sustainable future for farming communities.</a:t>
            </a:r>
          </a:p>
        </p:txBody>
      </p:sp>
      <p:sp>
        <p:nvSpPr>
          <p:cNvPr id="8" name="Footer Placeholder 7"/>
          <p:cNvSpPr>
            <a:spLocks noGrp="1"/>
          </p:cNvSpPr>
          <p:nvPr>
            <p:ph type="ftr" sz="quarter" idx="11"/>
          </p:nvPr>
        </p:nvSpPr>
        <p:spPr>
          <a:xfrm>
            <a:off x="1341884" y="6165304"/>
            <a:ext cx="3859795" cy="476250"/>
          </a:xfrm>
        </p:spPr>
        <p:txBody>
          <a:bodyPr/>
          <a:lstStyle/>
          <a:p>
            <a:r>
              <a:rPr lang="en-IN" sz="1400" dirty="0">
                <a:solidFill>
                  <a:schemeClr val="tx1"/>
                </a:solidFill>
                <a:latin typeface="Times New Roman" pitchFamily="18" charset="0"/>
                <a:cs typeface="Times New Roman" pitchFamily="18" charset="0"/>
              </a:rPr>
              <a:t>Department of Computer Engineering</a:t>
            </a:r>
          </a:p>
        </p:txBody>
      </p:sp>
      <p:sp>
        <p:nvSpPr>
          <p:cNvPr id="9" name="Slide Number Placeholder 8"/>
          <p:cNvSpPr>
            <a:spLocks noGrp="1"/>
          </p:cNvSpPr>
          <p:nvPr>
            <p:ph type="sldNum" sz="quarter" idx="12"/>
          </p:nvPr>
        </p:nvSpPr>
        <p:spPr/>
        <p:txBody>
          <a:bodyPr/>
          <a:lstStyle/>
          <a:p>
            <a:fld id="{56E39993-3455-456D-B76B-54420194FCFA}" type="slidenum">
              <a:rPr lang="en-IN" smtClean="0"/>
              <a:pPr/>
              <a:t>7</a:t>
            </a:fld>
            <a:endParaRPr lang="en-IN"/>
          </a:p>
        </p:txBody>
      </p:sp>
    </p:spTree>
    <p:extLst>
      <p:ext uri="{BB962C8B-B14F-4D97-AF65-F5344CB8AC3E}">
        <p14:creationId xmlns:p14="http://schemas.microsoft.com/office/powerpoint/2010/main" val="2625363258"/>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MAY_IGNORE_UCW" val="true"/>
  <p:tag name="PPT/SLIDES/SLIDE1.XML" val="2837889040"/>
  <p:tag name="PPT/SLIDES/SLIDE2.XML" val="1674037699"/>
  <p:tag name="PPT/SLIDES/SLIDE3.XML" val="1450368681"/>
  <p:tag name="PPT/SLIDES/SLIDE4.XML" val="1133851987"/>
  <p:tag name="PPT/SLIDES/SLIDE5.XML" val="3354333192"/>
  <p:tag name="PPT/SLIDES/SLIDE6.XML" val="295207554"/>
  <p:tag name="PPT/SLIDES/SLIDE7.XML" val="3015913390"/>
  <p:tag name="PPT/SLIDES/SLIDE8.XML" val="1846241802"/>
  <p:tag name="PPT/SLIDES/SLIDE9.XML" val="1840105176"/>
  <p:tag name="PPT/SLIDES/SLIDE10.XML" val="2549823393"/>
  <p:tag name="PPT/SLIDES/SLIDE11.XML" val="2485005856"/>
  <p:tag name="PPT/SLIDES/SLIDE12.XML" val="3794919026"/>
  <p:tag name="PPT/SLIDES/SLIDE13.XML" val="3206790185"/>
  <p:tag name="PPT/SLIDES/SLIDE14.XML" val="657748504"/>
  <p:tag name="PPT/SLIDES/SLIDE15.XML" val="2882622738"/>
  <p:tag name="PPT/SLIDES/SLIDE16.XML" val="2139186498"/>
  <p:tag name="PPT/SLIDES/SLIDE17.XML" val="4204735351"/>
  <p:tag name="PPT/SLIDEMASTERS/SLIDEMASTER1.XML" val="2873081776"/>
  <p:tag name="PPT/SLIDELAYOUTS/SLIDELAYOUT8.XML" val="1890856027"/>
  <p:tag name="PPT/SLIDELAYOUTS/SLIDELAYOUT5.XML" val="3743317241"/>
  <p:tag name="PPT/SLIDELAYOUTS/SLIDELAYOUT1.XML" val="2694141960"/>
  <p:tag name="PPT/SLIDELAYOUTS/SLIDELAYOUT2.XML" val="516830122"/>
  <p:tag name="PPT/SLIDELAYOUTS/SLIDELAYOUT3.XML" val="1453995001"/>
  <p:tag name="PPT/SLIDELAYOUTS/SLIDELAYOUT4.XML" val="3765383380"/>
  <p:tag name="PPT/SLIDELAYOUTS/SLIDELAYOUT6.XML" val="1206593837"/>
  <p:tag name="PPT/SLIDELAYOUTS/SLIDELAYOUT7.XML" val="2077127542"/>
  <p:tag name="PPT/SLIDELAYOUTS/SLIDELAYOUT9.XML" val="91225895"/>
  <p:tag name="PPT/SLIDELAYOUTS/SLIDELAYOUT10.XML" val="3087857620"/>
  <p:tag name="PPT/SLIDELAYOUTS/SLIDELAYOUT11.XML" val="3346641450"/>
  <p:tag name="PPT/NOTESSLIDES/NOTESSLIDE1.XML" val="1240276529"/>
  <p:tag name="PPT/NOTESSLIDES/NOTESSLIDE3.XML" val="2602626123"/>
  <p:tag name="PPT/NOTESSLIDES/NOTESSLIDE2.XML" val="2608350570"/>
  <p:tag name="PPT/NOTESMASTERS/NOTESMASTER1.XML" val="935544310"/>
  <p:tag name="PPT/THEME/THEME1.XML" val="1311267916"/>
  <p:tag name="PPT/MEDIA/IMAGE1.JPEG" val="857195657"/>
  <p:tag name="PPT/THEME/THEME2.XML" val="956944377"/>
  <p:tag name="PPT/MEDIA/IMAGE2.PNG" val="908053677"/>
  <p:tag name="PPT/MEDIA/IMAGE3.JPEG" val="1079268251"/>
  <p:tag name="PPT/MEDIA/IMAGE5.PNG" val="277163663"/>
  <p:tag name="PPT/MEDIA/IMAGE6.JPG" val="2817251566"/>
  <p:tag name="PPT/MEDIA/IMAGE4.PNG" val="3499481032"/>
  <p:tag name="PPT/MEDIA/IMAGE7.PNG" val="2295999043"/>
  <p:tag name="PPT/MEDIA/IMAGE8.PNG" val="1414534672"/>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TotalTime>
  <Words>1212</Words>
  <Application>Microsoft Office PowerPoint</Application>
  <PresentationFormat>Custom</PresentationFormat>
  <Paragraphs>138</Paragraphs>
  <Slides>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Gill Sans MT</vt:lpstr>
      <vt:lpstr>Times New Roman</vt:lpstr>
      <vt:lpstr>Verdana</vt:lpstr>
      <vt:lpstr>Wingdings 2</vt:lpstr>
      <vt:lpstr>Solstice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Jenil Rathod</dc:creator>
  <cp:lastModifiedBy>Jenil Rathod</cp:lastModifiedBy>
  <cp:revision>11</cp:revision>
  <dcterms:modified xsi:type="dcterms:W3CDTF">2025-07-11T05:39:09Z</dcterms:modified>
</cp:coreProperties>
</file>