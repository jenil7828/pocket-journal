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3" r:id="rId4"/>
    <p:sldId id="258" r:id="rId5"/>
    <p:sldId id="259" r:id="rId6"/>
    <p:sldId id="260" r:id="rId7"/>
    <p:sldId id="261" r:id="rId8"/>
  </p:sldIdLst>
  <p:sldSz cx="12188825" cy="6858000"/>
  <p:notesSz cx="6761163" cy="9942513"/>
  <p:custDataLst>
    <p:tags r:id="rId10"/>
  </p:custDataLst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CE372E-ECD7-4A1C-B22A-9EB5CF0A707A}">
  <a:tblStyle styleId="{1CCE372E-ECD7-4A1C-B22A-9EB5CF0A70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1153E5F-1116-4281-9A61-3A002BC911FA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EF0"/>
          </a:solidFill>
        </a:fill>
      </a:tcStyle>
    </a:wholeTbl>
    <a:band1H>
      <a:tcTxStyle/>
      <a:tcStyle>
        <a:tcBdr/>
        <a:fill>
          <a:solidFill>
            <a:srgbClr val="CC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BE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522" y="58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28EF6-EFF9-44DE-A3DE-952C4DDD5FF2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A7174-0450-466D-84B3-66F729647D9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8619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263" y="746125"/>
            <a:ext cx="662463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0A7174-0450-466D-84B3-66F729647D9B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09583" y="359898"/>
            <a:ext cx="9872948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09583" y="1850064"/>
            <a:ext cx="9872948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3301-E303-4396-986E-2DEB80CBABDC}" type="datetime1">
              <a:rPr lang="en-IN" smtClean="0"/>
              <a:t>18-07-2025</a:t>
            </a:fld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1228257" y="1413802"/>
            <a:ext cx="280343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542499" y="1345016"/>
            <a:ext cx="85322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9DE9C-E4AD-45FD-9BDF-D4C6112E4E34}" type="datetime1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061" y="-54"/>
            <a:ext cx="9141619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6960" y="2600325"/>
            <a:ext cx="8532178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6960" y="1066800"/>
            <a:ext cx="8532178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52D3-1E65-4F1A-8DA3-1C81C031BFC0}" type="datetime1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3047206" y="0"/>
            <a:ext cx="101574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895674" y="2814656"/>
            <a:ext cx="280343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3209916" y="2745870"/>
            <a:ext cx="85322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645" y="274320"/>
            <a:ext cx="9994837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3646" y="1524000"/>
            <a:ext cx="487553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2952" y="1524000"/>
            <a:ext cx="487553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3AB9-2C9C-4324-BCC7-68E59EF79DE2}" type="datetime1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5160336"/>
            <a:ext cx="10969943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328278"/>
            <a:ext cx="5363083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6301" y="328278"/>
            <a:ext cx="5363083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441" y="969336"/>
            <a:ext cx="5363083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969336"/>
            <a:ext cx="5363083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7CEB-1456-4B8A-A2B5-4154326EFBB0}" type="datetime1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645" y="274320"/>
            <a:ext cx="9994837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42FA-DF29-4AA8-AB59-FF0BE61D490D}" type="datetime1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2960" y="0"/>
            <a:ext cx="1083586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6845-2AF9-455E-BB14-BCF0DEE0F3BA}" type="datetime1">
              <a:rPr lang="en-IN" smtClean="0"/>
              <a:t>18-07-2025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352959" y="-54"/>
            <a:ext cx="97511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16778"/>
            <a:ext cx="5078677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441" y="1406964"/>
            <a:ext cx="5078677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441" y="2133601"/>
            <a:ext cx="10868369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B4CF-1F6F-49AE-8FA6-3AD4452F59DF}" type="datetime1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7150" y="1066800"/>
            <a:ext cx="3656648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8CED-E8E0-4C1A-B92E-63EB2D542F94}" type="datetime1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015735" y="1066800"/>
            <a:ext cx="6094413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309" y="1143004"/>
            <a:ext cx="5891265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829" y="954341"/>
            <a:ext cx="91416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69818" y="936786"/>
            <a:ext cx="865407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309" y="4800600"/>
            <a:ext cx="5891265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0BF7-4719-4D51-98B8-11A967826253}" type="datetime1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1619" y="274640"/>
            <a:ext cx="2437765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3603" y="274641"/>
            <a:ext cx="7414869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7309-E755-44EF-8773-F3595F07C295}" type="datetime1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619" y="-815922"/>
            <a:ext cx="2184614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25030" y="21103"/>
            <a:ext cx="2268997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43779" y="1055077"/>
            <a:ext cx="1500565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350146" y="-54"/>
            <a:ext cx="10838679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3645" y="274638"/>
            <a:ext cx="9994837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3645" y="1447800"/>
            <a:ext cx="9994837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95BC1F6-50F8-4325-A4F5-6FAFF4654454}" type="datetime1">
              <a:rPr lang="en-IN" smtClean="0"/>
              <a:t>18-07-2025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IN"/>
              <a:t>Department of Computer Engineering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6E39993-3455-456D-B76B-54420194FCF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352959" y="-54"/>
            <a:ext cx="97511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ransition/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8636" name="Google Shape;1048636;p1"/>
          <p:cNvGraphicFramePr/>
          <p:nvPr/>
        </p:nvGraphicFramePr>
        <p:xfrm>
          <a:off x="1485900" y="188640"/>
          <a:ext cx="10225125" cy="1800200"/>
        </p:xfrm>
        <a:graphic>
          <a:graphicData uri="http://schemas.openxmlformats.org/drawingml/2006/table">
            <a:tbl>
              <a:tblPr>
                <a:noFill/>
                <a:tableStyleId>{1CCE372E-ECD7-4A1C-B22A-9EB5CF0A707A}</a:tableStyleId>
              </a:tblPr>
              <a:tblGrid>
                <a:gridCol w="165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endParaRPr sz="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20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ZEAL EDUCATION SOCIETY’S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20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ZEAL COLLEGE OF ENGINEERING AND RESEARCH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20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NARHE │PUNE -41 │ INDIA</a:t>
                      </a:r>
                      <a:endParaRPr sz="20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24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DEPARTMENT OF COMPUTER ENGINEERING</a:t>
                      </a:r>
                      <a:endParaRPr sz="2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48637" name="Google Shape;1048637;p1" descr="Image result for ZCO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9918" y="476672"/>
            <a:ext cx="1512167" cy="1512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638" name="Google Shape;1048638;p1" descr="Zeal 25 Years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0877" y="548680"/>
            <a:ext cx="1152128" cy="136815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9" name="Google Shape;1048639;p1"/>
          <p:cNvSpPr txBox="1"/>
          <p:nvPr/>
        </p:nvSpPr>
        <p:spPr>
          <a:xfrm>
            <a:off x="1557908" y="1988840"/>
            <a:ext cx="1015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Academic Year: 2025-2026       		                                   Semester: I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40" name="Google Shape;1048640;p1"/>
          <p:cNvSpPr txBox="1"/>
          <p:nvPr/>
        </p:nvSpPr>
        <p:spPr>
          <a:xfrm>
            <a:off x="1521862" y="2408278"/>
            <a:ext cx="1015320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Stage-0 </a:t>
            </a:r>
            <a:endParaRPr lang="en-IN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NO. - 16 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41" name="Google Shape;1048641;p1"/>
          <p:cNvSpPr txBox="1">
            <a:spLocks noGrp="1"/>
          </p:cNvSpPr>
          <p:nvPr>
            <p:ph type="ftr" idx="11"/>
          </p:nvPr>
        </p:nvSpPr>
        <p:spPr>
          <a:xfrm>
            <a:off x="1485900" y="6381328"/>
            <a:ext cx="38598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</a:t>
            </a:r>
            <a:endParaRPr/>
          </a:p>
        </p:txBody>
      </p:sp>
      <p:sp>
        <p:nvSpPr>
          <p:cNvPr id="1048642" name="Google Shape;1048642;p1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3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graphicFrame>
        <p:nvGraphicFramePr>
          <p:cNvPr id="1048643" name="Google Shape;1048643;p1"/>
          <p:cNvGraphicFramePr/>
          <p:nvPr>
            <p:extLst>
              <p:ext uri="{D42A27DB-BD31-4B8C-83A1-F6EECF244321}">
                <p14:modId xmlns:p14="http://schemas.microsoft.com/office/powerpoint/2010/main" val="16165207"/>
              </p:ext>
            </p:extLst>
          </p:nvPr>
        </p:nvGraphicFramePr>
        <p:xfrm>
          <a:off x="3358150" y="3429000"/>
          <a:ext cx="6408700" cy="1944250"/>
        </p:xfrm>
        <a:graphic>
          <a:graphicData uri="http://schemas.openxmlformats.org/drawingml/2006/table">
            <a:tbl>
              <a:tblPr firstRow="1" bandRow="1">
                <a:noFill/>
                <a:tableStyleId>{51153E5F-1116-4281-9A61-3A002BC911FA}</a:tableStyleId>
              </a:tblPr>
              <a:tblGrid>
                <a:gridCol w="62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Mr. Jenil Girish Rathod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B22009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Mr. Manas Ballal Joshi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B22011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Ms. Saloni Mahesh Naik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B22051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Mr. Aditya Sunil Nalla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B22053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413892" y="260648"/>
            <a:ext cx="9759198" cy="70609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Abstract-1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13892" y="1340768"/>
            <a:ext cx="9558486" cy="4964782"/>
          </a:xfrm>
        </p:spPr>
        <p:txBody>
          <a:bodyPr>
            <a:normAutofit fontScale="92500" lnSpcReduction="20000"/>
          </a:bodyPr>
          <a:lstStyle/>
          <a:p>
            <a:pPr marL="82296" indent="0" algn="just">
              <a:buNone/>
            </a:pPr>
            <a:r>
              <a:rPr lang="en-US" sz="2400" b="1" dirty="0"/>
              <a:t>Project Title: </a:t>
            </a:r>
            <a:r>
              <a:rPr lang="en-US" sz="2300" b="1" dirty="0"/>
              <a:t>“</a:t>
            </a:r>
            <a:r>
              <a:rPr lang="en-US" sz="2300" b="1" dirty="0" err="1"/>
              <a:t>SoulPause</a:t>
            </a:r>
            <a:r>
              <a:rPr lang="en-US" sz="2300" b="1" dirty="0"/>
              <a:t>” – AI Powered Diary and Media Recommender</a:t>
            </a:r>
          </a:p>
          <a:p>
            <a:pPr>
              <a:buClrTx/>
            </a:pPr>
            <a:r>
              <a:rPr lang="en-US" sz="2000" b="1" dirty="0"/>
              <a:t>Motivation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Traditional diary apps lack emotional intelligence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No analysis or feedback from user-written content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Growing need for private and personalized mental wellness tools</a:t>
            </a:r>
          </a:p>
          <a:p>
            <a:pPr>
              <a:buClrTx/>
            </a:pPr>
            <a:r>
              <a:rPr lang="en-IN" sz="2400" b="1" dirty="0"/>
              <a:t>Innovation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IN" sz="1900" dirty="0"/>
              <a:t>Uses AI and NLP to analyse user’s diary entries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IN" sz="1900" dirty="0"/>
              <a:t>Detects emotions, stress patterns, goals, and habits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IN" sz="1900" dirty="0"/>
              <a:t>Suggests media (music, podcasts, articles) based on mood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IN" sz="1900" dirty="0"/>
              <a:t>Adaptive learning improves recommendations over time</a:t>
            </a:r>
            <a:endParaRPr lang="en-IN" sz="1900" b="1" dirty="0"/>
          </a:p>
          <a:p>
            <a:pPr>
              <a:buClrTx/>
            </a:pPr>
            <a:r>
              <a:rPr lang="en-IN" sz="2400" b="1" dirty="0"/>
              <a:t>Contribution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900" dirty="0"/>
              <a:t>Empowers users to reflect and grow emotionally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900" dirty="0"/>
              <a:t>Provides personalized emotional dashboard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900" dirty="0"/>
              <a:t>Offers mood-based content suggestions across platforms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900" dirty="0"/>
              <a:t>Converts journaling into a supportive wellness companion</a:t>
            </a:r>
          </a:p>
          <a:p>
            <a:pPr marL="82296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341884" y="6165304"/>
            <a:ext cx="3859795" cy="476250"/>
          </a:xfrm>
        </p:spPr>
        <p:txBody>
          <a:bodyPr/>
          <a:lstStyle/>
          <a:p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39817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413892" y="260648"/>
            <a:ext cx="9759198" cy="70609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Introduction-1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14248" y="1102643"/>
            <a:ext cx="9558486" cy="5441032"/>
          </a:xfrm>
        </p:spPr>
        <p:txBody>
          <a:bodyPr>
            <a:normAutofit fontScale="92500" lnSpcReduction="20000"/>
          </a:bodyPr>
          <a:lstStyle/>
          <a:p>
            <a:pPr>
              <a:buClrTx/>
            </a:pPr>
            <a:r>
              <a:rPr lang="en-US" sz="2400" b="1" dirty="0"/>
              <a:t>Context</a:t>
            </a:r>
          </a:p>
          <a:p>
            <a:pPr lvl="1" algn="just">
              <a:buClrTx/>
            </a:pPr>
            <a:r>
              <a:rPr lang="en-US" sz="2100" dirty="0"/>
              <a:t>In today’s fast-paced and emotionally demanding world, many individuals turn to journaling for stress relief and self-reflection. However, digital diaries remain passive tools that only store what is written, without offering emotional support or guidance.</a:t>
            </a:r>
          </a:p>
          <a:p>
            <a:pPr marL="402336" lvl="1" indent="0" algn="just">
              <a:buClrTx/>
              <a:buNone/>
            </a:pPr>
            <a:endParaRPr lang="en-US" sz="2100" dirty="0"/>
          </a:p>
          <a:p>
            <a:pPr>
              <a:buClrTx/>
            </a:pPr>
            <a:r>
              <a:rPr lang="en-US" sz="2400" b="1" dirty="0"/>
              <a:t>Loopholes in Existing Systems</a:t>
            </a:r>
          </a:p>
          <a:p>
            <a:pPr lvl="1">
              <a:buClrTx/>
            </a:pPr>
            <a:r>
              <a:rPr lang="en-US" sz="2100" dirty="0"/>
              <a:t>Lack of emotional understanding in diary applications</a:t>
            </a:r>
          </a:p>
          <a:p>
            <a:pPr lvl="1">
              <a:buClrTx/>
            </a:pPr>
            <a:r>
              <a:rPr lang="en-US" sz="2100" dirty="0"/>
              <a:t>No personalized feedback or tracking of emotional patterns</a:t>
            </a:r>
          </a:p>
          <a:p>
            <a:pPr lvl="1">
              <a:buClrTx/>
            </a:pPr>
            <a:r>
              <a:rPr lang="en-US" sz="2100" dirty="0"/>
              <a:t>Absence of mood-based content recommendations</a:t>
            </a:r>
          </a:p>
          <a:p>
            <a:pPr lvl="1">
              <a:buClrTx/>
            </a:pPr>
            <a:r>
              <a:rPr lang="en-US" sz="2100" dirty="0"/>
              <a:t>Static features with no learning or growth over time</a:t>
            </a:r>
          </a:p>
          <a:p>
            <a:pPr marL="402336" lvl="1" indent="0">
              <a:buClrTx/>
              <a:buNone/>
            </a:pPr>
            <a:endParaRPr lang="en-US" sz="1800" dirty="0"/>
          </a:p>
          <a:p>
            <a:pPr>
              <a:buClrTx/>
            </a:pPr>
            <a:r>
              <a:rPr lang="en-IN" sz="2400" b="1" dirty="0"/>
              <a:t>Technology Stack</a:t>
            </a:r>
          </a:p>
          <a:p>
            <a:pPr lvl="1">
              <a:buClrTx/>
            </a:pPr>
            <a:r>
              <a:rPr lang="en-IN" sz="2100" b="1" dirty="0"/>
              <a:t>Frontend:</a:t>
            </a:r>
            <a:r>
              <a:rPr lang="en-IN" sz="2100" dirty="0"/>
              <a:t> Flutter (for cross-platform mobile app), Flutter Charts (for mood dashboards)</a:t>
            </a:r>
          </a:p>
          <a:p>
            <a:pPr lvl="1">
              <a:buClrTx/>
            </a:pPr>
            <a:r>
              <a:rPr lang="en-IN" sz="2100" b="1" dirty="0"/>
              <a:t>Backend:</a:t>
            </a:r>
            <a:r>
              <a:rPr lang="en-IN" sz="2100" dirty="0"/>
              <a:t> Python Flask (for API handling and AI integration)</a:t>
            </a:r>
          </a:p>
          <a:p>
            <a:pPr lvl="1">
              <a:buClrTx/>
            </a:pPr>
            <a:r>
              <a:rPr lang="en-IN" sz="2100" b="1" dirty="0"/>
              <a:t>AI/NLP Models:</a:t>
            </a:r>
            <a:r>
              <a:rPr lang="en-IN" sz="2100" dirty="0"/>
              <a:t> NLTK,  TextBlob,  Transformers (for mood detection)</a:t>
            </a:r>
          </a:p>
          <a:p>
            <a:pPr lvl="1">
              <a:buClrTx/>
            </a:pPr>
            <a:r>
              <a:rPr lang="en-IN" sz="2100" b="1" dirty="0"/>
              <a:t>Database:</a:t>
            </a:r>
            <a:r>
              <a:rPr lang="en-IN" sz="2100" dirty="0"/>
              <a:t> Firebase / SQLite (for secure user data and history)</a:t>
            </a:r>
          </a:p>
          <a:p>
            <a:pPr lvl="1">
              <a:buClrTx/>
            </a:pPr>
            <a:r>
              <a:rPr lang="en-IN" sz="2100" b="1" dirty="0"/>
              <a:t>APIs:</a:t>
            </a:r>
            <a:r>
              <a:rPr lang="en-IN" sz="2100" dirty="0"/>
              <a:t> YouTube, Spotify, Kindle (for personalised media suggestions)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341884" y="6165304"/>
            <a:ext cx="3859795" cy="476250"/>
          </a:xfrm>
        </p:spPr>
        <p:txBody>
          <a:bodyPr/>
          <a:lstStyle/>
          <a:p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6325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413892" y="260648"/>
            <a:ext cx="9759198" cy="70609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Abstract-2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275209" y="6305550"/>
            <a:ext cx="3859795" cy="476250"/>
          </a:xfrm>
        </p:spPr>
        <p:txBody>
          <a:bodyPr/>
          <a:lstStyle/>
          <a:p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4D2BC-DD15-09F3-C4C3-9A13A11EFD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3892" y="1374542"/>
            <a:ext cx="10677422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Title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GradSync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An AI &amp; ML-Based Academic Project Management System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	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Many students unintentionally choose project ideas already completed in past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500" dirty="0">
                <a:latin typeface="Arial" panose="020B0604020202020204" pitchFamily="34" charset="0"/>
              </a:rPr>
              <a:t>		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Faculty assignment and progress tracking are manual, time-consuming, and inconsistent.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500" dirty="0">
                <a:latin typeface="Arial" panose="020B0604020202020204" pitchFamily="34" charset="0"/>
              </a:rPr>
              <a:t>		3.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institutions lack intelligent tools to promote innovation and ensure project originality.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Innovation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GradSync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and Natural Language Processing (NLP)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automate idea validation, guide matching, and progress monitoring. It enables structured communication between students and faculty while generating real-time summaries and evaluation reports.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Used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56007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Flutter (Web, Android, iOS)</a:t>
            </a:r>
          </a:p>
          <a:p>
            <a:pPr marL="56007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Flask (Python REST API)</a:t>
            </a:r>
          </a:p>
          <a:p>
            <a:pPr marL="56007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PostgreSQL / Firebase</a:t>
            </a:r>
          </a:p>
          <a:p>
            <a:pPr marL="56007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latin typeface="Arial" panose="020B0604020202020204" pitchFamily="34" charset="0"/>
              </a:rPr>
              <a:t>Reporting</a:t>
            </a:r>
            <a:r>
              <a:rPr lang="en-US" altLang="en-US" sz="1500" dirty="0">
                <a:latin typeface="Arial" panose="020B0604020202020204" pitchFamily="34" charset="0"/>
              </a:rPr>
              <a:t>: </a:t>
            </a:r>
            <a:r>
              <a:rPr lang="en-US" altLang="en-US" sz="1500" dirty="0" err="1">
                <a:latin typeface="Arial" panose="020B0604020202020204" pitchFamily="34" charset="0"/>
              </a:rPr>
              <a:t>ReportLab</a:t>
            </a:r>
            <a:r>
              <a:rPr lang="en-US" altLang="en-US" sz="1500" dirty="0">
                <a:latin typeface="Arial" panose="020B0604020202020204" pitchFamily="34" charset="0"/>
              </a:rPr>
              <a:t> or </a:t>
            </a:r>
            <a:r>
              <a:rPr lang="en-US" altLang="en-US" sz="1500" dirty="0" err="1">
                <a:latin typeface="Arial" panose="020B0604020202020204" pitchFamily="34" charset="0"/>
              </a:rPr>
              <a:t>WeasyPrint</a:t>
            </a:r>
            <a:r>
              <a:rPr lang="en-US" altLang="en-US" sz="1500" dirty="0">
                <a:latin typeface="Arial" panose="020B0604020202020204" pitchFamily="34" charset="0"/>
              </a:rPr>
              <a:t> (PDF generation)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6007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AI/ML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	1. Sentence-BERT (Semantic similarity using embeddings)</a:t>
            </a:r>
          </a:p>
          <a:p>
            <a:pPr marL="27432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2. GPT-3.5 or Hugging Face LLMs (Idea enhancement &amp; summarization)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500" dirty="0">
                <a:latin typeface="Arial" panose="020B0604020202020204" pitchFamily="34" charset="0"/>
              </a:rPr>
              <a:t>		3.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Trees or Rule-Based Models (Guide assignment)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Contribution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I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5024DB-67A7-858C-84F8-550C4B7B8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78976"/>
              </p:ext>
            </p:extLst>
          </p:nvPr>
        </p:nvGraphicFramePr>
        <p:xfrm>
          <a:off x="3568574" y="5483458"/>
          <a:ext cx="6368058" cy="1036320"/>
        </p:xfrm>
        <a:graphic>
          <a:graphicData uri="http://schemas.openxmlformats.org/drawingml/2006/table">
            <a:tbl>
              <a:tblPr firstRow="1" bandRow="1">
                <a:tableStyleId>{1CCE372E-ECD7-4A1C-B22A-9EB5CF0A707A}</a:tableStyleId>
              </a:tblPr>
              <a:tblGrid>
                <a:gridCol w="3137026">
                  <a:extLst>
                    <a:ext uri="{9D8B030D-6E8A-4147-A177-3AD203B41FA5}">
                      <a16:colId xmlns:a16="http://schemas.microsoft.com/office/drawing/2014/main" val="1076932379"/>
                    </a:ext>
                  </a:extLst>
                </a:gridCol>
                <a:gridCol w="3231032">
                  <a:extLst>
                    <a:ext uri="{9D8B030D-6E8A-4147-A177-3AD203B41FA5}">
                      <a16:colId xmlns:a16="http://schemas.microsoft.com/office/drawing/2014/main" val="3159077111"/>
                    </a:ext>
                  </a:extLst>
                </a:gridCol>
              </a:tblGrid>
              <a:tr h="208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Role 1: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Flutter Developer (UI/UX &amp; Frontend Integration)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 3: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ML/NLP Engineer – Semantic Matching &amp; Recommendation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902491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 2: 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 Backend Developer (API + Database)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 4: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LLM &amp; Summarization Engineer (AI Language Features)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18201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413892" y="260648"/>
            <a:ext cx="9759198" cy="70609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Introduction-2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13892" y="823867"/>
            <a:ext cx="10677422" cy="5579562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56616" lvl="1" indent="0"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Final-year project work is a vital academic component in most technical and engineering colleges, requiring 	originality, proper mentorship, and continuous evaluation.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Identified Loopholes in Existing Systems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Lack of a centralized system to check whether a project idea has already been implemented in past academic years.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Manual and biased guide allocation not based on subject/domain expertise.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 intelligent way to enhance or refine existing ideas flagged as similar.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Informal student-faculty communication that is untracked and unaccountable.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Difficulty for HODs and coordinators to monitor real-time progress and document evaluations transparently.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References &amp; Real-Life Inspiration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Based on commonly observed challenges in Indian colleges where repetitive project ideas are still accepted.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Referenced project evaluation rubrics from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Savitribai Phule Pune University (SPPU)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indicating the importance of innovation, mentorship quality, and documentation.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Discussions with faculty highlighted the need for balanced project distribution and data-driven progress tracking.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Impact of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GradSync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Promotes innovation by discouraging repeated ideas and suggesting meaningful improvements.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Encourages academic integrity and originality through intelligent ML tools.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Reduces workload and bias in guide assignment by aligning projects with faculty expertise.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Improves transparency and evaluation with AI-generated progress summaries and structured logs.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Helps HODs and coordinators ensure smooth, fair, and scalable project tracking and reporting.</a:t>
            </a:r>
          </a:p>
          <a:p>
            <a:pPr marL="82296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341884" y="6165304"/>
            <a:ext cx="3859795" cy="476250"/>
          </a:xfrm>
        </p:spPr>
        <p:txBody>
          <a:bodyPr/>
          <a:lstStyle/>
          <a:p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41816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413892" y="260648"/>
            <a:ext cx="9759198" cy="70609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Abstract-3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85900" y="1340768"/>
            <a:ext cx="9558486" cy="4964782"/>
          </a:xfrm>
        </p:spPr>
        <p:txBody>
          <a:bodyPr>
            <a:normAutofit/>
          </a:bodyPr>
          <a:lstStyle/>
          <a:p>
            <a:pPr algn="just">
              <a:buClrTx/>
            </a:pPr>
            <a:r>
              <a:rPr lang="en-US" altLang="en-US" sz="2000" b="1" dirty="0">
                <a:latin typeface="Arial" panose="020B0604020202020204" pitchFamily="34" charset="0"/>
              </a:rPr>
              <a:t>Project Title</a:t>
            </a:r>
            <a:r>
              <a:rPr lang="en-US" altLang="en-US" sz="2000" dirty="0">
                <a:latin typeface="Arial" panose="020B0604020202020204" pitchFamily="34" charset="0"/>
              </a:rPr>
              <a:t>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CivicEye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AI-Powered Civic Complaint Platform</a:t>
            </a:r>
          </a:p>
          <a:p>
            <a:pPr marL="82296" indent="0" algn="just">
              <a:buClrTx/>
              <a:buNone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Tx/>
            </a:pPr>
            <a:r>
              <a:rPr lang="en-US" altLang="en-US" sz="1900" b="1" dirty="0">
                <a:latin typeface="Arial" panose="020B0604020202020204" pitchFamily="34" charset="0"/>
              </a:rPr>
              <a:t>Motivation</a:t>
            </a:r>
            <a:r>
              <a:rPr lang="en-US" altLang="en-US" sz="1900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500" dirty="0">
                <a:latin typeface="Arial" panose="020B0604020202020204" pitchFamily="34" charset="0"/>
              </a:rPr>
              <a:t>Filing civic complaints in India is often ineffective due to bureaucratic delays, lack of urgency, and non-intelligent systems.</a:t>
            </a:r>
          </a:p>
          <a:p>
            <a:pPr algn="just">
              <a:buClrTx/>
            </a:pPr>
            <a:r>
              <a:rPr lang="en-US" altLang="en-US" sz="1900" b="1" dirty="0">
                <a:latin typeface="Arial" panose="020B0604020202020204" pitchFamily="34" charset="0"/>
              </a:rPr>
              <a:t>Innovation:</a:t>
            </a:r>
            <a:r>
              <a:rPr lang="en-US" altLang="en-US" sz="1600" dirty="0">
                <a:latin typeface="Arial" panose="020B0604020202020204" pitchFamily="34" charset="0"/>
              </a:rPr>
              <a:t> A unified platform that allows citizens to submit complaints with text and images, analyzed automatically using AI to detect severity and threat level.</a:t>
            </a:r>
          </a:p>
          <a:p>
            <a:pPr algn="just">
              <a:buClrTx/>
            </a:pPr>
            <a:r>
              <a:rPr lang="en-US" altLang="en-US" sz="1900" b="1" dirty="0">
                <a:latin typeface="Arial" panose="020B0604020202020204" pitchFamily="34" charset="0"/>
              </a:rPr>
              <a:t>Technologies Used</a:t>
            </a:r>
            <a:r>
              <a:rPr lang="en-US" altLang="en-US" sz="1900" dirty="0">
                <a:latin typeface="Arial" panose="020B0604020202020204" pitchFamily="34" charset="0"/>
              </a:rPr>
              <a:t>:</a:t>
            </a:r>
          </a:p>
          <a:p>
            <a:pPr lvl="1" algn="just">
              <a:buClrTx/>
            </a:pPr>
            <a:r>
              <a:rPr lang="en-US" altLang="en-US" sz="1500" b="1" dirty="0">
                <a:latin typeface="Arial" panose="020B0604020202020204" pitchFamily="34" charset="0"/>
              </a:rPr>
              <a:t>Text</a:t>
            </a:r>
            <a:r>
              <a:rPr lang="en-US" altLang="en-US" sz="1500" dirty="0">
                <a:latin typeface="Arial" panose="020B0604020202020204" pitchFamily="34" charset="0"/>
              </a:rPr>
              <a:t>: LLMs (for semantic threat assessment, sentiment analysis)</a:t>
            </a:r>
          </a:p>
          <a:p>
            <a:pPr lvl="1" algn="just">
              <a:buClrTx/>
            </a:pPr>
            <a:r>
              <a:rPr lang="en-US" altLang="en-US" sz="1500" b="1" dirty="0">
                <a:latin typeface="Arial" panose="020B0604020202020204" pitchFamily="34" charset="0"/>
              </a:rPr>
              <a:t>Images</a:t>
            </a:r>
            <a:r>
              <a:rPr lang="en-US" altLang="en-US" sz="1500" dirty="0">
                <a:latin typeface="Arial" panose="020B0604020202020204" pitchFamily="34" charset="0"/>
              </a:rPr>
              <a:t>: YOLOv8 / </a:t>
            </a:r>
            <a:r>
              <a:rPr lang="en-US" altLang="en-US" sz="1500" dirty="0" err="1">
                <a:latin typeface="Arial" panose="020B0604020202020204" pitchFamily="34" charset="0"/>
              </a:rPr>
              <a:t>ViT</a:t>
            </a:r>
            <a:r>
              <a:rPr lang="en-US" altLang="en-US" sz="1500" dirty="0">
                <a:latin typeface="Arial" panose="020B0604020202020204" pitchFamily="34" charset="0"/>
              </a:rPr>
              <a:t> (for object detection and visual threat detection)</a:t>
            </a:r>
          </a:p>
          <a:p>
            <a:pPr lvl="1" algn="just">
              <a:buClrTx/>
            </a:pPr>
            <a:r>
              <a:rPr lang="en-US" altLang="en-US" sz="1500" b="1" dirty="0">
                <a:latin typeface="Arial" panose="020B0604020202020204" pitchFamily="34" charset="0"/>
              </a:rPr>
              <a:t>Backend</a:t>
            </a:r>
            <a:r>
              <a:rPr lang="en-US" altLang="en-US" sz="1500" dirty="0">
                <a:latin typeface="Arial" panose="020B0604020202020204" pitchFamily="34" charset="0"/>
              </a:rPr>
              <a:t>: Python (Flask), PostgreSQL, Twilio/MSG91</a:t>
            </a:r>
          </a:p>
          <a:p>
            <a:pPr lvl="1" algn="just">
              <a:buClrTx/>
            </a:pPr>
            <a:r>
              <a:rPr lang="en-US" altLang="en-US" sz="1500" b="1" dirty="0">
                <a:latin typeface="Arial" panose="020B0604020202020204" pitchFamily="34" charset="0"/>
              </a:rPr>
              <a:t>Frontend</a:t>
            </a:r>
            <a:r>
              <a:rPr lang="en-US" altLang="en-US" sz="1500" dirty="0">
                <a:latin typeface="Arial" panose="020B0604020202020204" pitchFamily="34" charset="0"/>
              </a:rPr>
              <a:t>: Flutter (cross-platform web + mobile)</a:t>
            </a:r>
          </a:p>
          <a:p>
            <a:pPr lvl="1" algn="just">
              <a:buClrTx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algn="just">
              <a:buClrTx/>
            </a:pPr>
            <a:r>
              <a:rPr lang="en-US" altLang="en-US" sz="1900" b="1" dirty="0">
                <a:latin typeface="Arial" panose="020B0604020202020204" pitchFamily="34" charset="0"/>
              </a:rPr>
              <a:t>Contributions: </a:t>
            </a:r>
          </a:p>
          <a:p>
            <a:pPr marL="82296" indent="0" algn="just">
              <a:buNone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341884" y="6165304"/>
            <a:ext cx="3859795" cy="476250"/>
          </a:xfrm>
        </p:spPr>
        <p:txBody>
          <a:bodyPr/>
          <a:lstStyle/>
          <a:p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5187BC-440F-5C57-7608-1DF68F20A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913744"/>
              </p:ext>
            </p:extLst>
          </p:nvPr>
        </p:nvGraphicFramePr>
        <p:xfrm>
          <a:off x="3696951" y="5238750"/>
          <a:ext cx="6845551" cy="1066800"/>
        </p:xfrm>
        <a:graphic>
          <a:graphicData uri="http://schemas.openxmlformats.org/drawingml/2006/table">
            <a:tbl>
              <a:tblPr firstRow="1" bandRow="1"/>
              <a:tblGrid>
                <a:gridCol w="2960522">
                  <a:extLst>
                    <a:ext uri="{9D8B030D-6E8A-4147-A177-3AD203B41FA5}">
                      <a16:colId xmlns:a16="http://schemas.microsoft.com/office/drawing/2014/main" val="448372251"/>
                    </a:ext>
                  </a:extLst>
                </a:gridCol>
                <a:gridCol w="3885029">
                  <a:extLst>
                    <a:ext uri="{9D8B030D-6E8A-4147-A177-3AD203B41FA5}">
                      <a16:colId xmlns:a16="http://schemas.microsoft.com/office/drawing/2014/main" val="4185876677"/>
                    </a:ext>
                  </a:extLst>
                </a:gridCol>
              </a:tblGrid>
              <a:tr h="387551"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buNone/>
                      </a:pPr>
                      <a:r>
                        <a:rPr lang="en-IN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Role 1:</a:t>
                      </a:r>
                      <a:r>
                        <a:rPr lang="en-I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Flutter Developer (UI/UX &amp; Frontend Integration)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Role 3:</a:t>
                      </a: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 Learning Engineer(image-based threat detection system)</a:t>
                      </a:r>
                      <a:endParaRPr lang="en-US" sz="15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475666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buNone/>
                      </a:pPr>
                      <a:r>
                        <a:rPr lang="en-IN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Role 2: </a:t>
                      </a:r>
                      <a:r>
                        <a:rPr lang="en-I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Flask Backend Developer (API + Database)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Role 4:</a:t>
                      </a: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 LLM &amp; ML Engineer  Summarization Engineer (AI Language Features)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714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36548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413892" y="260648"/>
            <a:ext cx="9759198" cy="70609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Introduction-3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85899" y="1340768"/>
            <a:ext cx="10702925" cy="4964782"/>
          </a:xfrm>
        </p:spPr>
        <p:txBody>
          <a:bodyPr>
            <a:normAutofit fontScale="55000" lnSpcReduction="20000"/>
          </a:bodyPr>
          <a:lstStyle/>
          <a:p>
            <a:pPr>
              <a:buClrTx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56616" lvl="1" indent="0">
              <a:buClrTx/>
              <a:buNone/>
            </a:pPr>
            <a:r>
              <a:rPr lang="en-US" altLang="en-US" sz="2500" dirty="0">
                <a:latin typeface="Arial" panose="020B0604020202020204" pitchFamily="34" charset="0"/>
              </a:rPr>
              <a:t>An AI-powered complaint management system that uses text and image analysis to detect threat levels and prioritize urgent civic issues. Verified users can submit complaints via a cross-platform app, receiving real-time updates through SMS or email.</a:t>
            </a:r>
          </a:p>
          <a:p>
            <a:pPr marL="356616" lvl="1" indent="0">
              <a:buClrTx/>
              <a:buNone/>
            </a:pPr>
            <a:endParaRPr lang="en-US" sz="2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</a:pP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Identified Loopholes in Existing Systems:</a:t>
            </a:r>
          </a:p>
          <a:p>
            <a:pPr lvl="1">
              <a:buClrTx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Lack of Threat Prioritization and no Image or Visual Analysis</a:t>
            </a:r>
          </a:p>
          <a:p>
            <a:pPr lvl="1">
              <a:buClrTx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Manual Complaint Sorting</a:t>
            </a:r>
          </a:p>
          <a:p>
            <a:pPr lvl="1">
              <a:buClrTx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AI-Based Automation</a:t>
            </a:r>
          </a:p>
          <a:p>
            <a:pPr lvl="1">
              <a:buClrTx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Inaccessible or Fragmented Platforms</a:t>
            </a:r>
          </a:p>
          <a:p>
            <a:pPr lvl="1">
              <a:buClrTx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Minimal Transparency or Feedback Loop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700" b="1" dirty="0"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700" b="1" dirty="0">
                <a:latin typeface="Arial" panose="020B0604020202020204" pitchFamily="34" charset="0"/>
              </a:rPr>
              <a:t>References &amp; Real-Life Inspiration: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>
                <a:latin typeface="Arial" panose="020B0604020202020204" pitchFamily="34" charset="0"/>
              </a:rPr>
              <a:t>CPGRAMS</a:t>
            </a:r>
            <a:r>
              <a:rPr lang="en-US" altLang="en-US" sz="2200" dirty="0">
                <a:latin typeface="Arial" panose="020B0604020202020204" pitchFamily="34" charset="0"/>
              </a:rPr>
              <a:t>: National complaint portal, but lacks AI, image analysis, and real-time updates.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 err="1">
                <a:latin typeface="Arial" panose="020B0604020202020204" pitchFamily="34" charset="0"/>
              </a:rPr>
              <a:t>mSeva</a:t>
            </a:r>
            <a:r>
              <a:rPr lang="en-US" altLang="en-US" sz="2200" b="1" dirty="0">
                <a:latin typeface="Arial" panose="020B0604020202020204" pitchFamily="34" charset="0"/>
              </a:rPr>
              <a:t> &amp; Swachh Bharat Apps</a:t>
            </a:r>
            <a:r>
              <a:rPr lang="en-US" altLang="en-US" sz="2200" dirty="0">
                <a:latin typeface="Arial" panose="020B0604020202020204" pitchFamily="34" charset="0"/>
              </a:rPr>
              <a:t>: Allow complaints with photos, but no smart threat detection or user verification.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>
                <a:latin typeface="Arial" panose="020B0604020202020204" pitchFamily="34" charset="0"/>
              </a:rPr>
              <a:t>Municipal Apps</a:t>
            </a:r>
            <a:r>
              <a:rPr lang="en-US" altLang="en-US" sz="2200" dirty="0">
                <a:latin typeface="Arial" panose="020B0604020202020204" pitchFamily="34" charset="0"/>
              </a:rPr>
              <a:t>: City-specific apps (like BBMP, MCGM) have limited features and no automation.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>
                <a:latin typeface="Arial" panose="020B0604020202020204" pitchFamily="34" charset="0"/>
              </a:rPr>
              <a:t>311 NYC &amp; </a:t>
            </a:r>
            <a:r>
              <a:rPr lang="en-US" altLang="en-US" sz="2200" b="1" dirty="0" err="1">
                <a:latin typeface="Arial" panose="020B0604020202020204" pitchFamily="34" charset="0"/>
              </a:rPr>
              <a:t>SeeClickFix</a:t>
            </a:r>
            <a:r>
              <a:rPr lang="en-US" altLang="en-US" sz="2200" b="1" dirty="0">
                <a:latin typeface="Arial" panose="020B0604020202020204" pitchFamily="34" charset="0"/>
              </a:rPr>
              <a:t> (USA)</a:t>
            </a:r>
            <a:r>
              <a:rPr lang="en-US" altLang="en-US" sz="2200" dirty="0">
                <a:latin typeface="Arial" panose="020B0604020202020204" pitchFamily="34" charset="0"/>
              </a:rPr>
              <a:t>: International apps that inspired the use of photos, location, and mobile-friendly complaint logging.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>
                <a:latin typeface="Arial" panose="020B0604020202020204" pitchFamily="34" charset="0"/>
              </a:rPr>
              <a:t>AI in Indian Governance</a:t>
            </a:r>
            <a:r>
              <a:rPr lang="en-US" altLang="en-US" sz="2200" dirty="0">
                <a:latin typeface="Arial" panose="020B0604020202020204" pitchFamily="34" charset="0"/>
              </a:rPr>
              <a:t>: Examples like Delhi Police using AI show the potential for intelligent civic tech in India.</a:t>
            </a:r>
          </a:p>
          <a:p>
            <a:pPr marL="27432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Impact of </a:t>
            </a:r>
            <a:r>
              <a:rPr lang="en-US" sz="3500" b="1" dirty="0" err="1">
                <a:latin typeface="Arial" panose="020B0604020202020204" pitchFamily="34" charset="0"/>
                <a:cs typeface="Arial" panose="020B0604020202020204" pitchFamily="34" charset="0"/>
              </a:rPr>
              <a:t>CivicEye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dirty="0">
                <a:latin typeface="Arial" panose="020B0604020202020204" pitchFamily="34" charset="0"/>
              </a:rPr>
              <a:t>Faster resolution through AI-based threat detection.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dirty="0">
                <a:latin typeface="Arial" panose="020B0604020202020204" pitchFamily="34" charset="0"/>
              </a:rPr>
              <a:t>Safer communities via smart visual/text analysis.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dirty="0">
                <a:latin typeface="Arial" panose="020B0604020202020204" pitchFamily="34" charset="0"/>
              </a:rPr>
              <a:t>Spam reduced with Aadhaar/PAN verification.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dirty="0">
                <a:latin typeface="Arial" panose="020B0604020202020204" pitchFamily="34" charset="0"/>
              </a:rPr>
              <a:t>Real-time updates build public trust.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dirty="0">
                <a:latin typeface="Arial" panose="020B0604020202020204" pitchFamily="34" charset="0"/>
              </a:rPr>
              <a:t>Easy access via mobile and web.</a:t>
            </a: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dirty="0">
                <a:latin typeface="Arial" panose="020B0604020202020204" pitchFamily="34" charset="0"/>
              </a:rPr>
              <a:t>Supports smarter, tech-driven governance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577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1">
              <a:buClrTx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2336" lvl="1" indent="0">
              <a:buClrTx/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Tx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341884" y="6165304"/>
            <a:ext cx="3859795" cy="476250"/>
          </a:xfrm>
        </p:spPr>
        <p:txBody>
          <a:bodyPr/>
          <a:lstStyle/>
          <a:p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9993-3455-456D-B76B-54420194FCFA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E77F6903-9C2C-ED4C-CC14-4D674BBC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980629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Y_IGNORE_UCW" val="true"/>
  <p:tag name="PPT/SLIDES/SLIDE1.XML" val="2837889040"/>
  <p:tag name="PPT/SLIDES/SLIDE2.XML" val="1674037699"/>
  <p:tag name="PPT/SLIDES/SLIDE3.XML" val="1450368681"/>
  <p:tag name="PPT/SLIDES/SLIDE4.XML" val="1133851987"/>
  <p:tag name="PPT/SLIDES/SLIDE5.XML" val="3354333192"/>
  <p:tag name="PPT/SLIDES/SLIDE6.XML" val="295207554"/>
  <p:tag name="PPT/SLIDES/SLIDE7.XML" val="3015913390"/>
  <p:tag name="PPT/SLIDES/SLIDE8.XML" val="1846241802"/>
  <p:tag name="PPT/SLIDES/SLIDE9.XML" val="1840105176"/>
  <p:tag name="PPT/SLIDES/SLIDE10.XML" val="2549823393"/>
  <p:tag name="PPT/SLIDES/SLIDE11.XML" val="2485005856"/>
  <p:tag name="PPT/SLIDES/SLIDE12.XML" val="3794919026"/>
  <p:tag name="PPT/SLIDES/SLIDE13.XML" val="3206790185"/>
  <p:tag name="PPT/SLIDES/SLIDE14.XML" val="657748504"/>
  <p:tag name="PPT/SLIDES/SLIDE15.XML" val="2882622738"/>
  <p:tag name="PPT/SLIDES/SLIDE16.XML" val="2139186498"/>
  <p:tag name="PPT/SLIDES/SLIDE17.XML" val="4204735351"/>
  <p:tag name="PPT/SLIDEMASTERS/SLIDEMASTER1.XML" val="2873081776"/>
  <p:tag name="PPT/SLIDELAYOUTS/SLIDELAYOUT8.XML" val="1890856027"/>
  <p:tag name="PPT/SLIDELAYOUTS/SLIDELAYOUT5.XML" val="3743317241"/>
  <p:tag name="PPT/SLIDELAYOUTS/SLIDELAYOUT1.XML" val="2694141960"/>
  <p:tag name="PPT/SLIDELAYOUTS/SLIDELAYOUT2.XML" val="516830122"/>
  <p:tag name="PPT/SLIDELAYOUTS/SLIDELAYOUT3.XML" val="1453995001"/>
  <p:tag name="PPT/SLIDELAYOUTS/SLIDELAYOUT4.XML" val="3765383380"/>
  <p:tag name="PPT/SLIDELAYOUTS/SLIDELAYOUT6.XML" val="1206593837"/>
  <p:tag name="PPT/SLIDELAYOUTS/SLIDELAYOUT7.XML" val="2077127542"/>
  <p:tag name="PPT/SLIDELAYOUTS/SLIDELAYOUT9.XML" val="91225895"/>
  <p:tag name="PPT/SLIDELAYOUTS/SLIDELAYOUT10.XML" val="3087857620"/>
  <p:tag name="PPT/SLIDELAYOUTS/SLIDELAYOUT11.XML" val="3346641450"/>
  <p:tag name="PPT/NOTESSLIDES/NOTESSLIDE1.XML" val="1240276529"/>
  <p:tag name="PPT/NOTESSLIDES/NOTESSLIDE3.XML" val="2602626123"/>
  <p:tag name="PPT/NOTESSLIDES/NOTESSLIDE2.XML" val="2608350570"/>
  <p:tag name="PPT/NOTESMASTERS/NOTESMASTER1.XML" val="935544310"/>
  <p:tag name="PPT/THEME/THEME1.XML" val="1311267916"/>
  <p:tag name="PPT/MEDIA/IMAGE1.JPEG" val="857195657"/>
  <p:tag name="PPT/THEME/THEME2.XML" val="956944377"/>
  <p:tag name="PPT/MEDIA/IMAGE2.PNG" val="908053677"/>
  <p:tag name="PPT/MEDIA/IMAGE3.JPEG" val="1079268251"/>
  <p:tag name="PPT/MEDIA/IMAGE5.PNG" val="277163663"/>
  <p:tag name="PPT/MEDIA/IMAGE6.JPG" val="2817251566"/>
  <p:tag name="PPT/MEDIA/IMAGE4.PNG" val="3499481032"/>
  <p:tag name="PPT/MEDIA/IMAGE7.PNG" val="2295999043"/>
  <p:tag name="PPT/MEDIA/IMAGE8.PNG" val="141453467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1229</Words>
  <Application>Microsoft Office PowerPoint</Application>
  <PresentationFormat>Custom</PresentationFormat>
  <Paragraphs>166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Gill Sans MT</vt:lpstr>
      <vt:lpstr>Times New Roman</vt:lpstr>
      <vt:lpstr>Verdana</vt:lpstr>
      <vt:lpstr>Wingdings 2</vt:lpstr>
      <vt:lpstr>Solstice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Jenil Rathod</dc:creator>
  <cp:lastModifiedBy>Jenil Rathod</cp:lastModifiedBy>
  <cp:revision>12</cp:revision>
  <dcterms:modified xsi:type="dcterms:W3CDTF">2025-07-18T03:38:17Z</dcterms:modified>
</cp:coreProperties>
</file>